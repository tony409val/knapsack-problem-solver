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41"/>
  </p:notesMasterIdLst>
  <p:sldIdLst>
    <p:sldId id="256" r:id="rId2"/>
    <p:sldId id="261" r:id="rId3"/>
    <p:sldId id="257" r:id="rId4"/>
    <p:sldId id="298" r:id="rId5"/>
    <p:sldId id="258" r:id="rId6"/>
    <p:sldId id="259" r:id="rId7"/>
    <p:sldId id="299" r:id="rId8"/>
    <p:sldId id="300" r:id="rId9"/>
    <p:sldId id="301" r:id="rId10"/>
    <p:sldId id="260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316" r:id="rId25"/>
    <p:sldId id="317" r:id="rId26"/>
    <p:sldId id="318" r:id="rId27"/>
    <p:sldId id="319" r:id="rId28"/>
    <p:sldId id="320" r:id="rId29"/>
    <p:sldId id="321" r:id="rId30"/>
    <p:sldId id="322" r:id="rId31"/>
    <p:sldId id="323" r:id="rId32"/>
    <p:sldId id="324" r:id="rId33"/>
    <p:sldId id="325" r:id="rId34"/>
    <p:sldId id="326" r:id="rId35"/>
    <p:sldId id="327" r:id="rId36"/>
    <p:sldId id="328" r:id="rId37"/>
    <p:sldId id="329" r:id="rId38"/>
    <p:sldId id="302" r:id="rId39"/>
    <p:sldId id="262" r:id="rId40"/>
  </p:sldIdLst>
  <p:sldSz cx="9144000" cy="5143500" type="screen16x9"/>
  <p:notesSz cx="6858000" cy="9144000"/>
  <p:embeddedFontLst>
    <p:embeddedFont>
      <p:font typeface="Jost" panose="020B0604020202020204" charset="0"/>
      <p:regular r:id="rId42"/>
      <p:bold r:id="rId43"/>
      <p:italic r:id="rId44"/>
      <p:boldItalic r:id="rId45"/>
    </p:embeddedFont>
    <p:embeddedFont>
      <p:font typeface="Montserrat" panose="00000500000000000000" pitchFamily="50" charset="0"/>
      <p:regular r:id="rId46"/>
      <p:bold r:id="rId47"/>
      <p:italic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CCDC6F9-9CED-40D5-A569-A2F5D344B805}">
  <a:tblStyle styleId="{ECCDC6F9-9CED-40D5-A569-A2F5D344B80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52" y="15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82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11f682941b8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11f682941b8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11efcb08b7f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11efcb08b7f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11efcb08b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11f3b086d1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11f3b086d1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11efcb08b7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11efcb08b7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11efcb08b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24559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11f3b086d1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11f3b086d1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11efcb08b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59588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11efcb08b7f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11efcb08b7f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40763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11efcb08b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05843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11efcb08b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24636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11efcb08b7f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11efcb08b7f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06638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11efcb08b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72641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11efcb08b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13332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11efcb08b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99282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11efcb08b7f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11efcb08b7f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553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11efcb08b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96652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11efcb08b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44581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11efcb08b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90549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11efcb08b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48321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11efcb08b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92070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11efcb08b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69864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11efcb08b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93154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11efcb08b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93893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11efcb08b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15548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11efcb08b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31936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11efcb08b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96903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11efcb08b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82204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11efcb08b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49283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11efcb08b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69166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11efcb08b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384280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11efcb08b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629644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11f3b086d1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11f3b086d1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407961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11efcb08b7f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11efcb08b7f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 flipH="1">
            <a:off x="743325" y="1454185"/>
            <a:ext cx="6952800" cy="1339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 flipH="1">
            <a:off x="743375" y="3242315"/>
            <a:ext cx="6952800" cy="447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flipH="1">
            <a:off x="3452019" y="-348332"/>
            <a:ext cx="1019565" cy="1290805"/>
            <a:chOff x="-4017975" y="-49702"/>
            <a:chExt cx="1162825" cy="1472177"/>
          </a:xfrm>
        </p:grpSpPr>
        <p:sp>
          <p:nvSpPr>
            <p:cNvPr id="12" name="Google Shape;12;p2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 flipH="1">
            <a:off x="8425338" y="2120543"/>
            <a:ext cx="1938846" cy="1720830"/>
            <a:chOff x="-1873362" y="2120543"/>
            <a:chExt cx="1938846" cy="1720830"/>
          </a:xfrm>
        </p:grpSpPr>
        <p:sp>
          <p:nvSpPr>
            <p:cNvPr id="20" name="Google Shape;20;p2"/>
            <p:cNvSpPr/>
            <p:nvPr/>
          </p:nvSpPr>
          <p:spPr>
            <a:xfrm>
              <a:off x="-1603307" y="2348270"/>
              <a:ext cx="752952" cy="979890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-880956" y="2326262"/>
              <a:ext cx="54822" cy="49978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-1248116" y="2840637"/>
              <a:ext cx="136036" cy="135772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-1524768" y="2679196"/>
              <a:ext cx="649512" cy="786446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-906383" y="2657342"/>
              <a:ext cx="53836" cy="49824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-1252039" y="2304737"/>
              <a:ext cx="241471" cy="240177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-1042397" y="2282795"/>
              <a:ext cx="56773" cy="49934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-1275516" y="2516813"/>
              <a:ext cx="54822" cy="49802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-1067824" y="3161765"/>
              <a:ext cx="659200" cy="657841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-676683" y="3289011"/>
              <a:ext cx="136014" cy="135772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-429382" y="3134825"/>
              <a:ext cx="53836" cy="50065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-1089349" y="3791702"/>
              <a:ext cx="49912" cy="49671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-864538" y="3079499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-1492721" y="3169086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-1581278" y="3795976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-1873362" y="2939014"/>
              <a:ext cx="480201" cy="479478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-414717" y="2120543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-287757" y="2820734"/>
              <a:ext cx="217972" cy="209731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-221208" y="2878778"/>
              <a:ext cx="93204" cy="93467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 flipH="1">
            <a:off x="-1155987" y="-912707"/>
            <a:ext cx="1938846" cy="1720830"/>
            <a:chOff x="-1873362" y="2120543"/>
            <a:chExt cx="1938846" cy="1720830"/>
          </a:xfrm>
        </p:grpSpPr>
        <p:sp>
          <p:nvSpPr>
            <p:cNvPr id="40" name="Google Shape;40;p2"/>
            <p:cNvSpPr/>
            <p:nvPr/>
          </p:nvSpPr>
          <p:spPr>
            <a:xfrm>
              <a:off x="-1603307" y="2348270"/>
              <a:ext cx="752952" cy="979890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-880956" y="2326262"/>
              <a:ext cx="54822" cy="49978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-1248116" y="2840637"/>
              <a:ext cx="136036" cy="135772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-1524768" y="2679196"/>
              <a:ext cx="649512" cy="786446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-906383" y="2657342"/>
              <a:ext cx="53836" cy="49824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-1252039" y="2304737"/>
              <a:ext cx="241471" cy="240177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-1042397" y="2282795"/>
              <a:ext cx="56773" cy="49934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-1275516" y="2516813"/>
              <a:ext cx="54822" cy="49802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-1067824" y="3161765"/>
              <a:ext cx="659200" cy="657841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-676683" y="3289011"/>
              <a:ext cx="136014" cy="135772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-429382" y="3134825"/>
              <a:ext cx="53836" cy="50065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-1089349" y="3791702"/>
              <a:ext cx="49912" cy="49671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-864538" y="3079499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-1492721" y="3169086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-1581278" y="3795976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-1873362" y="2939014"/>
              <a:ext cx="480201" cy="479478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-414717" y="2120543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-287757" y="2820734"/>
              <a:ext cx="217972" cy="209731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-221208" y="2878778"/>
              <a:ext cx="93204" cy="93467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" name="Google Shape;59;p2"/>
          <p:cNvGrpSpPr/>
          <p:nvPr/>
        </p:nvGrpSpPr>
        <p:grpSpPr>
          <a:xfrm flipH="1">
            <a:off x="6857372" y="-188512"/>
            <a:ext cx="1516025" cy="1489525"/>
            <a:chOff x="-3888525" y="-3012325"/>
            <a:chExt cx="1516025" cy="1489525"/>
          </a:xfrm>
        </p:grpSpPr>
        <p:sp>
          <p:nvSpPr>
            <p:cNvPr id="60" name="Google Shape;60;p2"/>
            <p:cNvSpPr/>
            <p:nvPr/>
          </p:nvSpPr>
          <p:spPr>
            <a:xfrm>
              <a:off x="-3076125" y="-3012325"/>
              <a:ext cx="38525" cy="38250"/>
            </a:xfrm>
            <a:custGeom>
              <a:avLst/>
              <a:gdLst/>
              <a:ahLst/>
              <a:cxnLst/>
              <a:rect l="l" t="t" r="r" b="b"/>
              <a:pathLst>
                <a:path w="1541" h="1530" extrusionOk="0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-3648325" y="-2918425"/>
              <a:ext cx="523950" cy="509300"/>
            </a:xfrm>
            <a:custGeom>
              <a:avLst/>
              <a:gdLst/>
              <a:ahLst/>
              <a:cxnLst/>
              <a:rect l="l" t="t" r="r" b="b"/>
              <a:pathLst>
                <a:path w="20958" h="20372" extrusionOk="0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-3742350" y="-2353475"/>
              <a:ext cx="53025" cy="38650"/>
            </a:xfrm>
            <a:custGeom>
              <a:avLst/>
              <a:gdLst/>
              <a:ahLst/>
              <a:cxnLst/>
              <a:rect l="l" t="t" r="r" b="b"/>
              <a:pathLst>
                <a:path w="2121" h="1546" extrusionOk="0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-3719475" y="-2483300"/>
              <a:ext cx="547675" cy="547050"/>
            </a:xfrm>
            <a:custGeom>
              <a:avLst/>
              <a:gdLst/>
              <a:ahLst/>
              <a:cxnLst/>
              <a:rect l="l" t="t" r="r" b="b"/>
              <a:pathLst>
                <a:path w="21907" h="21882" extrusionOk="0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-3888525" y="-2128825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-3626300" y="-1680825"/>
              <a:ext cx="184175" cy="158025"/>
            </a:xfrm>
            <a:custGeom>
              <a:avLst/>
              <a:gdLst/>
              <a:ahLst/>
              <a:cxnLst/>
              <a:rect l="l" t="t" r="r" b="b"/>
              <a:pathLst>
                <a:path w="7367" h="6321" extrusionOk="0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-3559050" y="-1636200"/>
              <a:ext cx="76175" cy="68900"/>
            </a:xfrm>
            <a:custGeom>
              <a:avLst/>
              <a:gdLst/>
              <a:ahLst/>
              <a:cxnLst/>
              <a:rect l="l" t="t" r="r" b="b"/>
              <a:pathLst>
                <a:path w="3047" h="2756" extrusionOk="0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3151175" y="-2605875"/>
              <a:ext cx="752125" cy="750250"/>
            </a:xfrm>
            <a:custGeom>
              <a:avLst/>
              <a:gdLst/>
              <a:ahLst/>
              <a:cxnLst/>
              <a:rect l="l" t="t" r="r" b="b"/>
              <a:pathLst>
                <a:path w="30085" h="30010" extrusionOk="0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-2704800" y="-2461050"/>
              <a:ext cx="155150" cy="155150"/>
            </a:xfrm>
            <a:custGeom>
              <a:avLst/>
              <a:gdLst/>
              <a:ahLst/>
              <a:cxnLst/>
              <a:rect l="l" t="t" r="r" b="b"/>
              <a:pathLst>
                <a:path w="6206" h="6206" extrusionOk="0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-2435025" y="-2631025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-3175450" y="-1887725"/>
              <a:ext cx="56675" cy="56925"/>
            </a:xfrm>
            <a:custGeom>
              <a:avLst/>
              <a:gdLst/>
              <a:ahLst/>
              <a:cxnLst/>
              <a:rect l="l" t="t" r="r" b="b"/>
              <a:pathLst>
                <a:path w="2267" h="2277" extrusionOk="0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>
            <a:spLocks noGrp="1"/>
          </p:cNvSpPr>
          <p:nvPr>
            <p:ph type="title" hasCustomPrompt="1"/>
          </p:nvPr>
        </p:nvSpPr>
        <p:spPr>
          <a:xfrm>
            <a:off x="2598875" y="787425"/>
            <a:ext cx="3946500" cy="1175100"/>
          </a:xfrm>
          <a:prstGeom prst="rect">
            <a:avLst/>
          </a:prstGeom>
          <a:noFill/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9pPr>
          </a:lstStyle>
          <a:p>
            <a:r>
              <a:t>xx%</a:t>
            </a:r>
          </a:p>
        </p:txBody>
      </p:sp>
      <p:sp>
        <p:nvSpPr>
          <p:cNvPr id="73" name="Google Shape;73;p3"/>
          <p:cNvSpPr txBox="1">
            <a:spLocks noGrp="1"/>
          </p:cNvSpPr>
          <p:nvPr>
            <p:ph type="title" idx="2"/>
          </p:nvPr>
        </p:nvSpPr>
        <p:spPr>
          <a:xfrm>
            <a:off x="2598625" y="2347850"/>
            <a:ext cx="3946500" cy="1229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Jost"/>
                <a:ea typeface="Jost"/>
                <a:cs typeface="Jost"/>
                <a:sym typeface="Jos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74" name="Google Shape;74;p3"/>
          <p:cNvSpPr txBox="1">
            <a:spLocks noGrp="1"/>
          </p:cNvSpPr>
          <p:nvPr>
            <p:ph type="subTitle" idx="1"/>
          </p:nvPr>
        </p:nvSpPr>
        <p:spPr>
          <a:xfrm>
            <a:off x="2598875" y="3643263"/>
            <a:ext cx="3946500" cy="712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grpSp>
        <p:nvGrpSpPr>
          <p:cNvPr id="75" name="Google Shape;75;p3"/>
          <p:cNvGrpSpPr/>
          <p:nvPr/>
        </p:nvGrpSpPr>
        <p:grpSpPr>
          <a:xfrm flipH="1">
            <a:off x="7451744" y="244568"/>
            <a:ext cx="1019565" cy="1290805"/>
            <a:chOff x="-4017975" y="-49702"/>
            <a:chExt cx="1162825" cy="1472177"/>
          </a:xfrm>
        </p:grpSpPr>
        <p:sp>
          <p:nvSpPr>
            <p:cNvPr id="76" name="Google Shape;76;p3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" name="Google Shape;83;p3"/>
          <p:cNvGrpSpPr/>
          <p:nvPr/>
        </p:nvGrpSpPr>
        <p:grpSpPr>
          <a:xfrm flipH="1">
            <a:off x="2648022" y="-702112"/>
            <a:ext cx="1516025" cy="1489525"/>
            <a:chOff x="-3888525" y="-3012325"/>
            <a:chExt cx="1516025" cy="1489525"/>
          </a:xfrm>
        </p:grpSpPr>
        <p:sp>
          <p:nvSpPr>
            <p:cNvPr id="84" name="Google Shape;84;p3"/>
            <p:cNvSpPr/>
            <p:nvPr/>
          </p:nvSpPr>
          <p:spPr>
            <a:xfrm>
              <a:off x="-3076125" y="-3012325"/>
              <a:ext cx="38525" cy="38250"/>
            </a:xfrm>
            <a:custGeom>
              <a:avLst/>
              <a:gdLst/>
              <a:ahLst/>
              <a:cxnLst/>
              <a:rect l="l" t="t" r="r" b="b"/>
              <a:pathLst>
                <a:path w="1541" h="1530" extrusionOk="0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-3648325" y="-2918425"/>
              <a:ext cx="523950" cy="509300"/>
            </a:xfrm>
            <a:custGeom>
              <a:avLst/>
              <a:gdLst/>
              <a:ahLst/>
              <a:cxnLst/>
              <a:rect l="l" t="t" r="r" b="b"/>
              <a:pathLst>
                <a:path w="20958" h="20372" extrusionOk="0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-3742350" y="-2353475"/>
              <a:ext cx="53025" cy="38650"/>
            </a:xfrm>
            <a:custGeom>
              <a:avLst/>
              <a:gdLst/>
              <a:ahLst/>
              <a:cxnLst/>
              <a:rect l="l" t="t" r="r" b="b"/>
              <a:pathLst>
                <a:path w="2121" h="1546" extrusionOk="0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-3719475" y="-2483300"/>
              <a:ext cx="547675" cy="547050"/>
            </a:xfrm>
            <a:custGeom>
              <a:avLst/>
              <a:gdLst/>
              <a:ahLst/>
              <a:cxnLst/>
              <a:rect l="l" t="t" r="r" b="b"/>
              <a:pathLst>
                <a:path w="21907" h="21882" extrusionOk="0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-3888525" y="-2128825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-3626300" y="-1680825"/>
              <a:ext cx="184175" cy="158025"/>
            </a:xfrm>
            <a:custGeom>
              <a:avLst/>
              <a:gdLst/>
              <a:ahLst/>
              <a:cxnLst/>
              <a:rect l="l" t="t" r="r" b="b"/>
              <a:pathLst>
                <a:path w="7367" h="6321" extrusionOk="0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-3559050" y="-1636200"/>
              <a:ext cx="76175" cy="68900"/>
            </a:xfrm>
            <a:custGeom>
              <a:avLst/>
              <a:gdLst/>
              <a:ahLst/>
              <a:cxnLst/>
              <a:rect l="l" t="t" r="r" b="b"/>
              <a:pathLst>
                <a:path w="3047" h="2756" extrusionOk="0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-3151175" y="-2605875"/>
              <a:ext cx="752125" cy="750250"/>
            </a:xfrm>
            <a:custGeom>
              <a:avLst/>
              <a:gdLst/>
              <a:ahLst/>
              <a:cxnLst/>
              <a:rect l="l" t="t" r="r" b="b"/>
              <a:pathLst>
                <a:path w="30085" h="30010" extrusionOk="0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-2704800" y="-2461050"/>
              <a:ext cx="155150" cy="155150"/>
            </a:xfrm>
            <a:custGeom>
              <a:avLst/>
              <a:gdLst/>
              <a:ahLst/>
              <a:cxnLst/>
              <a:rect l="l" t="t" r="r" b="b"/>
              <a:pathLst>
                <a:path w="6206" h="6206" extrusionOk="0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-2435025" y="-2631025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-3175450" y="-1887725"/>
              <a:ext cx="56675" cy="56925"/>
            </a:xfrm>
            <a:custGeom>
              <a:avLst/>
              <a:gdLst/>
              <a:ahLst/>
              <a:cxnLst/>
              <a:rect l="l" t="t" r="r" b="b"/>
              <a:pathLst>
                <a:path w="2267" h="2277" extrusionOk="0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" name="Google Shape;95;p3"/>
          <p:cNvGrpSpPr/>
          <p:nvPr/>
        </p:nvGrpSpPr>
        <p:grpSpPr>
          <a:xfrm flipH="1">
            <a:off x="579363" y="3923368"/>
            <a:ext cx="1938846" cy="1720830"/>
            <a:chOff x="-1873362" y="2120543"/>
            <a:chExt cx="1938846" cy="1720830"/>
          </a:xfrm>
        </p:grpSpPr>
        <p:sp>
          <p:nvSpPr>
            <p:cNvPr id="96" name="Google Shape;96;p3"/>
            <p:cNvSpPr/>
            <p:nvPr/>
          </p:nvSpPr>
          <p:spPr>
            <a:xfrm>
              <a:off x="-1603307" y="2348270"/>
              <a:ext cx="752952" cy="979890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-880956" y="2326262"/>
              <a:ext cx="54822" cy="49978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-1248116" y="2840637"/>
              <a:ext cx="136036" cy="135772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-1524768" y="2679196"/>
              <a:ext cx="649512" cy="786446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-906383" y="2657342"/>
              <a:ext cx="53836" cy="49824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-1252039" y="2304737"/>
              <a:ext cx="241471" cy="240177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-1042397" y="2282795"/>
              <a:ext cx="56773" cy="49934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-1275516" y="2516813"/>
              <a:ext cx="54822" cy="49802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-1067824" y="3161765"/>
              <a:ext cx="659200" cy="657841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-676683" y="3289011"/>
              <a:ext cx="136014" cy="135772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-429382" y="3134825"/>
              <a:ext cx="53836" cy="50065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-1089349" y="3791702"/>
              <a:ext cx="49912" cy="49671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-864538" y="3079499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-1492721" y="3169086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-1581278" y="3795976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-1873362" y="2939014"/>
              <a:ext cx="480201" cy="479478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-414717" y="2120543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-287757" y="2820734"/>
              <a:ext cx="217972" cy="209731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-221208" y="2878778"/>
              <a:ext cx="93204" cy="93467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3"/>
          <p:cNvGrpSpPr/>
          <p:nvPr/>
        </p:nvGrpSpPr>
        <p:grpSpPr>
          <a:xfrm flipH="1">
            <a:off x="-1155987" y="-338232"/>
            <a:ext cx="1938846" cy="1720830"/>
            <a:chOff x="-1873362" y="2120543"/>
            <a:chExt cx="1938846" cy="1720830"/>
          </a:xfrm>
        </p:grpSpPr>
        <p:sp>
          <p:nvSpPr>
            <p:cNvPr id="116" name="Google Shape;116;p3"/>
            <p:cNvSpPr/>
            <p:nvPr/>
          </p:nvSpPr>
          <p:spPr>
            <a:xfrm>
              <a:off x="-1603307" y="2348270"/>
              <a:ext cx="752952" cy="979890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-880956" y="2326262"/>
              <a:ext cx="54822" cy="49978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-1248116" y="2840637"/>
              <a:ext cx="136036" cy="135772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-1524768" y="2679196"/>
              <a:ext cx="649512" cy="786446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-906383" y="2657342"/>
              <a:ext cx="53836" cy="49824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-1252039" y="2304737"/>
              <a:ext cx="241471" cy="240177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-1042397" y="2282795"/>
              <a:ext cx="56773" cy="49934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-1275516" y="2516813"/>
              <a:ext cx="54822" cy="49802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-1067824" y="3161765"/>
              <a:ext cx="659200" cy="657841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-676683" y="3289011"/>
              <a:ext cx="136014" cy="135772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-429382" y="3134825"/>
              <a:ext cx="53836" cy="50065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-1089349" y="3791702"/>
              <a:ext cx="49912" cy="49671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-864538" y="3079499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-1492721" y="3169086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-1581278" y="3795976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-1873362" y="2939014"/>
              <a:ext cx="480201" cy="479478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-414717" y="2120543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-287757" y="2820734"/>
              <a:ext cx="217972" cy="209731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-221208" y="2878778"/>
              <a:ext cx="93204" cy="93467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2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08" name="Google Shape;208;p6"/>
          <p:cNvGrpSpPr/>
          <p:nvPr/>
        </p:nvGrpSpPr>
        <p:grpSpPr>
          <a:xfrm>
            <a:off x="8361160" y="-152294"/>
            <a:ext cx="1040638" cy="1353907"/>
            <a:chOff x="8361160" y="-152294"/>
            <a:chExt cx="1040638" cy="1353907"/>
          </a:xfrm>
        </p:grpSpPr>
        <p:grpSp>
          <p:nvGrpSpPr>
            <p:cNvPr id="209" name="Google Shape;209;p6"/>
            <p:cNvGrpSpPr/>
            <p:nvPr/>
          </p:nvGrpSpPr>
          <p:grpSpPr>
            <a:xfrm flipH="1">
              <a:off x="8361160" y="300238"/>
              <a:ext cx="1040638" cy="901375"/>
              <a:chOff x="948060" y="3972813"/>
              <a:chExt cx="1040638" cy="901375"/>
            </a:xfrm>
          </p:grpSpPr>
          <p:grpSp>
            <p:nvGrpSpPr>
              <p:cNvPr id="210" name="Google Shape;210;p6"/>
              <p:cNvGrpSpPr/>
              <p:nvPr/>
            </p:nvGrpSpPr>
            <p:grpSpPr>
              <a:xfrm flipH="1">
                <a:off x="948060" y="3972813"/>
                <a:ext cx="716725" cy="901375"/>
                <a:chOff x="-3888525" y="-2483300"/>
                <a:chExt cx="716725" cy="901375"/>
              </a:xfrm>
            </p:grpSpPr>
            <p:sp>
              <p:nvSpPr>
                <p:cNvPr id="211" name="Google Shape;211;p6"/>
                <p:cNvSpPr/>
                <p:nvPr/>
              </p:nvSpPr>
              <p:spPr>
                <a:xfrm>
                  <a:off x="-3719475" y="-2483300"/>
                  <a:ext cx="547675" cy="54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07" h="21882" extrusionOk="0">
                      <a:moveTo>
                        <a:pt x="21756" y="1"/>
                      </a:moveTo>
                      <a:cubicBezTo>
                        <a:pt x="21723" y="1"/>
                        <a:pt x="21689" y="15"/>
                        <a:pt x="21661" y="43"/>
                      </a:cubicBezTo>
                      <a:lnTo>
                        <a:pt x="56" y="21647"/>
                      </a:lnTo>
                      <a:cubicBezTo>
                        <a:pt x="1" y="21703"/>
                        <a:pt x="1" y="21781"/>
                        <a:pt x="56" y="21837"/>
                      </a:cubicBezTo>
                      <a:cubicBezTo>
                        <a:pt x="79" y="21870"/>
                        <a:pt x="112" y="21882"/>
                        <a:pt x="157" y="21882"/>
                      </a:cubicBezTo>
                      <a:cubicBezTo>
                        <a:pt x="190" y="21882"/>
                        <a:pt x="224" y="21870"/>
                        <a:pt x="257" y="21837"/>
                      </a:cubicBezTo>
                      <a:lnTo>
                        <a:pt x="21851" y="243"/>
                      </a:lnTo>
                      <a:cubicBezTo>
                        <a:pt x="21907" y="188"/>
                        <a:pt x="21907" y="98"/>
                        <a:pt x="21851" y="43"/>
                      </a:cubicBezTo>
                      <a:cubicBezTo>
                        <a:pt x="21823" y="15"/>
                        <a:pt x="21790" y="1"/>
                        <a:pt x="2175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" name="Google Shape;212;p6"/>
                <p:cNvSpPr/>
                <p:nvPr/>
              </p:nvSpPr>
              <p:spPr>
                <a:xfrm>
                  <a:off x="-3888525" y="-2128825"/>
                  <a:ext cx="549275" cy="54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71" h="21876" extrusionOk="0">
                      <a:moveTo>
                        <a:pt x="21780" y="1"/>
                      </a:moveTo>
                      <a:cubicBezTo>
                        <a:pt x="21751" y="1"/>
                        <a:pt x="21721" y="11"/>
                        <a:pt x="21694" y="36"/>
                      </a:cubicBezTo>
                      <a:lnTo>
                        <a:pt x="89" y="21630"/>
                      </a:lnTo>
                      <a:cubicBezTo>
                        <a:pt x="0" y="21719"/>
                        <a:pt x="67" y="21864"/>
                        <a:pt x="190" y="21875"/>
                      </a:cubicBezTo>
                      <a:cubicBezTo>
                        <a:pt x="223" y="21864"/>
                        <a:pt x="268" y="21853"/>
                        <a:pt x="290" y="21830"/>
                      </a:cubicBezTo>
                      <a:lnTo>
                        <a:pt x="21884" y="226"/>
                      </a:lnTo>
                      <a:cubicBezTo>
                        <a:pt x="21971" y="130"/>
                        <a:pt x="21882" y="1"/>
                        <a:pt x="2178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13" name="Google Shape;213;p6"/>
              <p:cNvGrpSpPr/>
              <p:nvPr/>
            </p:nvGrpSpPr>
            <p:grpSpPr>
              <a:xfrm flipH="1">
                <a:off x="1664772" y="4493938"/>
                <a:ext cx="323925" cy="323650"/>
                <a:chOff x="1608625" y="299800"/>
                <a:chExt cx="323925" cy="323650"/>
              </a:xfrm>
            </p:grpSpPr>
            <p:sp>
              <p:nvSpPr>
                <p:cNvPr id="214" name="Google Shape;214;p6"/>
                <p:cNvSpPr/>
                <p:nvPr/>
              </p:nvSpPr>
              <p:spPr>
                <a:xfrm>
                  <a:off x="1633450" y="324425"/>
                  <a:ext cx="275900" cy="274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36" h="10968" extrusionOk="0">
                      <a:moveTo>
                        <a:pt x="10830" y="0"/>
                      </a:moveTo>
                      <a:cubicBezTo>
                        <a:pt x="10795" y="0"/>
                        <a:pt x="10758" y="16"/>
                        <a:pt x="10725" y="54"/>
                      </a:cubicBezTo>
                      <a:lnTo>
                        <a:pt x="46" y="10733"/>
                      </a:lnTo>
                      <a:cubicBezTo>
                        <a:pt x="1" y="10789"/>
                        <a:pt x="1" y="10867"/>
                        <a:pt x="46" y="10923"/>
                      </a:cubicBezTo>
                      <a:cubicBezTo>
                        <a:pt x="79" y="10956"/>
                        <a:pt x="112" y="10968"/>
                        <a:pt x="146" y="10968"/>
                      </a:cubicBezTo>
                      <a:cubicBezTo>
                        <a:pt x="191" y="10968"/>
                        <a:pt x="224" y="10956"/>
                        <a:pt x="246" y="10923"/>
                      </a:cubicBezTo>
                      <a:lnTo>
                        <a:pt x="10926" y="254"/>
                      </a:lnTo>
                      <a:cubicBezTo>
                        <a:pt x="11036" y="153"/>
                        <a:pt x="10941" y="0"/>
                        <a:pt x="10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" name="Google Shape;215;p6"/>
                <p:cNvSpPr/>
                <p:nvPr/>
              </p:nvSpPr>
              <p:spPr>
                <a:xfrm>
                  <a:off x="1875625" y="299800"/>
                  <a:ext cx="56925" cy="56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7" h="2278" extrusionOk="0">
                      <a:moveTo>
                        <a:pt x="1139" y="1"/>
                      </a:moveTo>
                      <a:cubicBezTo>
                        <a:pt x="514" y="1"/>
                        <a:pt x="0" y="514"/>
                        <a:pt x="0" y="1139"/>
                      </a:cubicBezTo>
                      <a:cubicBezTo>
                        <a:pt x="0" y="1764"/>
                        <a:pt x="514" y="2277"/>
                        <a:pt x="1139" y="2277"/>
                      </a:cubicBezTo>
                      <a:cubicBezTo>
                        <a:pt x="1764" y="2277"/>
                        <a:pt x="2277" y="1764"/>
                        <a:pt x="2277" y="1139"/>
                      </a:cubicBezTo>
                      <a:cubicBezTo>
                        <a:pt x="2277" y="514"/>
                        <a:pt x="1764" y="1"/>
                        <a:pt x="113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" name="Google Shape;216;p6"/>
                <p:cNvSpPr/>
                <p:nvPr/>
              </p:nvSpPr>
              <p:spPr>
                <a:xfrm>
                  <a:off x="1608625" y="566800"/>
                  <a:ext cx="56950" cy="5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8" h="2266" extrusionOk="0">
                      <a:moveTo>
                        <a:pt x="1139" y="0"/>
                      </a:moveTo>
                      <a:cubicBezTo>
                        <a:pt x="514" y="0"/>
                        <a:pt x="1" y="503"/>
                        <a:pt x="1" y="1127"/>
                      </a:cubicBezTo>
                      <a:cubicBezTo>
                        <a:pt x="1" y="1764"/>
                        <a:pt x="514" y="2266"/>
                        <a:pt x="1139" y="2266"/>
                      </a:cubicBezTo>
                      <a:cubicBezTo>
                        <a:pt x="1775" y="2266"/>
                        <a:pt x="2277" y="1764"/>
                        <a:pt x="2277" y="1127"/>
                      </a:cubicBezTo>
                      <a:cubicBezTo>
                        <a:pt x="2277" y="503"/>
                        <a:pt x="1775" y="0"/>
                        <a:pt x="11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17" name="Google Shape;217;p6"/>
            <p:cNvGrpSpPr/>
            <p:nvPr/>
          </p:nvGrpSpPr>
          <p:grpSpPr>
            <a:xfrm rot="10800000">
              <a:off x="8442919" y="-152294"/>
              <a:ext cx="777174" cy="1001897"/>
              <a:chOff x="-4604150" y="-305525"/>
              <a:chExt cx="886375" cy="1142675"/>
            </a:xfrm>
          </p:grpSpPr>
          <p:sp>
            <p:nvSpPr>
              <p:cNvPr id="218" name="Google Shape;218;p6"/>
              <p:cNvSpPr/>
              <p:nvPr/>
            </p:nvSpPr>
            <p:spPr>
              <a:xfrm>
                <a:off x="-4604150" y="-280425"/>
                <a:ext cx="858750" cy="1117575"/>
              </a:xfrm>
              <a:custGeom>
                <a:avLst/>
                <a:gdLst/>
                <a:ahLst/>
                <a:cxnLst/>
                <a:rect l="l" t="t" r="r" b="b"/>
                <a:pathLst>
                  <a:path w="34350" h="44703" extrusionOk="0">
                    <a:moveTo>
                      <a:pt x="34205" y="1"/>
                    </a:moveTo>
                    <a:cubicBezTo>
                      <a:pt x="34169" y="1"/>
                      <a:pt x="34132" y="15"/>
                      <a:pt x="34104" y="43"/>
                    </a:cubicBezTo>
                    <a:lnTo>
                      <a:pt x="23425" y="10722"/>
                    </a:lnTo>
                    <a:cubicBezTo>
                      <a:pt x="23402" y="10745"/>
                      <a:pt x="23391" y="10778"/>
                      <a:pt x="23391" y="10823"/>
                    </a:cubicBezTo>
                    <a:lnTo>
                      <a:pt x="23391" y="21168"/>
                    </a:lnTo>
                    <a:lnTo>
                      <a:pt x="90" y="44468"/>
                    </a:lnTo>
                    <a:cubicBezTo>
                      <a:pt x="1" y="44558"/>
                      <a:pt x="68" y="44703"/>
                      <a:pt x="191" y="44703"/>
                    </a:cubicBezTo>
                    <a:cubicBezTo>
                      <a:pt x="224" y="44703"/>
                      <a:pt x="258" y="44692"/>
                      <a:pt x="291" y="44669"/>
                    </a:cubicBezTo>
                    <a:lnTo>
                      <a:pt x="23626" y="21324"/>
                    </a:lnTo>
                    <a:cubicBezTo>
                      <a:pt x="23648" y="21301"/>
                      <a:pt x="23670" y="21257"/>
                      <a:pt x="23670" y="21223"/>
                    </a:cubicBezTo>
                    <a:lnTo>
                      <a:pt x="23670" y="10879"/>
                    </a:lnTo>
                    <a:lnTo>
                      <a:pt x="34305" y="244"/>
                    </a:lnTo>
                    <a:cubicBezTo>
                      <a:pt x="34350" y="188"/>
                      <a:pt x="34350" y="98"/>
                      <a:pt x="34305" y="43"/>
                    </a:cubicBezTo>
                    <a:cubicBezTo>
                      <a:pt x="34277" y="15"/>
                      <a:pt x="34241" y="1"/>
                      <a:pt x="34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6"/>
              <p:cNvSpPr/>
              <p:nvPr/>
            </p:nvSpPr>
            <p:spPr>
              <a:xfrm>
                <a:off x="-3780300" y="-305525"/>
                <a:ext cx="62525" cy="57000"/>
              </a:xfrm>
              <a:custGeom>
                <a:avLst/>
                <a:gdLst/>
                <a:ahLst/>
                <a:cxnLst/>
                <a:rect l="l" t="t" r="r" b="b"/>
                <a:pathLst>
                  <a:path w="2501" h="2280" extrusionOk="0">
                    <a:moveTo>
                      <a:pt x="1248" y="0"/>
                    </a:moveTo>
                    <a:cubicBezTo>
                      <a:pt x="738" y="0"/>
                      <a:pt x="270" y="354"/>
                      <a:pt x="146" y="879"/>
                    </a:cubicBezTo>
                    <a:cubicBezTo>
                      <a:pt x="1" y="1493"/>
                      <a:pt x="380" y="2107"/>
                      <a:pt x="994" y="2252"/>
                    </a:cubicBezTo>
                    <a:cubicBezTo>
                      <a:pt x="1077" y="2270"/>
                      <a:pt x="1161" y="2279"/>
                      <a:pt x="1243" y="2279"/>
                    </a:cubicBezTo>
                    <a:cubicBezTo>
                      <a:pt x="1757" y="2279"/>
                      <a:pt x="2231" y="1933"/>
                      <a:pt x="2356" y="1404"/>
                    </a:cubicBezTo>
                    <a:cubicBezTo>
                      <a:pt x="2501" y="790"/>
                      <a:pt x="2121" y="176"/>
                      <a:pt x="1507" y="31"/>
                    </a:cubicBezTo>
                    <a:cubicBezTo>
                      <a:pt x="1421" y="10"/>
                      <a:pt x="1334" y="0"/>
                      <a:pt x="12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6"/>
              <p:cNvSpPr/>
              <p:nvPr/>
            </p:nvSpPr>
            <p:spPr>
              <a:xfrm>
                <a:off x="-4199050" y="281125"/>
                <a:ext cx="155150" cy="154850"/>
              </a:xfrm>
              <a:custGeom>
                <a:avLst/>
                <a:gdLst/>
                <a:ahLst/>
                <a:cxnLst/>
                <a:rect l="l" t="t" r="r" b="b"/>
                <a:pathLst>
                  <a:path w="6206" h="6194" extrusionOk="0">
                    <a:moveTo>
                      <a:pt x="6149" y="0"/>
                    </a:moveTo>
                    <a:lnTo>
                      <a:pt x="1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4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21" name="Google Shape;221;p6"/>
          <p:cNvGrpSpPr/>
          <p:nvPr/>
        </p:nvGrpSpPr>
        <p:grpSpPr>
          <a:xfrm>
            <a:off x="778838" y="379263"/>
            <a:ext cx="184175" cy="158025"/>
            <a:chOff x="-3626300" y="-1680825"/>
            <a:chExt cx="184175" cy="158025"/>
          </a:xfrm>
        </p:grpSpPr>
        <p:sp>
          <p:nvSpPr>
            <p:cNvPr id="222" name="Google Shape;222;p6"/>
            <p:cNvSpPr/>
            <p:nvPr/>
          </p:nvSpPr>
          <p:spPr>
            <a:xfrm>
              <a:off x="-3626300" y="-1680825"/>
              <a:ext cx="184175" cy="158025"/>
            </a:xfrm>
            <a:custGeom>
              <a:avLst/>
              <a:gdLst/>
              <a:ahLst/>
              <a:cxnLst/>
              <a:rect l="l" t="t" r="r" b="b"/>
              <a:pathLst>
                <a:path w="7367" h="6321" extrusionOk="0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6"/>
            <p:cNvSpPr/>
            <p:nvPr/>
          </p:nvSpPr>
          <p:spPr>
            <a:xfrm>
              <a:off x="-3559050" y="-1636200"/>
              <a:ext cx="76175" cy="68900"/>
            </a:xfrm>
            <a:custGeom>
              <a:avLst/>
              <a:gdLst/>
              <a:ahLst/>
              <a:cxnLst/>
              <a:rect l="l" t="t" r="r" b="b"/>
              <a:pathLst>
                <a:path w="3047" h="2756" extrusionOk="0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" name="Google Shape;224;p6"/>
          <p:cNvGrpSpPr/>
          <p:nvPr/>
        </p:nvGrpSpPr>
        <p:grpSpPr>
          <a:xfrm>
            <a:off x="-252062" y="300238"/>
            <a:ext cx="716725" cy="901375"/>
            <a:chOff x="-3888525" y="-2483300"/>
            <a:chExt cx="716725" cy="901375"/>
          </a:xfrm>
        </p:grpSpPr>
        <p:sp>
          <p:nvSpPr>
            <p:cNvPr id="225" name="Google Shape;225;p6"/>
            <p:cNvSpPr/>
            <p:nvPr/>
          </p:nvSpPr>
          <p:spPr>
            <a:xfrm>
              <a:off x="-3719475" y="-2483300"/>
              <a:ext cx="547675" cy="547050"/>
            </a:xfrm>
            <a:custGeom>
              <a:avLst/>
              <a:gdLst/>
              <a:ahLst/>
              <a:cxnLst/>
              <a:rect l="l" t="t" r="r" b="b"/>
              <a:pathLst>
                <a:path w="21907" h="21882" extrusionOk="0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6"/>
            <p:cNvSpPr/>
            <p:nvPr/>
          </p:nvSpPr>
          <p:spPr>
            <a:xfrm>
              <a:off x="-3888525" y="-2128825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9"/>
          <p:cNvSpPr txBox="1">
            <a:spLocks noGrp="1"/>
          </p:cNvSpPr>
          <p:nvPr>
            <p:ph type="title"/>
          </p:nvPr>
        </p:nvSpPr>
        <p:spPr>
          <a:xfrm>
            <a:off x="782850" y="1013625"/>
            <a:ext cx="3435300" cy="1305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27" name="Google Shape;327;p9"/>
          <p:cNvSpPr txBox="1">
            <a:spLocks noGrp="1"/>
          </p:cNvSpPr>
          <p:nvPr>
            <p:ph type="subTitle" idx="1"/>
          </p:nvPr>
        </p:nvSpPr>
        <p:spPr>
          <a:xfrm>
            <a:off x="782850" y="2824875"/>
            <a:ext cx="3435300" cy="1305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328" name="Google Shape;328;p9"/>
          <p:cNvGrpSpPr/>
          <p:nvPr/>
        </p:nvGrpSpPr>
        <p:grpSpPr>
          <a:xfrm>
            <a:off x="8457538" y="810363"/>
            <a:ext cx="1040638" cy="901375"/>
            <a:chOff x="8457538" y="810363"/>
            <a:chExt cx="1040638" cy="901375"/>
          </a:xfrm>
        </p:grpSpPr>
        <p:grpSp>
          <p:nvGrpSpPr>
            <p:cNvPr id="329" name="Google Shape;329;p9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330" name="Google Shape;330;p9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9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2" name="Google Shape;332;p9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333" name="Google Shape;333;p9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9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9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2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3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2" name="Google Shape;422;p13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1033550" y="1377577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4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423" name="Google Shape;423;p13"/>
          <p:cNvSpPr txBox="1">
            <a:spLocks noGrp="1"/>
          </p:cNvSpPr>
          <p:nvPr>
            <p:ph type="subTitle" idx="1"/>
          </p:nvPr>
        </p:nvSpPr>
        <p:spPr>
          <a:xfrm>
            <a:off x="1033550" y="2480675"/>
            <a:ext cx="2636100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4" name="Google Shape;424;p13"/>
          <p:cNvSpPr txBox="1">
            <a:spLocks noGrp="1"/>
          </p:cNvSpPr>
          <p:nvPr>
            <p:ph type="subTitle" idx="3"/>
          </p:nvPr>
        </p:nvSpPr>
        <p:spPr>
          <a:xfrm>
            <a:off x="1033550" y="1945416"/>
            <a:ext cx="31929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5" name="Google Shape;425;p13"/>
          <p:cNvSpPr txBox="1">
            <a:spLocks noGrp="1"/>
          </p:cNvSpPr>
          <p:nvPr>
            <p:ph type="title" idx="4" hasCustomPrompt="1"/>
          </p:nvPr>
        </p:nvSpPr>
        <p:spPr>
          <a:xfrm flipH="1">
            <a:off x="1033525" y="3039450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4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426" name="Google Shape;426;p13"/>
          <p:cNvSpPr txBox="1">
            <a:spLocks noGrp="1"/>
          </p:cNvSpPr>
          <p:nvPr>
            <p:ph type="subTitle" idx="5"/>
          </p:nvPr>
        </p:nvSpPr>
        <p:spPr>
          <a:xfrm>
            <a:off x="1033550" y="4167677"/>
            <a:ext cx="2636100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7" name="Google Shape;427;p13"/>
          <p:cNvSpPr txBox="1">
            <a:spLocks noGrp="1"/>
          </p:cNvSpPr>
          <p:nvPr>
            <p:ph type="subTitle" idx="6"/>
          </p:nvPr>
        </p:nvSpPr>
        <p:spPr>
          <a:xfrm>
            <a:off x="1033550" y="3613450"/>
            <a:ext cx="31929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8" name="Google Shape;428;p13"/>
          <p:cNvSpPr txBox="1">
            <a:spLocks noGrp="1"/>
          </p:cNvSpPr>
          <p:nvPr>
            <p:ph type="title" idx="7" hasCustomPrompt="1"/>
          </p:nvPr>
        </p:nvSpPr>
        <p:spPr>
          <a:xfrm flipH="1">
            <a:off x="7169950" y="1377578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4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429" name="Google Shape;429;p13"/>
          <p:cNvSpPr txBox="1">
            <a:spLocks noGrp="1"/>
          </p:cNvSpPr>
          <p:nvPr>
            <p:ph type="subTitle" idx="8"/>
          </p:nvPr>
        </p:nvSpPr>
        <p:spPr>
          <a:xfrm>
            <a:off x="5474325" y="2480675"/>
            <a:ext cx="2636100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0" name="Google Shape;430;p13"/>
          <p:cNvSpPr txBox="1">
            <a:spLocks noGrp="1"/>
          </p:cNvSpPr>
          <p:nvPr>
            <p:ph type="subTitle" idx="9"/>
          </p:nvPr>
        </p:nvSpPr>
        <p:spPr>
          <a:xfrm>
            <a:off x="4917550" y="1945416"/>
            <a:ext cx="31929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1" name="Google Shape;431;p13"/>
          <p:cNvSpPr txBox="1">
            <a:spLocks noGrp="1"/>
          </p:cNvSpPr>
          <p:nvPr>
            <p:ph type="title" idx="13" hasCustomPrompt="1"/>
          </p:nvPr>
        </p:nvSpPr>
        <p:spPr>
          <a:xfrm flipH="1">
            <a:off x="7169950" y="3039450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4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432" name="Google Shape;432;p13"/>
          <p:cNvSpPr txBox="1">
            <a:spLocks noGrp="1"/>
          </p:cNvSpPr>
          <p:nvPr>
            <p:ph type="subTitle" idx="14"/>
          </p:nvPr>
        </p:nvSpPr>
        <p:spPr>
          <a:xfrm>
            <a:off x="5474325" y="4167677"/>
            <a:ext cx="2636100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3" name="Google Shape;433;p13"/>
          <p:cNvSpPr txBox="1">
            <a:spLocks noGrp="1"/>
          </p:cNvSpPr>
          <p:nvPr>
            <p:ph type="subTitle" idx="15"/>
          </p:nvPr>
        </p:nvSpPr>
        <p:spPr>
          <a:xfrm>
            <a:off x="4917550" y="3613450"/>
            <a:ext cx="31929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434" name="Google Shape;434;p13"/>
          <p:cNvGrpSpPr/>
          <p:nvPr/>
        </p:nvGrpSpPr>
        <p:grpSpPr>
          <a:xfrm>
            <a:off x="-969899" y="3989306"/>
            <a:ext cx="1803578" cy="1558580"/>
            <a:chOff x="-969899" y="3989306"/>
            <a:chExt cx="1803578" cy="1558580"/>
          </a:xfrm>
        </p:grpSpPr>
        <p:grpSp>
          <p:nvGrpSpPr>
            <p:cNvPr id="435" name="Google Shape;435;p13"/>
            <p:cNvGrpSpPr/>
            <p:nvPr/>
          </p:nvGrpSpPr>
          <p:grpSpPr>
            <a:xfrm>
              <a:off x="-699845" y="4032775"/>
              <a:ext cx="777174" cy="1001897"/>
              <a:chOff x="-699845" y="4032775"/>
              <a:chExt cx="777174" cy="1001897"/>
            </a:xfrm>
          </p:grpSpPr>
          <p:sp>
            <p:nvSpPr>
              <p:cNvPr id="436" name="Google Shape;436;p13"/>
              <p:cNvSpPr/>
              <p:nvPr/>
            </p:nvSpPr>
            <p:spPr>
              <a:xfrm>
                <a:off x="-699845" y="4054782"/>
                <a:ext cx="752952" cy="979890"/>
              </a:xfrm>
              <a:custGeom>
                <a:avLst/>
                <a:gdLst/>
                <a:ahLst/>
                <a:cxnLst/>
                <a:rect l="l" t="t" r="r" b="b"/>
                <a:pathLst>
                  <a:path w="34350" h="44703" extrusionOk="0">
                    <a:moveTo>
                      <a:pt x="34205" y="1"/>
                    </a:moveTo>
                    <a:cubicBezTo>
                      <a:pt x="34169" y="1"/>
                      <a:pt x="34132" y="15"/>
                      <a:pt x="34104" y="43"/>
                    </a:cubicBezTo>
                    <a:lnTo>
                      <a:pt x="23425" y="10722"/>
                    </a:lnTo>
                    <a:cubicBezTo>
                      <a:pt x="23402" y="10745"/>
                      <a:pt x="23391" y="10778"/>
                      <a:pt x="23391" y="10823"/>
                    </a:cubicBezTo>
                    <a:lnTo>
                      <a:pt x="23391" y="21168"/>
                    </a:lnTo>
                    <a:lnTo>
                      <a:pt x="90" y="44468"/>
                    </a:lnTo>
                    <a:cubicBezTo>
                      <a:pt x="1" y="44558"/>
                      <a:pt x="68" y="44703"/>
                      <a:pt x="191" y="44703"/>
                    </a:cubicBezTo>
                    <a:cubicBezTo>
                      <a:pt x="224" y="44703"/>
                      <a:pt x="258" y="44692"/>
                      <a:pt x="291" y="44669"/>
                    </a:cubicBezTo>
                    <a:lnTo>
                      <a:pt x="23626" y="21324"/>
                    </a:lnTo>
                    <a:cubicBezTo>
                      <a:pt x="23648" y="21301"/>
                      <a:pt x="23670" y="21257"/>
                      <a:pt x="23670" y="21223"/>
                    </a:cubicBezTo>
                    <a:lnTo>
                      <a:pt x="23670" y="10879"/>
                    </a:lnTo>
                    <a:lnTo>
                      <a:pt x="34305" y="244"/>
                    </a:lnTo>
                    <a:cubicBezTo>
                      <a:pt x="34350" y="188"/>
                      <a:pt x="34350" y="98"/>
                      <a:pt x="34305" y="43"/>
                    </a:cubicBezTo>
                    <a:cubicBezTo>
                      <a:pt x="34277" y="15"/>
                      <a:pt x="34241" y="1"/>
                      <a:pt x="34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13"/>
              <p:cNvSpPr/>
              <p:nvPr/>
            </p:nvSpPr>
            <p:spPr>
              <a:xfrm>
                <a:off x="22507" y="4032775"/>
                <a:ext cx="54822" cy="49978"/>
              </a:xfrm>
              <a:custGeom>
                <a:avLst/>
                <a:gdLst/>
                <a:ahLst/>
                <a:cxnLst/>
                <a:rect l="l" t="t" r="r" b="b"/>
                <a:pathLst>
                  <a:path w="2501" h="2280" extrusionOk="0">
                    <a:moveTo>
                      <a:pt x="1248" y="0"/>
                    </a:moveTo>
                    <a:cubicBezTo>
                      <a:pt x="738" y="0"/>
                      <a:pt x="270" y="354"/>
                      <a:pt x="146" y="879"/>
                    </a:cubicBezTo>
                    <a:cubicBezTo>
                      <a:pt x="1" y="1493"/>
                      <a:pt x="380" y="2107"/>
                      <a:pt x="994" y="2252"/>
                    </a:cubicBezTo>
                    <a:cubicBezTo>
                      <a:pt x="1077" y="2270"/>
                      <a:pt x="1161" y="2279"/>
                      <a:pt x="1243" y="2279"/>
                    </a:cubicBezTo>
                    <a:cubicBezTo>
                      <a:pt x="1757" y="2279"/>
                      <a:pt x="2231" y="1933"/>
                      <a:pt x="2356" y="1404"/>
                    </a:cubicBezTo>
                    <a:cubicBezTo>
                      <a:pt x="2501" y="790"/>
                      <a:pt x="2121" y="176"/>
                      <a:pt x="1507" y="31"/>
                    </a:cubicBezTo>
                    <a:cubicBezTo>
                      <a:pt x="1421" y="10"/>
                      <a:pt x="1334" y="0"/>
                      <a:pt x="12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13"/>
              <p:cNvSpPr/>
              <p:nvPr/>
            </p:nvSpPr>
            <p:spPr>
              <a:xfrm>
                <a:off x="-344653" y="4547149"/>
                <a:ext cx="136036" cy="135772"/>
              </a:xfrm>
              <a:custGeom>
                <a:avLst/>
                <a:gdLst/>
                <a:ahLst/>
                <a:cxnLst/>
                <a:rect l="l" t="t" r="r" b="b"/>
                <a:pathLst>
                  <a:path w="6206" h="6194" extrusionOk="0">
                    <a:moveTo>
                      <a:pt x="6149" y="0"/>
                    </a:moveTo>
                    <a:lnTo>
                      <a:pt x="1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4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39" name="Google Shape;439;p13"/>
            <p:cNvSpPr/>
            <p:nvPr/>
          </p:nvSpPr>
          <p:spPr>
            <a:xfrm>
              <a:off x="-621306" y="4385709"/>
              <a:ext cx="649512" cy="786446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3"/>
            <p:cNvSpPr/>
            <p:nvPr/>
          </p:nvSpPr>
          <p:spPr>
            <a:xfrm>
              <a:off x="-2920" y="4363854"/>
              <a:ext cx="53836" cy="49824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3"/>
            <p:cNvSpPr/>
            <p:nvPr/>
          </p:nvSpPr>
          <p:spPr>
            <a:xfrm>
              <a:off x="-348577" y="4011249"/>
              <a:ext cx="241471" cy="240177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3"/>
            <p:cNvSpPr/>
            <p:nvPr/>
          </p:nvSpPr>
          <p:spPr>
            <a:xfrm>
              <a:off x="-138934" y="3989307"/>
              <a:ext cx="56773" cy="49934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3"/>
            <p:cNvSpPr/>
            <p:nvPr/>
          </p:nvSpPr>
          <p:spPr>
            <a:xfrm>
              <a:off x="-372053" y="4223325"/>
              <a:ext cx="54822" cy="49802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13"/>
            <p:cNvSpPr/>
            <p:nvPr/>
          </p:nvSpPr>
          <p:spPr>
            <a:xfrm>
              <a:off x="-164361" y="4868277"/>
              <a:ext cx="659200" cy="657841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3"/>
            <p:cNvSpPr/>
            <p:nvPr/>
          </p:nvSpPr>
          <p:spPr>
            <a:xfrm>
              <a:off x="226779" y="4995523"/>
              <a:ext cx="136014" cy="135772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3"/>
            <p:cNvSpPr/>
            <p:nvPr/>
          </p:nvSpPr>
          <p:spPr>
            <a:xfrm>
              <a:off x="474081" y="4841338"/>
              <a:ext cx="53836" cy="50065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3"/>
            <p:cNvSpPr/>
            <p:nvPr/>
          </p:nvSpPr>
          <p:spPr>
            <a:xfrm>
              <a:off x="-185887" y="5498214"/>
              <a:ext cx="49912" cy="49671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3"/>
            <p:cNvSpPr/>
            <p:nvPr/>
          </p:nvSpPr>
          <p:spPr>
            <a:xfrm>
              <a:off x="38925" y="4786012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3"/>
            <p:cNvSpPr/>
            <p:nvPr/>
          </p:nvSpPr>
          <p:spPr>
            <a:xfrm>
              <a:off x="-589259" y="4875599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3"/>
            <p:cNvSpPr/>
            <p:nvPr/>
          </p:nvSpPr>
          <p:spPr>
            <a:xfrm>
              <a:off x="-677815" y="5502489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3"/>
            <p:cNvSpPr/>
            <p:nvPr/>
          </p:nvSpPr>
          <p:spPr>
            <a:xfrm>
              <a:off x="-969899" y="4645526"/>
              <a:ext cx="480201" cy="479478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3"/>
            <p:cNvSpPr/>
            <p:nvPr/>
          </p:nvSpPr>
          <p:spPr>
            <a:xfrm>
              <a:off x="289933" y="3989306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3"/>
            <p:cNvSpPr/>
            <p:nvPr/>
          </p:nvSpPr>
          <p:spPr>
            <a:xfrm>
              <a:off x="615706" y="4527246"/>
              <a:ext cx="217972" cy="209731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3"/>
            <p:cNvSpPr/>
            <p:nvPr/>
          </p:nvSpPr>
          <p:spPr>
            <a:xfrm>
              <a:off x="682255" y="4585290"/>
              <a:ext cx="93204" cy="93467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5" name="Google Shape;455;p13"/>
          <p:cNvGrpSpPr/>
          <p:nvPr/>
        </p:nvGrpSpPr>
        <p:grpSpPr>
          <a:xfrm flipH="1">
            <a:off x="-74415" y="391900"/>
            <a:ext cx="1040638" cy="901375"/>
            <a:chOff x="948060" y="3972813"/>
            <a:chExt cx="1040638" cy="901375"/>
          </a:xfrm>
        </p:grpSpPr>
        <p:grpSp>
          <p:nvGrpSpPr>
            <p:cNvPr id="456" name="Google Shape;456;p13"/>
            <p:cNvGrpSpPr/>
            <p:nvPr/>
          </p:nvGrpSpPr>
          <p:grpSpPr>
            <a:xfrm flipH="1">
              <a:off x="948060" y="3972813"/>
              <a:ext cx="716725" cy="901375"/>
              <a:chOff x="-3888525" y="-2483300"/>
              <a:chExt cx="716725" cy="901375"/>
            </a:xfrm>
          </p:grpSpPr>
          <p:sp>
            <p:nvSpPr>
              <p:cNvPr id="457" name="Google Shape;457;p13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13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9" name="Google Shape;459;p13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460" name="Google Shape;460;p13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13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13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63" name="Google Shape;463;p13"/>
          <p:cNvGrpSpPr/>
          <p:nvPr/>
        </p:nvGrpSpPr>
        <p:grpSpPr>
          <a:xfrm>
            <a:off x="8530769" y="1433443"/>
            <a:ext cx="1019565" cy="1290805"/>
            <a:chOff x="-4017975" y="-49702"/>
            <a:chExt cx="1162825" cy="1472177"/>
          </a:xfrm>
        </p:grpSpPr>
        <p:sp>
          <p:nvSpPr>
            <p:cNvPr id="464" name="Google Shape;464;p13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3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3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3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3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3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3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4"/>
          <p:cNvSpPr txBox="1">
            <a:spLocks noGrp="1"/>
          </p:cNvSpPr>
          <p:nvPr>
            <p:ph type="title"/>
          </p:nvPr>
        </p:nvSpPr>
        <p:spPr>
          <a:xfrm>
            <a:off x="1940550" y="3438075"/>
            <a:ext cx="5262900" cy="363000"/>
          </a:xfrm>
          <a:prstGeom prst="rect">
            <a:avLst/>
          </a:prstGeom>
          <a:noFill/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73" name="Google Shape;473;p14"/>
          <p:cNvSpPr txBox="1">
            <a:spLocks noGrp="1"/>
          </p:cNvSpPr>
          <p:nvPr>
            <p:ph type="subTitle" idx="1"/>
          </p:nvPr>
        </p:nvSpPr>
        <p:spPr>
          <a:xfrm>
            <a:off x="1940550" y="1342425"/>
            <a:ext cx="5262900" cy="1592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474" name="Google Shape;474;p14"/>
          <p:cNvGrpSpPr/>
          <p:nvPr/>
        </p:nvGrpSpPr>
        <p:grpSpPr>
          <a:xfrm>
            <a:off x="8103363" y="1111063"/>
            <a:ext cx="1040638" cy="901375"/>
            <a:chOff x="8457538" y="810363"/>
            <a:chExt cx="1040638" cy="901375"/>
          </a:xfrm>
        </p:grpSpPr>
        <p:grpSp>
          <p:nvGrpSpPr>
            <p:cNvPr id="475" name="Google Shape;475;p14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476" name="Google Shape;476;p14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14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8" name="Google Shape;478;p14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479" name="Google Shape;479;p14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14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14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2" name="Google Shape;482;p14"/>
          <p:cNvGrpSpPr/>
          <p:nvPr/>
        </p:nvGrpSpPr>
        <p:grpSpPr>
          <a:xfrm>
            <a:off x="214269" y="2098393"/>
            <a:ext cx="1019565" cy="1290805"/>
            <a:chOff x="-4017975" y="-49702"/>
            <a:chExt cx="1162825" cy="1472177"/>
          </a:xfrm>
        </p:grpSpPr>
        <p:sp>
          <p:nvSpPr>
            <p:cNvPr id="483" name="Google Shape;483;p14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14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4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14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14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14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4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5"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7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5" name="Google Shape;545;p17"/>
          <p:cNvSpPr txBox="1">
            <a:spLocks noGrp="1"/>
          </p:cNvSpPr>
          <p:nvPr>
            <p:ph type="subTitle" idx="1"/>
          </p:nvPr>
        </p:nvSpPr>
        <p:spPr>
          <a:xfrm>
            <a:off x="782850" y="2955251"/>
            <a:ext cx="2311200" cy="766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6" name="Google Shape;546;p17"/>
          <p:cNvSpPr txBox="1">
            <a:spLocks noGrp="1"/>
          </p:cNvSpPr>
          <p:nvPr>
            <p:ph type="subTitle" idx="2"/>
          </p:nvPr>
        </p:nvSpPr>
        <p:spPr>
          <a:xfrm>
            <a:off x="782850" y="2538925"/>
            <a:ext cx="23112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7" name="Google Shape;547;p17"/>
          <p:cNvSpPr txBox="1">
            <a:spLocks noGrp="1"/>
          </p:cNvSpPr>
          <p:nvPr>
            <p:ph type="subTitle" idx="3"/>
          </p:nvPr>
        </p:nvSpPr>
        <p:spPr>
          <a:xfrm>
            <a:off x="3416400" y="2955251"/>
            <a:ext cx="2311200" cy="766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8" name="Google Shape;548;p17"/>
          <p:cNvSpPr txBox="1">
            <a:spLocks noGrp="1"/>
          </p:cNvSpPr>
          <p:nvPr>
            <p:ph type="subTitle" idx="4"/>
          </p:nvPr>
        </p:nvSpPr>
        <p:spPr>
          <a:xfrm>
            <a:off x="3416400" y="2538925"/>
            <a:ext cx="23112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9" name="Google Shape;549;p17"/>
          <p:cNvSpPr txBox="1">
            <a:spLocks noGrp="1"/>
          </p:cNvSpPr>
          <p:nvPr>
            <p:ph type="subTitle" idx="5"/>
          </p:nvPr>
        </p:nvSpPr>
        <p:spPr>
          <a:xfrm>
            <a:off x="6049950" y="2955251"/>
            <a:ext cx="2311200" cy="766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0" name="Google Shape;550;p17"/>
          <p:cNvSpPr txBox="1">
            <a:spLocks noGrp="1"/>
          </p:cNvSpPr>
          <p:nvPr>
            <p:ph type="subTitle" idx="6"/>
          </p:nvPr>
        </p:nvSpPr>
        <p:spPr>
          <a:xfrm>
            <a:off x="6049950" y="2538925"/>
            <a:ext cx="23112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551" name="Google Shape;551;p17"/>
          <p:cNvGrpSpPr/>
          <p:nvPr/>
        </p:nvGrpSpPr>
        <p:grpSpPr>
          <a:xfrm>
            <a:off x="-382087" y="624425"/>
            <a:ext cx="1040638" cy="901375"/>
            <a:chOff x="8457538" y="810363"/>
            <a:chExt cx="1040638" cy="901375"/>
          </a:xfrm>
        </p:grpSpPr>
        <p:grpSp>
          <p:nvGrpSpPr>
            <p:cNvPr id="552" name="Google Shape;552;p17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553" name="Google Shape;553;p17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17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5" name="Google Shape;555;p17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556" name="Google Shape;556;p17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17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17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59" name="Google Shape;559;p17"/>
          <p:cNvGrpSpPr/>
          <p:nvPr/>
        </p:nvGrpSpPr>
        <p:grpSpPr>
          <a:xfrm rot="10800000">
            <a:off x="8274244" y="624418"/>
            <a:ext cx="1803578" cy="1592367"/>
            <a:chOff x="-4912150" y="-393637"/>
            <a:chExt cx="2057000" cy="1816112"/>
          </a:xfrm>
        </p:grpSpPr>
        <p:sp>
          <p:nvSpPr>
            <p:cNvPr id="560" name="Google Shape;560;p17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7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7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7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7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7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7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7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7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7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7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7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7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7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7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7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7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7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7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9" name="Google Shape;579;p17"/>
          <p:cNvGrpSpPr/>
          <p:nvPr/>
        </p:nvGrpSpPr>
        <p:grpSpPr>
          <a:xfrm rot="10800000">
            <a:off x="1179219" y="4287293"/>
            <a:ext cx="1803578" cy="1592367"/>
            <a:chOff x="-4912150" y="-393637"/>
            <a:chExt cx="2057000" cy="1816112"/>
          </a:xfrm>
        </p:grpSpPr>
        <p:sp>
          <p:nvSpPr>
            <p:cNvPr id="580" name="Google Shape;580;p17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7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7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7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7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17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7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7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7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7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7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7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7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17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17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7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7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7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17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7_1"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2" name="Google Shape;872;p24"/>
          <p:cNvGrpSpPr/>
          <p:nvPr/>
        </p:nvGrpSpPr>
        <p:grpSpPr>
          <a:xfrm>
            <a:off x="8352588" y="816213"/>
            <a:ext cx="1040638" cy="901375"/>
            <a:chOff x="8457538" y="810363"/>
            <a:chExt cx="1040638" cy="901375"/>
          </a:xfrm>
        </p:grpSpPr>
        <p:grpSp>
          <p:nvGrpSpPr>
            <p:cNvPr id="873" name="Google Shape;873;p24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874" name="Google Shape;874;p24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24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6" name="Google Shape;876;p24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877" name="Google Shape;877;p24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24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24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80" name="Google Shape;880;p24"/>
          <p:cNvGrpSpPr/>
          <p:nvPr/>
        </p:nvGrpSpPr>
        <p:grpSpPr>
          <a:xfrm>
            <a:off x="4841575" y="4619788"/>
            <a:ext cx="1040638" cy="901375"/>
            <a:chOff x="8457538" y="810363"/>
            <a:chExt cx="1040638" cy="901375"/>
          </a:xfrm>
        </p:grpSpPr>
        <p:grpSp>
          <p:nvGrpSpPr>
            <p:cNvPr id="881" name="Google Shape;881;p24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882" name="Google Shape;882;p24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24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84" name="Google Shape;884;p24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885" name="Google Shape;885;p24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24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24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88" name="Google Shape;888;p24"/>
          <p:cNvGrpSpPr/>
          <p:nvPr/>
        </p:nvGrpSpPr>
        <p:grpSpPr>
          <a:xfrm>
            <a:off x="8352591" y="196800"/>
            <a:ext cx="713803" cy="706547"/>
            <a:chOff x="-4017975" y="616650"/>
            <a:chExt cx="814100" cy="805825"/>
          </a:xfrm>
        </p:grpSpPr>
        <p:sp>
          <p:nvSpPr>
            <p:cNvPr id="889" name="Google Shape;889;p24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4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4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4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3" name="Google Shape;893;p24"/>
          <p:cNvGrpSpPr/>
          <p:nvPr/>
        </p:nvGrpSpPr>
        <p:grpSpPr>
          <a:xfrm rot="10800000">
            <a:off x="-728606" y="92693"/>
            <a:ext cx="1803578" cy="1592367"/>
            <a:chOff x="-4912150" y="-393637"/>
            <a:chExt cx="2057000" cy="1816112"/>
          </a:xfrm>
        </p:grpSpPr>
        <p:sp>
          <p:nvSpPr>
            <p:cNvPr id="894" name="Google Shape;894;p24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4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4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4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24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24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4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4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24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24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24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24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24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24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24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24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24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24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24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■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■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■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5" r:id="rId4"/>
    <p:sldLayoutId id="2147483658" r:id="rId5"/>
    <p:sldLayoutId id="2147483659" r:id="rId6"/>
    <p:sldLayoutId id="2147483660" r:id="rId7"/>
    <p:sldLayoutId id="2147483663" r:id="rId8"/>
    <p:sldLayoutId id="2147483669" r:id="rId9"/>
    <p:sldLayoutId id="214748367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28"/>
          <p:cNvSpPr txBox="1">
            <a:spLocks noGrp="1"/>
          </p:cNvSpPr>
          <p:nvPr>
            <p:ph type="ctrTitle"/>
          </p:nvPr>
        </p:nvSpPr>
        <p:spPr>
          <a:xfrm flipH="1">
            <a:off x="743325" y="1454185"/>
            <a:ext cx="6952800" cy="1339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indent="431800" algn="ctr">
              <a:lnSpc>
                <a:spcPct val="107000"/>
              </a:lnSpc>
              <a:spcAft>
                <a:spcPts val="800"/>
              </a:spcAft>
            </a:pPr>
            <a:r>
              <a:rPr lang="el-GR" sz="1800" kern="100" dirty="0">
                <a:solidFill>
                  <a:schemeClr val="tx1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ΠΤΥΧΙΑΚΗ ΕΡΓΑΣΙΑ</a:t>
            </a:r>
            <a:br>
              <a:rPr lang="el-GR" sz="1800" kern="100" dirty="0">
                <a:solidFill>
                  <a:schemeClr val="tx1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l-GR" sz="1800" kern="100" dirty="0">
                <a:solidFill>
                  <a:schemeClr val="tx1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Επίλυση του Προβλήματος του Σακιδίου </a:t>
            </a:r>
            <a:br>
              <a:rPr lang="el-GR" sz="1800" kern="100" dirty="0">
                <a:solidFill>
                  <a:schemeClr val="tx1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l-GR" sz="1800" kern="100" dirty="0">
                <a:solidFill>
                  <a:schemeClr val="tx1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(Knapsack Problem) </a:t>
            </a:r>
            <a:br>
              <a:rPr lang="el-GR" sz="1800" kern="100" dirty="0">
                <a:solidFill>
                  <a:schemeClr val="tx1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l-GR" sz="1800" kern="100" dirty="0">
                <a:solidFill>
                  <a:schemeClr val="tx1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με τη χρήση Νευρωνικών Δικτύων όλων των τύπων και Αλγορίθμων Βαθιάς Μάθησης-Deep Learning</a:t>
            </a:r>
          </a:p>
        </p:txBody>
      </p:sp>
      <p:sp>
        <p:nvSpPr>
          <p:cNvPr id="924" name="Google Shape;924;p28"/>
          <p:cNvSpPr txBox="1">
            <a:spLocks noGrp="1"/>
          </p:cNvSpPr>
          <p:nvPr>
            <p:ph type="subTitle" idx="1"/>
          </p:nvPr>
        </p:nvSpPr>
        <p:spPr>
          <a:xfrm flipH="1">
            <a:off x="743375" y="3242315"/>
            <a:ext cx="6952800" cy="447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ΑΝΤΩΝΙΟΣ ΒΑΛΣΑΜΗΣ</a:t>
            </a:r>
            <a:endParaRPr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5" name="Google Shape;925;p28"/>
          <p:cNvSpPr/>
          <p:nvPr/>
        </p:nvSpPr>
        <p:spPr>
          <a:xfrm flipH="1">
            <a:off x="-186582" y="5584563"/>
            <a:ext cx="29" cy="29"/>
          </a:xfrm>
          <a:custGeom>
            <a:avLst/>
            <a:gdLst/>
            <a:ahLst/>
            <a:cxnLst/>
            <a:rect l="l" t="t" r="r" b="b"/>
            <a:pathLst>
              <a:path w="1" h="1" fill="none" extrusionOk="0">
                <a:moveTo>
                  <a:pt x="1" y="1"/>
                </a:moveTo>
                <a:lnTo>
                  <a:pt x="1" y="1"/>
                </a:lnTo>
                <a:close/>
              </a:path>
            </a:pathLst>
          </a:custGeom>
          <a:solidFill>
            <a:schemeClr val="lt1"/>
          </a:solidFill>
          <a:ln w="56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26" name="Google Shape;926;p28"/>
          <p:cNvGrpSpPr/>
          <p:nvPr/>
        </p:nvGrpSpPr>
        <p:grpSpPr>
          <a:xfrm flipH="1">
            <a:off x="5870297" y="3482200"/>
            <a:ext cx="1929500" cy="2210100"/>
            <a:chOff x="295725" y="-3462825"/>
            <a:chExt cx="1929500" cy="2210100"/>
          </a:xfrm>
        </p:grpSpPr>
        <p:sp>
          <p:nvSpPr>
            <p:cNvPr id="927" name="Google Shape;927;p28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8" name="Google Shape;928;p28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9" name="Google Shape;929;p28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0" name="Google Shape;930;p28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1" name="Google Shape;931;p28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2" name="Google Shape;932;p28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3" name="Google Shape;933;p28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4" name="Google Shape;934;p28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5" name="Google Shape;935;p28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6" name="Google Shape;936;p28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7" name="Google Shape;937;p28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8" name="Google Shape;938;p28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9" name="Google Shape;939;p28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0" name="Google Shape;940;p28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1" name="Google Shape;941;p28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2" name="Google Shape;942;p28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3" name="Google Shape;943;p28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4" name="Google Shape;944;p28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5" name="Google Shape;945;p28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6" name="Google Shape;946;p28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7" name="Google Shape;947;p28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8" name="Google Shape;948;p28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9" name="Google Shape;949;p28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0" name="Google Shape;950;p28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1" name="Google Shape;951;p28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52" name="Google Shape;952;p28"/>
          <p:cNvGrpSpPr/>
          <p:nvPr/>
        </p:nvGrpSpPr>
        <p:grpSpPr>
          <a:xfrm>
            <a:off x="948060" y="3973813"/>
            <a:ext cx="1040638" cy="901375"/>
            <a:chOff x="948060" y="3972813"/>
            <a:chExt cx="1040638" cy="901375"/>
          </a:xfrm>
        </p:grpSpPr>
        <p:grpSp>
          <p:nvGrpSpPr>
            <p:cNvPr id="953" name="Google Shape;953;p28"/>
            <p:cNvGrpSpPr/>
            <p:nvPr/>
          </p:nvGrpSpPr>
          <p:grpSpPr>
            <a:xfrm flipH="1">
              <a:off x="948060" y="3972813"/>
              <a:ext cx="716725" cy="901375"/>
              <a:chOff x="-3888525" y="-2483300"/>
              <a:chExt cx="716725" cy="901375"/>
            </a:xfrm>
          </p:grpSpPr>
          <p:sp>
            <p:nvSpPr>
              <p:cNvPr id="954" name="Google Shape;954;p28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55" name="Google Shape;955;p28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56" name="Google Shape;956;p28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957" name="Google Shape;957;p28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58" name="Google Shape;958;p28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59" name="Google Shape;959;p28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960" name="Google Shape;960;p28"/>
          <p:cNvGrpSpPr/>
          <p:nvPr/>
        </p:nvGrpSpPr>
        <p:grpSpPr>
          <a:xfrm>
            <a:off x="844385" y="2929368"/>
            <a:ext cx="4208350" cy="192185"/>
            <a:chOff x="948060" y="2996029"/>
            <a:chExt cx="4208350" cy="192185"/>
          </a:xfrm>
        </p:grpSpPr>
        <p:sp>
          <p:nvSpPr>
            <p:cNvPr id="961" name="Google Shape;961;p28"/>
            <p:cNvSpPr/>
            <p:nvPr/>
          </p:nvSpPr>
          <p:spPr>
            <a:xfrm rot="-2700000" flipH="1">
              <a:off x="1692865" y="3024234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62" name="Google Shape;962;p28"/>
            <p:cNvCxnSpPr>
              <a:stCxn id="963" idx="6"/>
              <a:endCxn id="964" idx="2"/>
            </p:cNvCxnSpPr>
            <p:nvPr/>
          </p:nvCxnSpPr>
          <p:spPr>
            <a:xfrm rot="10800000">
              <a:off x="1005010" y="3091118"/>
              <a:ext cx="40944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63" name="Google Shape;963;p28"/>
            <p:cNvSpPr/>
            <p:nvPr/>
          </p:nvSpPr>
          <p:spPr>
            <a:xfrm flipH="1">
              <a:off x="5099410" y="306261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4" name="Google Shape;964;p28"/>
            <p:cNvSpPr/>
            <p:nvPr/>
          </p:nvSpPr>
          <p:spPr>
            <a:xfrm flipH="1">
              <a:off x="948060" y="306264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33"/>
          <p:cNvSpPr txBox="1">
            <a:spLocks noGrp="1"/>
          </p:cNvSpPr>
          <p:nvPr>
            <p:ph type="title"/>
          </p:nvPr>
        </p:nvSpPr>
        <p:spPr>
          <a:xfrm>
            <a:off x="2598875" y="787425"/>
            <a:ext cx="3946500" cy="1175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3" name="Google Shape;1113;p33"/>
          <p:cNvSpPr txBox="1">
            <a:spLocks noGrp="1"/>
          </p:cNvSpPr>
          <p:nvPr>
            <p:ph type="title" idx="2"/>
          </p:nvPr>
        </p:nvSpPr>
        <p:spPr>
          <a:xfrm>
            <a:off x="2598625" y="2347850"/>
            <a:ext cx="3946500" cy="1229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/>
            <a:r>
              <a:rPr lang="el-GR" b="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 Medium"/>
                <a:cs typeface="Times New Roman" panose="02020603050405020304" pitchFamily="18" charset="0"/>
                <a:sym typeface="Montserrat Medium"/>
              </a:rPr>
              <a:t>Το πρόβλημα </a:t>
            </a:r>
            <a:br>
              <a:rPr lang="el-GR" b="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 Medium"/>
                <a:cs typeface="Times New Roman" panose="02020603050405020304" pitchFamily="18" charset="0"/>
                <a:sym typeface="Montserrat Medium"/>
              </a:rPr>
            </a:br>
            <a:r>
              <a:rPr lang="el-GR" b="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 Medium"/>
                <a:cs typeface="Times New Roman" panose="02020603050405020304" pitchFamily="18" charset="0"/>
                <a:sym typeface="Montserrat Medium"/>
              </a:rPr>
              <a:t>του σακιδίου</a:t>
            </a:r>
            <a:endParaRPr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grpSp>
        <p:nvGrpSpPr>
          <p:cNvPr id="1115" name="Google Shape;1115;p33"/>
          <p:cNvGrpSpPr/>
          <p:nvPr/>
        </p:nvGrpSpPr>
        <p:grpSpPr>
          <a:xfrm>
            <a:off x="2972897" y="2089316"/>
            <a:ext cx="3478000" cy="192185"/>
            <a:chOff x="4788672" y="2177404"/>
            <a:chExt cx="3478000" cy="192185"/>
          </a:xfrm>
        </p:grpSpPr>
        <p:sp>
          <p:nvSpPr>
            <p:cNvPr id="1116" name="Google Shape;1116;p33"/>
            <p:cNvSpPr/>
            <p:nvPr/>
          </p:nvSpPr>
          <p:spPr>
            <a:xfrm rot="-2700000" flipH="1">
              <a:off x="7250940" y="2205609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17" name="Google Shape;1117;p33"/>
            <p:cNvCxnSpPr>
              <a:stCxn id="1118" idx="6"/>
              <a:endCxn id="1119" idx="2"/>
            </p:cNvCxnSpPr>
            <p:nvPr/>
          </p:nvCxnSpPr>
          <p:spPr>
            <a:xfrm rot="10800000">
              <a:off x="4845772" y="2272517"/>
              <a:ext cx="33639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19" name="Google Shape;1119;p33"/>
            <p:cNvSpPr/>
            <p:nvPr/>
          </p:nvSpPr>
          <p:spPr>
            <a:xfrm flipH="1">
              <a:off x="4788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8" name="Google Shape;1118;p33"/>
            <p:cNvSpPr/>
            <p:nvPr/>
          </p:nvSpPr>
          <p:spPr>
            <a:xfrm flipH="1">
              <a:off x="8209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20" name="Google Shape;1120;p33"/>
          <p:cNvGrpSpPr/>
          <p:nvPr/>
        </p:nvGrpSpPr>
        <p:grpSpPr>
          <a:xfrm flipH="1">
            <a:off x="7834772" y="2544125"/>
            <a:ext cx="1929500" cy="2210100"/>
            <a:chOff x="295725" y="-3462825"/>
            <a:chExt cx="1929500" cy="2210100"/>
          </a:xfrm>
        </p:grpSpPr>
        <p:sp>
          <p:nvSpPr>
            <p:cNvPr id="1121" name="Google Shape;1121;p33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2" name="Google Shape;1122;p33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3" name="Google Shape;1123;p33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4" name="Google Shape;1124;p33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5" name="Google Shape;1125;p33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6" name="Google Shape;1126;p33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7" name="Google Shape;1127;p33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8" name="Google Shape;1128;p33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9" name="Google Shape;1129;p33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0" name="Google Shape;1130;p33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1" name="Google Shape;1131;p33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2" name="Google Shape;1132;p33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3" name="Google Shape;1133;p33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4" name="Google Shape;1134;p33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5" name="Google Shape;1135;p33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6" name="Google Shape;1136;p33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7" name="Google Shape;1137;p33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8" name="Google Shape;1138;p33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9" name="Google Shape;1139;p33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0" name="Google Shape;1140;p33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1" name="Google Shape;1141;p33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2" name="Google Shape;1142;p33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3" name="Google Shape;1143;p33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4" name="Google Shape;1144;p33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5" name="Google Shape;1145;p33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46" name="Google Shape;1146;p33"/>
          <p:cNvGrpSpPr/>
          <p:nvPr/>
        </p:nvGrpSpPr>
        <p:grpSpPr>
          <a:xfrm>
            <a:off x="1005972" y="2347838"/>
            <a:ext cx="873188" cy="546900"/>
            <a:chOff x="1115510" y="4327288"/>
            <a:chExt cx="873188" cy="546900"/>
          </a:xfrm>
        </p:grpSpPr>
        <p:sp>
          <p:nvSpPr>
            <p:cNvPr id="1147" name="Google Shape;1147;p33"/>
            <p:cNvSpPr/>
            <p:nvPr/>
          </p:nvSpPr>
          <p:spPr>
            <a:xfrm flipH="1">
              <a:off x="1115510" y="4327288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148" name="Google Shape;1148;p33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1149" name="Google Shape;1149;p33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50" name="Google Shape;1150;p33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51" name="Google Shape;1151;p33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29"/>
          <p:cNvSpPr txBox="1">
            <a:spLocks noGrp="1"/>
          </p:cNvSpPr>
          <p:nvPr>
            <p:ph type="title"/>
          </p:nvPr>
        </p:nvSpPr>
        <p:spPr>
          <a:xfrm>
            <a:off x="0" y="556250"/>
            <a:ext cx="9144000" cy="52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/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Το πρόβλημα του Σακιδίου (</a:t>
            </a:r>
            <a:r>
              <a:rPr 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l-GR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napsack</a:t>
            </a:r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l-GR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roblem</a:t>
            </a:r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1" name="Google Shape;971;p29"/>
          <p:cNvSpPr txBox="1"/>
          <p:nvPr/>
        </p:nvSpPr>
        <p:spPr>
          <a:xfrm>
            <a:off x="782850" y="1209138"/>
            <a:ext cx="7578300" cy="156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Το πρόβλημα του σακιδίου είναι ένα από τα πιο γνωστά προβλήματα συνδυαστικής βελτιστοποίησης</a:t>
            </a:r>
            <a:endParaRPr lang="en-US" sz="1800"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l-GR" sz="180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Απαιτεί τη βέλτιστη επιλογή αντικειμένων που θα τοποθετηθούν σε ένα σακίδιο με περιορισμένη χωρητικότητα, με στόχο τη μεγιστοποίηση της συνολικής αξίας.</a:t>
            </a:r>
            <a:endParaRPr lang="el-GR" sz="1800"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grpSp>
        <p:nvGrpSpPr>
          <p:cNvPr id="974" name="Google Shape;974;p29"/>
          <p:cNvGrpSpPr/>
          <p:nvPr/>
        </p:nvGrpSpPr>
        <p:grpSpPr>
          <a:xfrm>
            <a:off x="1611150" y="1050283"/>
            <a:ext cx="5921700" cy="192184"/>
            <a:chOff x="902597" y="1069304"/>
            <a:chExt cx="5921700" cy="192184"/>
          </a:xfrm>
        </p:grpSpPr>
        <p:grpSp>
          <p:nvGrpSpPr>
            <p:cNvPr id="975" name="Google Shape;975;p29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976" name="Google Shape;976;p29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77" name="Google Shape;977;p29"/>
              <p:cNvCxnSpPr>
                <a:stCxn id="978" idx="6"/>
                <a:endCxn id="979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79" name="Google Shape;979;p29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78" name="Google Shape;978;p29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3" name="Graphic 2">
            <a:extLst>
              <a:ext uri="{FF2B5EF4-FFF2-40B4-BE49-F238E27FC236}">
                <a16:creationId xmlns:a16="http://schemas.microsoft.com/office/drawing/2014/main" id="{B61FF29B-6461-B430-9B54-EC6F02A4AB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06802" y="2778768"/>
            <a:ext cx="2530396" cy="21919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782849" y="153761"/>
            <a:ext cx="7578300" cy="523200"/>
          </a:xfrm>
        </p:spPr>
        <p:txBody>
          <a:bodyPr/>
          <a:lstStyle/>
          <a:p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Ανασκόπηση Βιβλιογραφίας </a:t>
            </a:r>
          </a:p>
        </p:txBody>
      </p:sp>
      <p:graphicFrame>
        <p:nvGraphicFramePr>
          <p:cNvPr id="3" name="Πίνακας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781862"/>
              </p:ext>
            </p:extLst>
          </p:nvPr>
        </p:nvGraphicFramePr>
        <p:xfrm>
          <a:off x="354931" y="676961"/>
          <a:ext cx="8434137" cy="4485215"/>
        </p:xfrm>
        <a:graphic>
          <a:graphicData uri="http://schemas.openxmlformats.org/drawingml/2006/table">
            <a:tbl>
              <a:tblPr>
                <a:tableStyleId>{ECCDC6F9-9CED-40D5-A569-A2F5D344B805}</a:tableStyleId>
              </a:tblPr>
              <a:tblGrid>
                <a:gridCol w="2757522">
                  <a:extLst>
                    <a:ext uri="{9D8B030D-6E8A-4147-A177-3AD203B41FA5}">
                      <a16:colId xmlns:a16="http://schemas.microsoft.com/office/drawing/2014/main" val="1420035063"/>
                    </a:ext>
                  </a:extLst>
                </a:gridCol>
                <a:gridCol w="5676615">
                  <a:extLst>
                    <a:ext uri="{9D8B030D-6E8A-4147-A177-3AD203B41FA5}">
                      <a16:colId xmlns:a16="http://schemas.microsoft.com/office/drawing/2014/main" val="1578963192"/>
                    </a:ext>
                  </a:extLst>
                </a:gridCol>
              </a:tblGrid>
              <a:tr h="37496">
                <a:tc>
                  <a:txBody>
                    <a:bodyPr/>
                    <a:lstStyle/>
                    <a:p>
                      <a:pPr algn="l" fontAlgn="b"/>
                      <a:r>
                        <a:rPr lang="el-GR" sz="2000" b="1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Μελετητές</a:t>
                      </a:r>
                      <a:endParaRPr lang="el-GR" sz="2000" b="1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75" marR="1875" marT="18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000" b="1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Μελέτη</a:t>
                      </a:r>
                      <a:endParaRPr lang="el-GR" sz="2000" b="1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75" marR="1875" marT="1875" marB="0" anchor="b"/>
                </a:tc>
                <a:extLst>
                  <a:ext uri="{0D108BD9-81ED-4DB2-BD59-A6C34878D82A}">
                    <a16:rowId xmlns:a16="http://schemas.microsoft.com/office/drawing/2014/main" val="2311224512"/>
                  </a:ext>
                </a:extLst>
              </a:tr>
              <a:tr h="298847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Hopfield &amp; Tank, 1985</a:t>
                      </a:r>
                      <a:endParaRPr lang="en-US" sz="16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75" marR="1875" marT="18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Χρήση των Hopfield δικτύων για το πρόβλημα του πλανόδιου πωλητή. </a:t>
                      </a:r>
                      <a:endParaRPr lang="el-GR" sz="16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75" marR="1875" marT="1875" marB="0" anchor="b"/>
                </a:tc>
                <a:extLst>
                  <a:ext uri="{0D108BD9-81ED-4DB2-BD59-A6C34878D82A}">
                    <a16:rowId xmlns:a16="http://schemas.microsoft.com/office/drawing/2014/main" val="3556490054"/>
                  </a:ext>
                </a:extLst>
              </a:tr>
              <a:tr h="364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Durbin &amp; Willshaw, 1987</a:t>
                      </a:r>
                      <a:endParaRPr lang="en-US" sz="16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75" marR="1875" marT="18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Εφεύρεση των Ελαστικών Δικτύων ως μέσο επίλυσης του προβλήματος του πλανόδιου πωλητή.</a:t>
                      </a:r>
                      <a:endParaRPr lang="el-GR" sz="16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75" marR="1875" marT="1875" marB="0" anchor="b"/>
                </a:tc>
                <a:extLst>
                  <a:ext uri="{0D108BD9-81ED-4DB2-BD59-A6C34878D82A}">
                    <a16:rowId xmlns:a16="http://schemas.microsoft.com/office/drawing/2014/main" val="3973250144"/>
                  </a:ext>
                </a:extLst>
              </a:tr>
              <a:tr h="298847">
                <a:tc>
                  <a:txBody>
                    <a:bodyPr/>
                    <a:lstStyle/>
                    <a:p>
                      <a:pPr algn="l" fontAlgn="b"/>
                      <a:r>
                        <a:rPr lang="fr-FR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Fort, 1988; Angéniol et al., 1988</a:t>
                      </a:r>
                      <a:endParaRPr lang="fr-FR" sz="16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75" marR="1875" marT="18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Εφαρμογή του αυτοοργανωτικού χάρτη στο πρόβλημα του πλανόδιου πωλητή.</a:t>
                      </a:r>
                      <a:endParaRPr lang="el-GR" sz="16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75" marR="1875" marT="1875" marB="0" anchor="b"/>
                </a:tc>
                <a:extLst>
                  <a:ext uri="{0D108BD9-81ED-4DB2-BD59-A6C34878D82A}">
                    <a16:rowId xmlns:a16="http://schemas.microsoft.com/office/drawing/2014/main" val="1499021681"/>
                  </a:ext>
                </a:extLst>
              </a:tr>
              <a:tr h="26585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Sarwar &amp; Aziz Bhatti, 2012</a:t>
                      </a:r>
                      <a:endParaRPr lang="en-US" sz="16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75" marR="1875" marT="18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Σύγκριση νευρωνικών δικτύων με αλγοριθμικές μεθόδους.</a:t>
                      </a:r>
                      <a:endParaRPr lang="el-GR" sz="16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75" marR="1875" marT="1875" marB="0" anchor="b"/>
                </a:tc>
                <a:extLst>
                  <a:ext uri="{0D108BD9-81ED-4DB2-BD59-A6C34878D82A}">
                    <a16:rowId xmlns:a16="http://schemas.microsoft.com/office/drawing/2014/main" val="795849864"/>
                  </a:ext>
                </a:extLst>
              </a:tr>
              <a:tr h="430834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Vinyals  et al., 2015</a:t>
                      </a:r>
                      <a:endParaRPr lang="en-US" sz="16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75" marR="1875" marT="18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Επίλυση του προβλήματος του πλανόδιου πωλητή χρησιμοποιώντας παραδείγματα εισόδου-εξόδου με επίβλεψη</a:t>
                      </a:r>
                      <a:endParaRPr lang="el-GR" sz="16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75" marR="1875" marT="1875" marB="0" anchor="b"/>
                </a:tc>
                <a:extLst>
                  <a:ext uri="{0D108BD9-81ED-4DB2-BD59-A6C34878D82A}">
                    <a16:rowId xmlns:a16="http://schemas.microsoft.com/office/drawing/2014/main" val="535268650"/>
                  </a:ext>
                </a:extLst>
              </a:tr>
              <a:tr h="85979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Bello et al., 2016</a:t>
                      </a:r>
                      <a:endParaRPr lang="en-US" sz="16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75" marR="1875" marT="18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Νευρωνικά δίκτυα και ενισχυτική μάθηση (reinforcement learning) για την αντιμετώπιση προβλημάτων της συνδυαστικής βελτιστοποίησης χρησιμοποιήθηκαν, δύο προσεγγίσεις που βασίζονται σε κλίσεις πολιτικής.</a:t>
                      </a:r>
                      <a:endParaRPr lang="el-GR" sz="16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75" marR="1875" marT="1875" marB="0" anchor="b"/>
                </a:tc>
                <a:extLst>
                  <a:ext uri="{0D108BD9-81ED-4DB2-BD59-A6C34878D82A}">
                    <a16:rowId xmlns:a16="http://schemas.microsoft.com/office/drawing/2014/main" val="574091701"/>
                  </a:ext>
                </a:extLst>
              </a:tr>
              <a:tr h="85979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Nowak-Vila et al., 2016</a:t>
                      </a:r>
                      <a:endParaRPr lang="en-US" sz="16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75" marR="1875" marT="18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Εισαγωγή του ''</a:t>
                      </a:r>
                      <a:r>
                        <a:rPr lang="el-GR" sz="1600" u="none" strike="noStrike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Divide</a:t>
                      </a:r>
                      <a:r>
                        <a:rPr lang="el-GR" sz="16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l-GR" sz="1600" u="none" strike="noStrike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Conquer</a:t>
                      </a:r>
                      <a:r>
                        <a:rPr lang="el-GR" sz="16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l-GR" sz="1600" u="none" strike="noStrike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Network</a:t>
                      </a:r>
                      <a:r>
                        <a:rPr lang="el-GR" sz="16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'' που μπορεί να ανακαλύψει και να εκμεταλλευτεί την αναλλοίωτη κλίμακα σε διακριτές αλγοριθμικές εργασίες, και μπορεί να εκπαιδευτεί με ασθενή εποπτεία. </a:t>
                      </a:r>
                      <a:endParaRPr lang="el-GR" sz="16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75" marR="1875" marT="1875" marB="0" anchor="b"/>
                </a:tc>
                <a:extLst>
                  <a:ext uri="{0D108BD9-81ED-4DB2-BD59-A6C34878D82A}">
                    <a16:rowId xmlns:a16="http://schemas.microsoft.com/office/drawing/2014/main" val="223250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249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30"/>
          <p:cNvSpPr txBox="1">
            <a:spLocks noGrp="1"/>
          </p:cNvSpPr>
          <p:nvPr>
            <p:ph type="title"/>
          </p:nvPr>
        </p:nvSpPr>
        <p:spPr>
          <a:xfrm>
            <a:off x="806744" y="278648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Μέθοδοι</a:t>
            </a:r>
            <a:endParaRPr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5" name="Google Shape;985;p30"/>
          <p:cNvSpPr txBox="1">
            <a:spLocks noGrp="1"/>
          </p:cNvSpPr>
          <p:nvPr>
            <p:ph type="title" idx="2"/>
          </p:nvPr>
        </p:nvSpPr>
        <p:spPr>
          <a:xfrm flipH="1">
            <a:off x="1033980" y="906602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7" name="Google Shape;987;p30"/>
          <p:cNvSpPr txBox="1">
            <a:spLocks noGrp="1"/>
          </p:cNvSpPr>
          <p:nvPr>
            <p:ph type="subTitle" idx="3"/>
          </p:nvPr>
        </p:nvSpPr>
        <p:spPr>
          <a:xfrm>
            <a:off x="1033980" y="1527773"/>
            <a:ext cx="3615692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Δυναμικός προγραμματισμός </a:t>
            </a:r>
            <a:r>
              <a:rPr lang="en-US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endParaRPr sz="1800"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9" name="Google Shape;989;p30"/>
          <p:cNvSpPr txBox="1">
            <a:spLocks noGrp="1"/>
          </p:cNvSpPr>
          <p:nvPr>
            <p:ph type="subTitle" idx="5"/>
          </p:nvPr>
        </p:nvSpPr>
        <p:spPr>
          <a:xfrm>
            <a:off x="2320064" y="2990245"/>
            <a:ext cx="6101426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285750" lvl="0" indent="-285750"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Γενετικοί αλγόριθμοι (GA). </a:t>
            </a:r>
          </a:p>
          <a:p>
            <a:pPr marL="285750" lvl="0" indent="-285750"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Βελτιστοποίηση αποικίας μυρμηγκιών (CO).</a:t>
            </a:r>
          </a:p>
          <a:p>
            <a:pPr marL="285750" lvl="0" indent="-285750"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Προσομοιωμένη </a:t>
            </a:r>
            <a:r>
              <a:rPr lang="el-GR" sz="18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ανόπτηση</a:t>
            </a: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(SA).</a:t>
            </a:r>
          </a:p>
          <a:p>
            <a:pPr marL="285750" lvl="0" indent="-285750"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Άπληστη αναζήτηση (GS).</a:t>
            </a:r>
          </a:p>
          <a:p>
            <a:pPr marL="285750" lvl="0" indent="-285750"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Αναζήτηση </a:t>
            </a:r>
            <a:r>
              <a:rPr lang="el-GR" sz="18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tabu</a:t>
            </a: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(TS).</a:t>
            </a:r>
          </a:p>
          <a:p>
            <a:pPr marL="285750" lvl="0" indent="-285750"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Βελτιστοποίηση σμήνους σωματιδίων (PSO).</a:t>
            </a:r>
            <a:endParaRPr sz="1800"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91" name="Google Shape;991;p30"/>
          <p:cNvGrpSpPr/>
          <p:nvPr/>
        </p:nvGrpSpPr>
        <p:grpSpPr>
          <a:xfrm rot="10800000">
            <a:off x="7379194" y="-538557"/>
            <a:ext cx="1803578" cy="1592367"/>
            <a:chOff x="-4912150" y="-393637"/>
            <a:chExt cx="2057000" cy="1816112"/>
          </a:xfrm>
        </p:grpSpPr>
        <p:sp>
          <p:nvSpPr>
            <p:cNvPr id="992" name="Google Shape;992;p30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3" name="Google Shape;993;p30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4" name="Google Shape;994;p30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5" name="Google Shape;995;p30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6" name="Google Shape;996;p30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7" name="Google Shape;997;p30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8" name="Google Shape;998;p30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9" name="Google Shape;999;p30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0" name="Google Shape;1000;p30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1" name="Google Shape;1001;p30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2" name="Google Shape;1002;p30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3" name="Google Shape;1003;p30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4" name="Google Shape;1004;p30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5" name="Google Shape;1005;p30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6" name="Google Shape;1006;p30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7" name="Google Shape;1007;p30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8" name="Google Shape;1008;p30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9" name="Google Shape;1009;p30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0" name="Google Shape;1010;p30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11" name="Google Shape;1011;p30"/>
          <p:cNvSpPr txBox="1">
            <a:spLocks noGrp="1"/>
          </p:cNvSpPr>
          <p:nvPr>
            <p:ph type="title" idx="7"/>
          </p:nvPr>
        </p:nvSpPr>
        <p:spPr>
          <a:xfrm flipH="1">
            <a:off x="7123315" y="882893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3" name="Google Shape;1013;p30"/>
          <p:cNvSpPr txBox="1">
            <a:spLocks noGrp="1"/>
          </p:cNvSpPr>
          <p:nvPr>
            <p:ph type="subTitle" idx="9"/>
          </p:nvPr>
        </p:nvSpPr>
        <p:spPr>
          <a:xfrm>
            <a:off x="4989202" y="1501592"/>
            <a:ext cx="3140007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/>
            <a:r>
              <a:rPr lang="en-US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Branch and bound (B&amp;B</a:t>
            </a: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sz="1800"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17" name="Google Shape;1017;p30"/>
          <p:cNvGrpSpPr/>
          <p:nvPr/>
        </p:nvGrpSpPr>
        <p:grpSpPr>
          <a:xfrm>
            <a:off x="2868500" y="618262"/>
            <a:ext cx="3407100" cy="192184"/>
            <a:chOff x="1512197" y="1069304"/>
            <a:chExt cx="3407100" cy="192184"/>
          </a:xfrm>
        </p:grpSpPr>
        <p:grpSp>
          <p:nvGrpSpPr>
            <p:cNvPr id="1018" name="Google Shape;1018;p30"/>
            <p:cNvGrpSpPr/>
            <p:nvPr/>
          </p:nvGrpSpPr>
          <p:grpSpPr>
            <a:xfrm>
              <a:off x="1512197" y="1069304"/>
              <a:ext cx="3350100" cy="192184"/>
              <a:chOff x="2944697" y="1069304"/>
              <a:chExt cx="3350100" cy="192184"/>
            </a:xfrm>
          </p:grpSpPr>
          <p:sp>
            <p:nvSpPr>
              <p:cNvPr id="1019" name="Google Shape;1019;p30"/>
              <p:cNvSpPr/>
              <p:nvPr/>
            </p:nvSpPr>
            <p:spPr>
              <a:xfrm rot="-2700000" flipH="1">
                <a:off x="45080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020" name="Google Shape;1020;p30"/>
              <p:cNvCxnSpPr>
                <a:stCxn id="1021" idx="6"/>
                <a:endCxn id="1022" idx="2"/>
              </p:cNvCxnSpPr>
              <p:nvPr/>
            </p:nvCxnSpPr>
            <p:spPr>
              <a:xfrm rot="10800000">
                <a:off x="3001697" y="1164492"/>
                <a:ext cx="32931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22" name="Google Shape;1022;p30"/>
              <p:cNvSpPr/>
              <p:nvPr/>
            </p:nvSpPr>
            <p:spPr>
              <a:xfrm flipH="1">
                <a:off x="29446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021" name="Google Shape;1021;p30"/>
            <p:cNvSpPr/>
            <p:nvPr/>
          </p:nvSpPr>
          <p:spPr>
            <a:xfrm flipH="1">
              <a:off x="4862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23" name="Google Shape;1023;p30"/>
          <p:cNvGrpSpPr/>
          <p:nvPr/>
        </p:nvGrpSpPr>
        <p:grpSpPr>
          <a:xfrm>
            <a:off x="880770" y="1778931"/>
            <a:ext cx="7430247" cy="279267"/>
            <a:chOff x="1148150" y="2347308"/>
            <a:chExt cx="6847800" cy="192185"/>
          </a:xfrm>
        </p:grpSpPr>
        <p:cxnSp>
          <p:nvCxnSpPr>
            <p:cNvPr id="1024" name="Google Shape;1024;p30"/>
            <p:cNvCxnSpPr>
              <a:stCxn id="1025" idx="2"/>
              <a:endCxn id="1026" idx="6"/>
            </p:cNvCxnSpPr>
            <p:nvPr/>
          </p:nvCxnSpPr>
          <p:spPr>
            <a:xfrm>
              <a:off x="1205150" y="2443408"/>
              <a:ext cx="6733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25" name="Google Shape;1025;p30"/>
            <p:cNvSpPr/>
            <p:nvPr/>
          </p:nvSpPr>
          <p:spPr>
            <a:xfrm flipH="1">
              <a:off x="1148150" y="241490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6" name="Google Shape;1026;p30"/>
            <p:cNvSpPr/>
            <p:nvPr/>
          </p:nvSpPr>
          <p:spPr>
            <a:xfrm flipH="1">
              <a:off x="7938950" y="241490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7" name="Google Shape;1027;p30"/>
            <p:cNvSpPr/>
            <p:nvPr/>
          </p:nvSpPr>
          <p:spPr>
            <a:xfrm rot="-2700000" flipH="1">
              <a:off x="4062342" y="2375513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28" name="Google Shape;1028;p30"/>
          <p:cNvGrpSpPr/>
          <p:nvPr/>
        </p:nvGrpSpPr>
        <p:grpSpPr>
          <a:xfrm>
            <a:off x="1104177" y="4649970"/>
            <a:ext cx="6847800" cy="192185"/>
            <a:chOff x="1148150" y="2347308"/>
            <a:chExt cx="6847800" cy="192185"/>
          </a:xfrm>
        </p:grpSpPr>
        <p:cxnSp>
          <p:nvCxnSpPr>
            <p:cNvPr id="1029" name="Google Shape;1029;p30"/>
            <p:cNvCxnSpPr>
              <a:stCxn id="1030" idx="2"/>
              <a:endCxn id="1031" idx="6"/>
            </p:cNvCxnSpPr>
            <p:nvPr/>
          </p:nvCxnSpPr>
          <p:spPr>
            <a:xfrm>
              <a:off x="1205150" y="2443408"/>
              <a:ext cx="6733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30" name="Google Shape;1030;p30"/>
            <p:cNvSpPr/>
            <p:nvPr/>
          </p:nvSpPr>
          <p:spPr>
            <a:xfrm flipH="1">
              <a:off x="1148150" y="241490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1" name="Google Shape;1031;p30"/>
            <p:cNvSpPr/>
            <p:nvPr/>
          </p:nvSpPr>
          <p:spPr>
            <a:xfrm flipH="1">
              <a:off x="7938950" y="241490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2" name="Google Shape;1032;p30"/>
            <p:cNvSpPr/>
            <p:nvPr/>
          </p:nvSpPr>
          <p:spPr>
            <a:xfrm rot="-8100000">
              <a:off x="5353817" y="2375513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3" name="Google Shape;984;p30"/>
          <p:cNvSpPr txBox="1">
            <a:spLocks/>
          </p:cNvSpPr>
          <p:nvPr/>
        </p:nvSpPr>
        <p:spPr>
          <a:xfrm>
            <a:off x="782900" y="2260400"/>
            <a:ext cx="7578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l-GR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Μεταευρετικές</a:t>
            </a:r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μέθοδοι </a:t>
            </a:r>
          </a:p>
        </p:txBody>
      </p:sp>
      <p:grpSp>
        <p:nvGrpSpPr>
          <p:cNvPr id="59" name="Google Shape;1017;p30"/>
          <p:cNvGrpSpPr/>
          <p:nvPr/>
        </p:nvGrpSpPr>
        <p:grpSpPr>
          <a:xfrm>
            <a:off x="2432387" y="2634164"/>
            <a:ext cx="4327014" cy="300716"/>
            <a:chOff x="1512197" y="1069304"/>
            <a:chExt cx="3407100" cy="192184"/>
          </a:xfrm>
        </p:grpSpPr>
        <p:grpSp>
          <p:nvGrpSpPr>
            <p:cNvPr id="60" name="Google Shape;1018;p30"/>
            <p:cNvGrpSpPr/>
            <p:nvPr/>
          </p:nvGrpSpPr>
          <p:grpSpPr>
            <a:xfrm>
              <a:off x="1512197" y="1069304"/>
              <a:ext cx="3350100" cy="192184"/>
              <a:chOff x="2944697" y="1069304"/>
              <a:chExt cx="3350100" cy="192184"/>
            </a:xfrm>
          </p:grpSpPr>
          <p:sp>
            <p:nvSpPr>
              <p:cNvPr id="62" name="Google Shape;1019;p30"/>
              <p:cNvSpPr/>
              <p:nvPr/>
            </p:nvSpPr>
            <p:spPr>
              <a:xfrm rot="-2700000" flipH="1">
                <a:off x="45080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3" name="Google Shape;1020;p30"/>
              <p:cNvCxnSpPr>
                <a:stCxn id="61" idx="6"/>
                <a:endCxn id="64" idx="2"/>
              </p:cNvCxnSpPr>
              <p:nvPr/>
            </p:nvCxnSpPr>
            <p:spPr>
              <a:xfrm rot="10800000">
                <a:off x="3001697" y="1164492"/>
                <a:ext cx="32931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4" name="Google Shape;1022;p30"/>
              <p:cNvSpPr/>
              <p:nvPr/>
            </p:nvSpPr>
            <p:spPr>
              <a:xfrm flipH="1">
                <a:off x="29446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1" name="Google Shape;1021;p30"/>
            <p:cNvSpPr/>
            <p:nvPr/>
          </p:nvSpPr>
          <p:spPr>
            <a:xfrm flipH="1">
              <a:off x="4862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Ορθογώνιο 8"/>
          <p:cNvSpPr/>
          <p:nvPr/>
        </p:nvSpPr>
        <p:spPr>
          <a:xfrm>
            <a:off x="7267788" y="4361742"/>
            <a:ext cx="14366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Abid</a:t>
            </a:r>
            <a:r>
              <a:rPr lang="en-GB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et all</a:t>
            </a:r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., 2023</a:t>
            </a:r>
            <a:endParaRPr lang="el-GR" dirty="0">
              <a:solidFill>
                <a:schemeClr val="tx1">
                  <a:lumMod val="1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31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Εφαρμογές (1)</a:t>
            </a:r>
            <a:endParaRPr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1" name="Google Shape;1041;p31"/>
          <p:cNvSpPr txBox="1">
            <a:spLocks noGrp="1"/>
          </p:cNvSpPr>
          <p:nvPr>
            <p:ph type="subTitle" idx="2"/>
          </p:nvPr>
        </p:nvSpPr>
        <p:spPr>
          <a:xfrm>
            <a:off x="794786" y="2077503"/>
            <a:ext cx="23112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/>
            <a:r>
              <a:rPr lang="el-GR" b="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Παραγωγή -μεταφορά</a:t>
            </a:r>
            <a:endParaRPr b="0"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42" name="Google Shape;1042;p31"/>
          <p:cNvGrpSpPr/>
          <p:nvPr/>
        </p:nvGrpSpPr>
        <p:grpSpPr>
          <a:xfrm>
            <a:off x="1611150" y="1050283"/>
            <a:ext cx="5921700" cy="192184"/>
            <a:chOff x="902597" y="1069304"/>
            <a:chExt cx="5921700" cy="192184"/>
          </a:xfrm>
        </p:grpSpPr>
        <p:grpSp>
          <p:nvGrpSpPr>
            <p:cNvPr id="1043" name="Google Shape;1043;p31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1044" name="Google Shape;1044;p31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045" name="Google Shape;1045;p31"/>
              <p:cNvCxnSpPr>
                <a:stCxn id="1046" idx="6"/>
                <a:endCxn id="1047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47" name="Google Shape;1047;p31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046" name="Google Shape;1046;p31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49" name="Google Shape;1049;p31"/>
          <p:cNvGrpSpPr/>
          <p:nvPr/>
        </p:nvGrpSpPr>
        <p:grpSpPr>
          <a:xfrm>
            <a:off x="4392203" y="1539054"/>
            <a:ext cx="359594" cy="353909"/>
            <a:chOff x="4687894" y="2289713"/>
            <a:chExt cx="359594" cy="353909"/>
          </a:xfrm>
        </p:grpSpPr>
        <p:sp>
          <p:nvSpPr>
            <p:cNvPr id="1050" name="Google Shape;1050;p31"/>
            <p:cNvSpPr/>
            <p:nvPr/>
          </p:nvSpPr>
          <p:spPr>
            <a:xfrm>
              <a:off x="4955207" y="2477227"/>
              <a:ext cx="34041" cy="22356"/>
            </a:xfrm>
            <a:custGeom>
              <a:avLst/>
              <a:gdLst/>
              <a:ahLst/>
              <a:cxnLst/>
              <a:rect l="l" t="t" r="r" b="b"/>
              <a:pathLst>
                <a:path w="1072" h="704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465"/>
                    <a:pt x="238" y="703"/>
                    <a:pt x="536" y="703"/>
                  </a:cubicBezTo>
                  <a:cubicBezTo>
                    <a:pt x="834" y="703"/>
                    <a:pt x="1072" y="465"/>
                    <a:pt x="1072" y="168"/>
                  </a:cubicBezTo>
                  <a:cubicBezTo>
                    <a:pt x="1072" y="72"/>
                    <a:pt x="1000" y="1"/>
                    <a:pt x="905" y="1"/>
                  </a:cubicBezTo>
                  <a:cubicBezTo>
                    <a:pt x="822" y="1"/>
                    <a:pt x="750" y="72"/>
                    <a:pt x="750" y="168"/>
                  </a:cubicBezTo>
                  <a:cubicBezTo>
                    <a:pt x="750" y="287"/>
                    <a:pt x="655" y="370"/>
                    <a:pt x="536" y="370"/>
                  </a:cubicBezTo>
                  <a:cubicBezTo>
                    <a:pt x="417" y="370"/>
                    <a:pt x="334" y="287"/>
                    <a:pt x="334" y="168"/>
                  </a:cubicBezTo>
                  <a:cubicBezTo>
                    <a:pt x="334" y="72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51" name="Google Shape;1051;p31"/>
            <p:cNvSpPr/>
            <p:nvPr/>
          </p:nvSpPr>
          <p:spPr>
            <a:xfrm>
              <a:off x="4687894" y="2289713"/>
              <a:ext cx="359594" cy="353909"/>
            </a:xfrm>
            <a:custGeom>
              <a:avLst/>
              <a:gdLst/>
              <a:ahLst/>
              <a:cxnLst/>
              <a:rect l="l" t="t" r="r" b="b"/>
              <a:pathLst>
                <a:path w="11324" h="11145" extrusionOk="0">
                  <a:moveTo>
                    <a:pt x="9180" y="3036"/>
                  </a:moveTo>
                  <a:cubicBezTo>
                    <a:pt x="9204" y="3036"/>
                    <a:pt x="9228" y="3036"/>
                    <a:pt x="9240" y="3048"/>
                  </a:cubicBezTo>
                  <a:cubicBezTo>
                    <a:pt x="9299" y="3108"/>
                    <a:pt x="9371" y="3417"/>
                    <a:pt x="9299" y="3977"/>
                  </a:cubicBezTo>
                  <a:cubicBezTo>
                    <a:pt x="9240" y="4513"/>
                    <a:pt x="9061" y="4989"/>
                    <a:pt x="8895" y="5072"/>
                  </a:cubicBezTo>
                  <a:cubicBezTo>
                    <a:pt x="8813" y="5119"/>
                    <a:pt x="8682" y="5149"/>
                    <a:pt x="8533" y="5149"/>
                  </a:cubicBezTo>
                  <a:cubicBezTo>
                    <a:pt x="8336" y="5149"/>
                    <a:pt x="8108" y="5096"/>
                    <a:pt x="7918" y="4953"/>
                  </a:cubicBezTo>
                  <a:cubicBezTo>
                    <a:pt x="7573" y="4703"/>
                    <a:pt x="7466" y="4263"/>
                    <a:pt x="7585" y="3667"/>
                  </a:cubicBezTo>
                  <a:cubicBezTo>
                    <a:pt x="7597" y="3608"/>
                    <a:pt x="7644" y="3572"/>
                    <a:pt x="7704" y="3537"/>
                  </a:cubicBezTo>
                  <a:cubicBezTo>
                    <a:pt x="8526" y="3167"/>
                    <a:pt x="9002" y="3036"/>
                    <a:pt x="9180" y="3036"/>
                  </a:cubicBezTo>
                  <a:close/>
                  <a:moveTo>
                    <a:pt x="620" y="5608"/>
                  </a:moveTo>
                  <a:cubicBezTo>
                    <a:pt x="691" y="5620"/>
                    <a:pt x="798" y="5703"/>
                    <a:pt x="858" y="5846"/>
                  </a:cubicBezTo>
                  <a:cubicBezTo>
                    <a:pt x="870" y="5882"/>
                    <a:pt x="894" y="5942"/>
                    <a:pt x="894" y="6001"/>
                  </a:cubicBezTo>
                  <a:cubicBezTo>
                    <a:pt x="667" y="5953"/>
                    <a:pt x="501" y="5882"/>
                    <a:pt x="453" y="5799"/>
                  </a:cubicBezTo>
                  <a:cubicBezTo>
                    <a:pt x="441" y="5775"/>
                    <a:pt x="489" y="5703"/>
                    <a:pt x="501" y="5668"/>
                  </a:cubicBezTo>
                  <a:cubicBezTo>
                    <a:pt x="548" y="5608"/>
                    <a:pt x="572" y="5608"/>
                    <a:pt x="608" y="5608"/>
                  </a:cubicBezTo>
                  <a:close/>
                  <a:moveTo>
                    <a:pt x="5073" y="0"/>
                  </a:moveTo>
                  <a:cubicBezTo>
                    <a:pt x="4477" y="0"/>
                    <a:pt x="3906" y="238"/>
                    <a:pt x="3477" y="655"/>
                  </a:cubicBezTo>
                  <a:cubicBezTo>
                    <a:pt x="3049" y="1084"/>
                    <a:pt x="2822" y="1632"/>
                    <a:pt x="2822" y="2239"/>
                  </a:cubicBezTo>
                  <a:cubicBezTo>
                    <a:pt x="2822" y="2834"/>
                    <a:pt x="3061" y="3406"/>
                    <a:pt x="3477" y="3834"/>
                  </a:cubicBezTo>
                  <a:cubicBezTo>
                    <a:pt x="3596" y="3953"/>
                    <a:pt x="3727" y="4060"/>
                    <a:pt x="3882" y="4144"/>
                  </a:cubicBezTo>
                  <a:cubicBezTo>
                    <a:pt x="3775" y="4179"/>
                    <a:pt x="3668" y="4203"/>
                    <a:pt x="3584" y="4239"/>
                  </a:cubicBezTo>
                  <a:cubicBezTo>
                    <a:pt x="3489" y="4263"/>
                    <a:pt x="3453" y="4358"/>
                    <a:pt x="3477" y="4441"/>
                  </a:cubicBezTo>
                  <a:cubicBezTo>
                    <a:pt x="3505" y="4515"/>
                    <a:pt x="3561" y="4560"/>
                    <a:pt x="3629" y="4560"/>
                  </a:cubicBezTo>
                  <a:cubicBezTo>
                    <a:pt x="3649" y="4560"/>
                    <a:pt x="3670" y="4557"/>
                    <a:pt x="3692" y="4549"/>
                  </a:cubicBezTo>
                  <a:cubicBezTo>
                    <a:pt x="4138" y="4400"/>
                    <a:pt x="4608" y="4325"/>
                    <a:pt x="5079" y="4325"/>
                  </a:cubicBezTo>
                  <a:cubicBezTo>
                    <a:pt x="5549" y="4325"/>
                    <a:pt x="6019" y="4400"/>
                    <a:pt x="6466" y="4549"/>
                  </a:cubicBezTo>
                  <a:cubicBezTo>
                    <a:pt x="6490" y="4549"/>
                    <a:pt x="6501" y="4560"/>
                    <a:pt x="6525" y="4560"/>
                  </a:cubicBezTo>
                  <a:cubicBezTo>
                    <a:pt x="6609" y="4560"/>
                    <a:pt x="6668" y="4525"/>
                    <a:pt x="6680" y="4441"/>
                  </a:cubicBezTo>
                  <a:cubicBezTo>
                    <a:pt x="6704" y="4358"/>
                    <a:pt x="6668" y="4263"/>
                    <a:pt x="6573" y="4239"/>
                  </a:cubicBezTo>
                  <a:cubicBezTo>
                    <a:pt x="6466" y="4203"/>
                    <a:pt x="6370" y="4179"/>
                    <a:pt x="6275" y="4144"/>
                  </a:cubicBezTo>
                  <a:cubicBezTo>
                    <a:pt x="6406" y="4060"/>
                    <a:pt x="6549" y="3953"/>
                    <a:pt x="6680" y="3834"/>
                  </a:cubicBezTo>
                  <a:cubicBezTo>
                    <a:pt x="6787" y="3727"/>
                    <a:pt x="6882" y="3608"/>
                    <a:pt x="6966" y="3477"/>
                  </a:cubicBezTo>
                  <a:cubicBezTo>
                    <a:pt x="7002" y="3489"/>
                    <a:pt x="7049" y="3489"/>
                    <a:pt x="7097" y="3513"/>
                  </a:cubicBezTo>
                  <a:lnTo>
                    <a:pt x="7275" y="3548"/>
                  </a:lnTo>
                  <a:lnTo>
                    <a:pt x="7275" y="3572"/>
                  </a:lnTo>
                  <a:cubicBezTo>
                    <a:pt x="7204" y="3953"/>
                    <a:pt x="7204" y="4287"/>
                    <a:pt x="7287" y="4560"/>
                  </a:cubicBezTo>
                  <a:cubicBezTo>
                    <a:pt x="7359" y="4822"/>
                    <a:pt x="7513" y="5025"/>
                    <a:pt x="7716" y="5180"/>
                  </a:cubicBezTo>
                  <a:cubicBezTo>
                    <a:pt x="7954" y="5358"/>
                    <a:pt x="8252" y="5430"/>
                    <a:pt x="8526" y="5430"/>
                  </a:cubicBezTo>
                  <a:cubicBezTo>
                    <a:pt x="8728" y="5430"/>
                    <a:pt x="8907" y="5382"/>
                    <a:pt x="9049" y="5311"/>
                  </a:cubicBezTo>
                  <a:cubicBezTo>
                    <a:pt x="9192" y="5215"/>
                    <a:pt x="9323" y="5037"/>
                    <a:pt x="9430" y="4763"/>
                  </a:cubicBezTo>
                  <a:cubicBezTo>
                    <a:pt x="9478" y="4822"/>
                    <a:pt x="9526" y="4882"/>
                    <a:pt x="9561" y="4930"/>
                  </a:cubicBezTo>
                  <a:cubicBezTo>
                    <a:pt x="9740" y="5168"/>
                    <a:pt x="9859" y="5418"/>
                    <a:pt x="9954" y="5692"/>
                  </a:cubicBezTo>
                  <a:cubicBezTo>
                    <a:pt x="10002" y="5858"/>
                    <a:pt x="10133" y="5977"/>
                    <a:pt x="10300" y="6037"/>
                  </a:cubicBezTo>
                  <a:lnTo>
                    <a:pt x="10752" y="6192"/>
                  </a:lnTo>
                  <a:cubicBezTo>
                    <a:pt x="10871" y="6239"/>
                    <a:pt x="10966" y="6334"/>
                    <a:pt x="10966" y="6465"/>
                  </a:cubicBezTo>
                  <a:lnTo>
                    <a:pt x="10966" y="7239"/>
                  </a:lnTo>
                  <a:cubicBezTo>
                    <a:pt x="10966" y="7382"/>
                    <a:pt x="10895" y="7477"/>
                    <a:pt x="10752" y="7525"/>
                  </a:cubicBezTo>
                  <a:lnTo>
                    <a:pt x="10014" y="7763"/>
                  </a:lnTo>
                  <a:cubicBezTo>
                    <a:pt x="9895" y="7811"/>
                    <a:pt x="9788" y="7882"/>
                    <a:pt x="9728" y="8001"/>
                  </a:cubicBezTo>
                  <a:cubicBezTo>
                    <a:pt x="9430" y="8513"/>
                    <a:pt x="8966" y="8930"/>
                    <a:pt x="8359" y="9252"/>
                  </a:cubicBezTo>
                  <a:cubicBezTo>
                    <a:pt x="8287" y="9287"/>
                    <a:pt x="8240" y="9359"/>
                    <a:pt x="8228" y="9430"/>
                  </a:cubicBezTo>
                  <a:lnTo>
                    <a:pt x="7990" y="10692"/>
                  </a:lnTo>
                  <a:cubicBezTo>
                    <a:pt x="7990" y="10728"/>
                    <a:pt x="7954" y="10752"/>
                    <a:pt x="7918" y="10752"/>
                  </a:cubicBezTo>
                  <a:lnTo>
                    <a:pt x="7144" y="10752"/>
                  </a:lnTo>
                  <a:cubicBezTo>
                    <a:pt x="7109" y="10752"/>
                    <a:pt x="7085" y="10728"/>
                    <a:pt x="7061" y="10692"/>
                  </a:cubicBezTo>
                  <a:lnTo>
                    <a:pt x="6930" y="10002"/>
                  </a:lnTo>
                  <a:cubicBezTo>
                    <a:pt x="6897" y="9868"/>
                    <a:pt x="6800" y="9786"/>
                    <a:pt x="6661" y="9786"/>
                  </a:cubicBezTo>
                  <a:cubicBezTo>
                    <a:pt x="6652" y="9786"/>
                    <a:pt x="6642" y="9787"/>
                    <a:pt x="6632" y="9787"/>
                  </a:cubicBezTo>
                  <a:cubicBezTo>
                    <a:pt x="6299" y="9835"/>
                    <a:pt x="5954" y="9859"/>
                    <a:pt x="5608" y="9859"/>
                  </a:cubicBezTo>
                  <a:cubicBezTo>
                    <a:pt x="5358" y="9859"/>
                    <a:pt x="5097" y="9847"/>
                    <a:pt x="4846" y="9823"/>
                  </a:cubicBezTo>
                  <a:cubicBezTo>
                    <a:pt x="4833" y="9821"/>
                    <a:pt x="4819" y="9819"/>
                    <a:pt x="4806" y="9819"/>
                  </a:cubicBezTo>
                  <a:cubicBezTo>
                    <a:pt x="4692" y="9819"/>
                    <a:pt x="4593" y="9908"/>
                    <a:pt x="4561" y="10025"/>
                  </a:cubicBezTo>
                  <a:lnTo>
                    <a:pt x="4442" y="10692"/>
                  </a:lnTo>
                  <a:cubicBezTo>
                    <a:pt x="4442" y="10728"/>
                    <a:pt x="4418" y="10752"/>
                    <a:pt x="4370" y="10752"/>
                  </a:cubicBezTo>
                  <a:lnTo>
                    <a:pt x="3596" y="10752"/>
                  </a:lnTo>
                  <a:cubicBezTo>
                    <a:pt x="3573" y="10752"/>
                    <a:pt x="3537" y="10728"/>
                    <a:pt x="3525" y="10692"/>
                  </a:cubicBezTo>
                  <a:lnTo>
                    <a:pt x="3299" y="9502"/>
                  </a:lnTo>
                  <a:cubicBezTo>
                    <a:pt x="3287" y="9430"/>
                    <a:pt x="3239" y="9359"/>
                    <a:pt x="3168" y="9323"/>
                  </a:cubicBezTo>
                  <a:cubicBezTo>
                    <a:pt x="2108" y="8763"/>
                    <a:pt x="1560" y="7823"/>
                    <a:pt x="1560" y="6620"/>
                  </a:cubicBezTo>
                  <a:cubicBezTo>
                    <a:pt x="1560" y="6013"/>
                    <a:pt x="1691" y="5477"/>
                    <a:pt x="1965" y="5013"/>
                  </a:cubicBezTo>
                  <a:cubicBezTo>
                    <a:pt x="2215" y="4584"/>
                    <a:pt x="2572" y="4239"/>
                    <a:pt x="3037" y="3965"/>
                  </a:cubicBezTo>
                  <a:cubicBezTo>
                    <a:pt x="3108" y="3929"/>
                    <a:pt x="3132" y="3822"/>
                    <a:pt x="3096" y="3751"/>
                  </a:cubicBezTo>
                  <a:cubicBezTo>
                    <a:pt x="3065" y="3696"/>
                    <a:pt x="3008" y="3667"/>
                    <a:pt x="2952" y="3667"/>
                  </a:cubicBezTo>
                  <a:cubicBezTo>
                    <a:pt x="2923" y="3667"/>
                    <a:pt x="2895" y="3675"/>
                    <a:pt x="2870" y="3691"/>
                  </a:cubicBezTo>
                  <a:cubicBezTo>
                    <a:pt x="1977" y="4203"/>
                    <a:pt x="1429" y="5013"/>
                    <a:pt x="1275" y="6025"/>
                  </a:cubicBezTo>
                  <a:lnTo>
                    <a:pt x="1227" y="6025"/>
                  </a:lnTo>
                  <a:cubicBezTo>
                    <a:pt x="1227" y="5918"/>
                    <a:pt x="1215" y="5799"/>
                    <a:pt x="1167" y="5692"/>
                  </a:cubicBezTo>
                  <a:cubicBezTo>
                    <a:pt x="1084" y="5453"/>
                    <a:pt x="870" y="5299"/>
                    <a:pt x="667" y="5263"/>
                  </a:cubicBezTo>
                  <a:cubicBezTo>
                    <a:pt x="654" y="5262"/>
                    <a:pt x="640" y="5261"/>
                    <a:pt x="626" y="5261"/>
                  </a:cubicBezTo>
                  <a:cubicBezTo>
                    <a:pt x="474" y="5261"/>
                    <a:pt x="326" y="5323"/>
                    <a:pt x="239" y="5465"/>
                  </a:cubicBezTo>
                  <a:cubicBezTo>
                    <a:pt x="72" y="5668"/>
                    <a:pt x="96" y="5834"/>
                    <a:pt x="144" y="5942"/>
                  </a:cubicBezTo>
                  <a:cubicBezTo>
                    <a:pt x="239" y="6096"/>
                    <a:pt x="441" y="6239"/>
                    <a:pt x="798" y="6311"/>
                  </a:cubicBezTo>
                  <a:cubicBezTo>
                    <a:pt x="786" y="6323"/>
                    <a:pt x="786" y="6334"/>
                    <a:pt x="775" y="6358"/>
                  </a:cubicBezTo>
                  <a:cubicBezTo>
                    <a:pt x="560" y="6620"/>
                    <a:pt x="310" y="6680"/>
                    <a:pt x="155" y="6680"/>
                  </a:cubicBezTo>
                  <a:cubicBezTo>
                    <a:pt x="72" y="6680"/>
                    <a:pt x="1" y="6751"/>
                    <a:pt x="1" y="6858"/>
                  </a:cubicBezTo>
                  <a:cubicBezTo>
                    <a:pt x="1" y="6954"/>
                    <a:pt x="72" y="7025"/>
                    <a:pt x="155" y="7037"/>
                  </a:cubicBezTo>
                  <a:lnTo>
                    <a:pt x="191" y="7037"/>
                  </a:lnTo>
                  <a:cubicBezTo>
                    <a:pt x="394" y="7037"/>
                    <a:pt x="715" y="6966"/>
                    <a:pt x="1025" y="6573"/>
                  </a:cubicBezTo>
                  <a:cubicBezTo>
                    <a:pt x="1072" y="6513"/>
                    <a:pt x="1108" y="6442"/>
                    <a:pt x="1144" y="6382"/>
                  </a:cubicBezTo>
                  <a:cubicBezTo>
                    <a:pt x="1167" y="6382"/>
                    <a:pt x="1203" y="6382"/>
                    <a:pt x="1227" y="6394"/>
                  </a:cubicBezTo>
                  <a:cubicBezTo>
                    <a:pt x="1227" y="6489"/>
                    <a:pt x="1215" y="6573"/>
                    <a:pt x="1215" y="6668"/>
                  </a:cubicBezTo>
                  <a:cubicBezTo>
                    <a:pt x="1215" y="7347"/>
                    <a:pt x="1382" y="7954"/>
                    <a:pt x="1703" y="8478"/>
                  </a:cubicBezTo>
                  <a:cubicBezTo>
                    <a:pt x="2001" y="8954"/>
                    <a:pt x="2441" y="9359"/>
                    <a:pt x="2977" y="9644"/>
                  </a:cubicBezTo>
                  <a:lnTo>
                    <a:pt x="3192" y="10799"/>
                  </a:lnTo>
                  <a:cubicBezTo>
                    <a:pt x="3227" y="11002"/>
                    <a:pt x="3406" y="11133"/>
                    <a:pt x="3596" y="11133"/>
                  </a:cubicBezTo>
                  <a:lnTo>
                    <a:pt x="4370" y="11133"/>
                  </a:lnTo>
                  <a:cubicBezTo>
                    <a:pt x="4561" y="11133"/>
                    <a:pt x="4727" y="11002"/>
                    <a:pt x="4775" y="10799"/>
                  </a:cubicBezTo>
                  <a:lnTo>
                    <a:pt x="4894" y="10204"/>
                  </a:lnTo>
                  <a:cubicBezTo>
                    <a:pt x="5132" y="10240"/>
                    <a:pt x="5370" y="10252"/>
                    <a:pt x="5620" y="10252"/>
                  </a:cubicBezTo>
                  <a:cubicBezTo>
                    <a:pt x="5966" y="10252"/>
                    <a:pt x="6311" y="10228"/>
                    <a:pt x="6632" y="10180"/>
                  </a:cubicBezTo>
                  <a:lnTo>
                    <a:pt x="6751" y="10823"/>
                  </a:lnTo>
                  <a:cubicBezTo>
                    <a:pt x="6787" y="11014"/>
                    <a:pt x="6966" y="11145"/>
                    <a:pt x="7156" y="11145"/>
                  </a:cubicBezTo>
                  <a:lnTo>
                    <a:pt x="7930" y="11145"/>
                  </a:lnTo>
                  <a:cubicBezTo>
                    <a:pt x="8121" y="11145"/>
                    <a:pt x="8287" y="11014"/>
                    <a:pt x="8335" y="10823"/>
                  </a:cubicBezTo>
                  <a:lnTo>
                    <a:pt x="8573" y="9585"/>
                  </a:lnTo>
                  <a:cubicBezTo>
                    <a:pt x="9228" y="9240"/>
                    <a:pt x="9716" y="8775"/>
                    <a:pt x="10038" y="8228"/>
                  </a:cubicBezTo>
                  <a:cubicBezTo>
                    <a:pt x="10073" y="8180"/>
                    <a:pt x="10097" y="8156"/>
                    <a:pt x="10145" y="8132"/>
                  </a:cubicBezTo>
                  <a:lnTo>
                    <a:pt x="10895" y="7894"/>
                  </a:lnTo>
                  <a:cubicBezTo>
                    <a:pt x="11145" y="7811"/>
                    <a:pt x="11323" y="7573"/>
                    <a:pt x="11323" y="7299"/>
                  </a:cubicBezTo>
                  <a:lnTo>
                    <a:pt x="11323" y="6525"/>
                  </a:lnTo>
                  <a:cubicBezTo>
                    <a:pt x="11312" y="6251"/>
                    <a:pt x="11133" y="6013"/>
                    <a:pt x="10871" y="5918"/>
                  </a:cubicBezTo>
                  <a:lnTo>
                    <a:pt x="10419" y="5775"/>
                  </a:lnTo>
                  <a:cubicBezTo>
                    <a:pt x="10359" y="5763"/>
                    <a:pt x="10311" y="5715"/>
                    <a:pt x="10300" y="5644"/>
                  </a:cubicBezTo>
                  <a:cubicBezTo>
                    <a:pt x="10192" y="5322"/>
                    <a:pt x="10061" y="5049"/>
                    <a:pt x="9859" y="4775"/>
                  </a:cubicBezTo>
                  <a:cubicBezTo>
                    <a:pt x="9776" y="4656"/>
                    <a:pt x="9680" y="4537"/>
                    <a:pt x="9561" y="4429"/>
                  </a:cubicBezTo>
                  <a:cubicBezTo>
                    <a:pt x="9645" y="4132"/>
                    <a:pt x="9669" y="3798"/>
                    <a:pt x="9669" y="3501"/>
                  </a:cubicBezTo>
                  <a:cubicBezTo>
                    <a:pt x="9669" y="3084"/>
                    <a:pt x="9585" y="2822"/>
                    <a:pt x="9418" y="2739"/>
                  </a:cubicBezTo>
                  <a:cubicBezTo>
                    <a:pt x="9384" y="2722"/>
                    <a:pt x="9329" y="2693"/>
                    <a:pt x="9204" y="2693"/>
                  </a:cubicBezTo>
                  <a:cubicBezTo>
                    <a:pt x="8980" y="2693"/>
                    <a:pt x="8533" y="2787"/>
                    <a:pt x="7585" y="3215"/>
                  </a:cubicBezTo>
                  <a:cubicBezTo>
                    <a:pt x="7561" y="3227"/>
                    <a:pt x="7513" y="3239"/>
                    <a:pt x="7478" y="3275"/>
                  </a:cubicBezTo>
                  <a:cubicBezTo>
                    <a:pt x="7383" y="3239"/>
                    <a:pt x="7287" y="3227"/>
                    <a:pt x="7180" y="3191"/>
                  </a:cubicBezTo>
                  <a:cubicBezTo>
                    <a:pt x="7168" y="3191"/>
                    <a:pt x="7156" y="3191"/>
                    <a:pt x="7144" y="3179"/>
                  </a:cubicBezTo>
                  <a:cubicBezTo>
                    <a:pt x="7263" y="2929"/>
                    <a:pt x="7335" y="2644"/>
                    <a:pt x="7347" y="2346"/>
                  </a:cubicBezTo>
                  <a:cubicBezTo>
                    <a:pt x="7347" y="2263"/>
                    <a:pt x="7287" y="2179"/>
                    <a:pt x="7180" y="2167"/>
                  </a:cubicBezTo>
                  <a:cubicBezTo>
                    <a:pt x="7097" y="2167"/>
                    <a:pt x="7025" y="2227"/>
                    <a:pt x="7002" y="2334"/>
                  </a:cubicBezTo>
                  <a:cubicBezTo>
                    <a:pt x="6990" y="2810"/>
                    <a:pt x="6787" y="3251"/>
                    <a:pt x="6442" y="3596"/>
                  </a:cubicBezTo>
                  <a:cubicBezTo>
                    <a:pt x="6228" y="3810"/>
                    <a:pt x="5989" y="3953"/>
                    <a:pt x="5739" y="4048"/>
                  </a:cubicBezTo>
                  <a:cubicBezTo>
                    <a:pt x="5525" y="4019"/>
                    <a:pt x="5302" y="4004"/>
                    <a:pt x="5079" y="4004"/>
                  </a:cubicBezTo>
                  <a:cubicBezTo>
                    <a:pt x="4855" y="4004"/>
                    <a:pt x="4632" y="4019"/>
                    <a:pt x="4418" y="4048"/>
                  </a:cubicBezTo>
                  <a:cubicBezTo>
                    <a:pt x="4168" y="3953"/>
                    <a:pt x="3930" y="3810"/>
                    <a:pt x="3715" y="3596"/>
                  </a:cubicBezTo>
                  <a:cubicBezTo>
                    <a:pt x="3358" y="3239"/>
                    <a:pt x="3156" y="2751"/>
                    <a:pt x="3156" y="2239"/>
                  </a:cubicBezTo>
                  <a:cubicBezTo>
                    <a:pt x="3156" y="1739"/>
                    <a:pt x="3346" y="1251"/>
                    <a:pt x="3715" y="893"/>
                  </a:cubicBezTo>
                  <a:cubicBezTo>
                    <a:pt x="4073" y="536"/>
                    <a:pt x="4561" y="322"/>
                    <a:pt x="5073" y="322"/>
                  </a:cubicBezTo>
                  <a:cubicBezTo>
                    <a:pt x="5573" y="322"/>
                    <a:pt x="6073" y="512"/>
                    <a:pt x="6430" y="893"/>
                  </a:cubicBezTo>
                  <a:cubicBezTo>
                    <a:pt x="6573" y="1036"/>
                    <a:pt x="6692" y="1203"/>
                    <a:pt x="6787" y="1381"/>
                  </a:cubicBezTo>
                  <a:cubicBezTo>
                    <a:pt x="6813" y="1433"/>
                    <a:pt x="6870" y="1472"/>
                    <a:pt x="6930" y="1472"/>
                  </a:cubicBezTo>
                  <a:cubicBezTo>
                    <a:pt x="6954" y="1472"/>
                    <a:pt x="6978" y="1466"/>
                    <a:pt x="7002" y="1453"/>
                  </a:cubicBezTo>
                  <a:cubicBezTo>
                    <a:pt x="7085" y="1405"/>
                    <a:pt x="7121" y="1322"/>
                    <a:pt x="7085" y="1227"/>
                  </a:cubicBezTo>
                  <a:cubicBezTo>
                    <a:pt x="6978" y="1024"/>
                    <a:pt x="6823" y="834"/>
                    <a:pt x="6668" y="655"/>
                  </a:cubicBezTo>
                  <a:cubicBezTo>
                    <a:pt x="6228" y="215"/>
                    <a:pt x="5680" y="0"/>
                    <a:pt x="50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52" name="Google Shape;1052;p31"/>
            <p:cNvSpPr/>
            <p:nvPr/>
          </p:nvSpPr>
          <p:spPr>
            <a:xfrm>
              <a:off x="4829299" y="2324485"/>
              <a:ext cx="42393" cy="75291"/>
            </a:xfrm>
            <a:custGeom>
              <a:avLst/>
              <a:gdLst/>
              <a:ahLst/>
              <a:cxnLst/>
              <a:rect l="l" t="t" r="r" b="b"/>
              <a:pathLst>
                <a:path w="1335" h="2371" extrusionOk="0">
                  <a:moveTo>
                    <a:pt x="644" y="417"/>
                  </a:moveTo>
                  <a:lnTo>
                    <a:pt x="644" y="941"/>
                  </a:lnTo>
                  <a:cubicBezTo>
                    <a:pt x="501" y="882"/>
                    <a:pt x="370" y="822"/>
                    <a:pt x="370" y="656"/>
                  </a:cubicBezTo>
                  <a:cubicBezTo>
                    <a:pt x="370" y="513"/>
                    <a:pt x="489" y="441"/>
                    <a:pt x="644" y="417"/>
                  </a:cubicBezTo>
                  <a:close/>
                  <a:moveTo>
                    <a:pt x="786" y="1322"/>
                  </a:moveTo>
                  <a:cubicBezTo>
                    <a:pt x="929" y="1382"/>
                    <a:pt x="1036" y="1477"/>
                    <a:pt x="1036" y="1656"/>
                  </a:cubicBezTo>
                  <a:cubicBezTo>
                    <a:pt x="1036" y="1810"/>
                    <a:pt x="929" y="1906"/>
                    <a:pt x="786" y="1941"/>
                  </a:cubicBezTo>
                  <a:lnTo>
                    <a:pt x="786" y="1322"/>
                  </a:lnTo>
                  <a:close/>
                  <a:moveTo>
                    <a:pt x="703" y="1"/>
                  </a:moveTo>
                  <a:cubicBezTo>
                    <a:pt x="655" y="1"/>
                    <a:pt x="620" y="36"/>
                    <a:pt x="620" y="60"/>
                  </a:cubicBezTo>
                  <a:lnTo>
                    <a:pt x="620" y="156"/>
                  </a:lnTo>
                  <a:cubicBezTo>
                    <a:pt x="334" y="179"/>
                    <a:pt x="60" y="334"/>
                    <a:pt x="60" y="691"/>
                  </a:cubicBezTo>
                  <a:cubicBezTo>
                    <a:pt x="60" y="1060"/>
                    <a:pt x="346" y="1168"/>
                    <a:pt x="620" y="1251"/>
                  </a:cubicBezTo>
                  <a:lnTo>
                    <a:pt x="620" y="1941"/>
                  </a:lnTo>
                  <a:cubicBezTo>
                    <a:pt x="322" y="1906"/>
                    <a:pt x="239" y="1715"/>
                    <a:pt x="143" y="1715"/>
                  </a:cubicBezTo>
                  <a:cubicBezTo>
                    <a:pt x="60" y="1715"/>
                    <a:pt x="1" y="1810"/>
                    <a:pt x="1" y="1882"/>
                  </a:cubicBezTo>
                  <a:cubicBezTo>
                    <a:pt x="1" y="2025"/>
                    <a:pt x="239" y="2227"/>
                    <a:pt x="620" y="2227"/>
                  </a:cubicBezTo>
                  <a:lnTo>
                    <a:pt x="620" y="2311"/>
                  </a:lnTo>
                  <a:cubicBezTo>
                    <a:pt x="620" y="2346"/>
                    <a:pt x="644" y="2370"/>
                    <a:pt x="703" y="2370"/>
                  </a:cubicBezTo>
                  <a:cubicBezTo>
                    <a:pt x="751" y="2370"/>
                    <a:pt x="798" y="2346"/>
                    <a:pt x="798" y="2311"/>
                  </a:cubicBezTo>
                  <a:lnTo>
                    <a:pt x="798" y="2203"/>
                  </a:lnTo>
                  <a:cubicBezTo>
                    <a:pt x="1108" y="2168"/>
                    <a:pt x="1310" y="1965"/>
                    <a:pt x="1310" y="1608"/>
                  </a:cubicBezTo>
                  <a:cubicBezTo>
                    <a:pt x="1334" y="1227"/>
                    <a:pt x="1048" y="1096"/>
                    <a:pt x="798" y="1001"/>
                  </a:cubicBezTo>
                  <a:lnTo>
                    <a:pt x="798" y="406"/>
                  </a:lnTo>
                  <a:cubicBezTo>
                    <a:pt x="1001" y="417"/>
                    <a:pt x="1084" y="513"/>
                    <a:pt x="1144" y="513"/>
                  </a:cubicBezTo>
                  <a:cubicBezTo>
                    <a:pt x="1227" y="513"/>
                    <a:pt x="1275" y="406"/>
                    <a:pt x="1275" y="346"/>
                  </a:cubicBezTo>
                  <a:cubicBezTo>
                    <a:pt x="1275" y="203"/>
                    <a:pt x="989" y="144"/>
                    <a:pt x="798" y="144"/>
                  </a:cubicBezTo>
                  <a:lnTo>
                    <a:pt x="798" y="60"/>
                  </a:lnTo>
                  <a:cubicBezTo>
                    <a:pt x="798" y="36"/>
                    <a:pt x="751" y="1"/>
                    <a:pt x="7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55" name="Google Shape;1055;p31"/>
          <p:cNvSpPr txBox="1">
            <a:spLocks noGrp="1"/>
          </p:cNvSpPr>
          <p:nvPr>
            <p:ph type="subTitle" idx="4"/>
          </p:nvPr>
        </p:nvSpPr>
        <p:spPr>
          <a:xfrm>
            <a:off x="3416400" y="2077503"/>
            <a:ext cx="23112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/>
            <a:r>
              <a:rPr lang="el-GR" b="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Χρηματοδότηση - επενδύσεις</a:t>
            </a:r>
            <a:endParaRPr b="0"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56" name="Google Shape;1056;p31"/>
          <p:cNvGrpSpPr/>
          <p:nvPr/>
        </p:nvGrpSpPr>
        <p:grpSpPr>
          <a:xfrm>
            <a:off x="6541944" y="4287300"/>
            <a:ext cx="713803" cy="706547"/>
            <a:chOff x="-4017975" y="616650"/>
            <a:chExt cx="814100" cy="805825"/>
          </a:xfrm>
        </p:grpSpPr>
        <p:sp>
          <p:nvSpPr>
            <p:cNvPr id="1057" name="Google Shape;1057;p31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58" name="Google Shape;1058;p31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59" name="Google Shape;1059;p31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0" name="Google Shape;1060;p31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61" name="Google Shape;1061;p31"/>
          <p:cNvGrpSpPr/>
          <p:nvPr/>
        </p:nvGrpSpPr>
        <p:grpSpPr>
          <a:xfrm>
            <a:off x="7462488" y="3721438"/>
            <a:ext cx="1040638" cy="901375"/>
            <a:chOff x="8457538" y="810363"/>
            <a:chExt cx="1040638" cy="901375"/>
          </a:xfrm>
        </p:grpSpPr>
        <p:grpSp>
          <p:nvGrpSpPr>
            <p:cNvPr id="1062" name="Google Shape;1062;p31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1063" name="Google Shape;1063;p31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64" name="Google Shape;1064;p31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065" name="Google Shape;1065;p31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1066" name="Google Shape;1066;p31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67" name="Google Shape;1067;p31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68" name="Google Shape;1068;p31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5" name="Υπότιτλος 4"/>
          <p:cNvSpPr>
            <a:spLocks noGrp="1"/>
          </p:cNvSpPr>
          <p:nvPr>
            <p:ph type="subTitle" idx="6"/>
          </p:nvPr>
        </p:nvSpPr>
        <p:spPr>
          <a:xfrm>
            <a:off x="6098277" y="2083910"/>
            <a:ext cx="2311200" cy="338400"/>
          </a:xfrm>
        </p:spPr>
        <p:txBody>
          <a:bodyPr/>
          <a:lstStyle/>
          <a:p>
            <a:pPr marL="0" indent="0" algn="ctr"/>
            <a:r>
              <a:rPr lang="el-GR" b="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Ασφάλεια δικτύων  - κρυπτογραφία</a:t>
            </a:r>
          </a:p>
        </p:txBody>
      </p:sp>
      <p:grpSp>
        <p:nvGrpSpPr>
          <p:cNvPr id="38" name="Google Shape;10705;p64"/>
          <p:cNvGrpSpPr/>
          <p:nvPr/>
        </p:nvGrpSpPr>
        <p:grpSpPr>
          <a:xfrm>
            <a:off x="1751432" y="1525731"/>
            <a:ext cx="365348" cy="364966"/>
            <a:chOff x="2640993" y="3357835"/>
            <a:chExt cx="365348" cy="364966"/>
          </a:xfrm>
        </p:grpSpPr>
        <p:sp>
          <p:nvSpPr>
            <p:cNvPr id="39" name="Google Shape;10706;p64"/>
            <p:cNvSpPr/>
            <p:nvPr/>
          </p:nvSpPr>
          <p:spPr>
            <a:xfrm>
              <a:off x="2640993" y="3455227"/>
              <a:ext cx="365348" cy="267574"/>
            </a:xfrm>
            <a:custGeom>
              <a:avLst/>
              <a:gdLst/>
              <a:ahLst/>
              <a:cxnLst/>
              <a:rect l="l" t="t" r="r" b="b"/>
              <a:pathLst>
                <a:path w="11479" h="8407" extrusionOk="0">
                  <a:moveTo>
                    <a:pt x="5168" y="2311"/>
                  </a:moveTo>
                  <a:lnTo>
                    <a:pt x="5335" y="4859"/>
                  </a:lnTo>
                  <a:lnTo>
                    <a:pt x="4620" y="4859"/>
                  </a:lnTo>
                  <a:lnTo>
                    <a:pt x="4763" y="2311"/>
                  </a:lnTo>
                  <a:close/>
                  <a:moveTo>
                    <a:pt x="6966" y="2311"/>
                  </a:moveTo>
                  <a:lnTo>
                    <a:pt x="7133" y="4859"/>
                  </a:lnTo>
                  <a:lnTo>
                    <a:pt x="6418" y="4859"/>
                  </a:lnTo>
                  <a:lnTo>
                    <a:pt x="6561" y="2311"/>
                  </a:lnTo>
                  <a:close/>
                  <a:moveTo>
                    <a:pt x="8764" y="2311"/>
                  </a:moveTo>
                  <a:lnTo>
                    <a:pt x="8931" y="4859"/>
                  </a:lnTo>
                  <a:lnTo>
                    <a:pt x="8216" y="4859"/>
                  </a:lnTo>
                  <a:lnTo>
                    <a:pt x="8371" y="2311"/>
                  </a:lnTo>
                  <a:close/>
                  <a:moveTo>
                    <a:pt x="2156" y="5894"/>
                  </a:moveTo>
                  <a:lnTo>
                    <a:pt x="2144" y="6287"/>
                  </a:lnTo>
                  <a:lnTo>
                    <a:pt x="1549" y="6287"/>
                  </a:lnTo>
                  <a:cubicBezTo>
                    <a:pt x="1453" y="6287"/>
                    <a:pt x="1382" y="6359"/>
                    <a:pt x="1382" y="6442"/>
                  </a:cubicBezTo>
                  <a:cubicBezTo>
                    <a:pt x="1382" y="6537"/>
                    <a:pt x="1453" y="6609"/>
                    <a:pt x="1549" y="6609"/>
                  </a:cubicBezTo>
                  <a:lnTo>
                    <a:pt x="2132" y="6609"/>
                  </a:lnTo>
                  <a:lnTo>
                    <a:pt x="2096" y="8073"/>
                  </a:lnTo>
                  <a:lnTo>
                    <a:pt x="822" y="8073"/>
                  </a:lnTo>
                  <a:lnTo>
                    <a:pt x="822" y="6609"/>
                  </a:lnTo>
                  <a:lnTo>
                    <a:pt x="834" y="6609"/>
                  </a:lnTo>
                  <a:cubicBezTo>
                    <a:pt x="918" y="6609"/>
                    <a:pt x="1001" y="6537"/>
                    <a:pt x="1001" y="6442"/>
                  </a:cubicBezTo>
                  <a:cubicBezTo>
                    <a:pt x="1001" y="6359"/>
                    <a:pt x="918" y="6287"/>
                    <a:pt x="834" y="6287"/>
                  </a:cubicBezTo>
                  <a:cubicBezTo>
                    <a:pt x="727" y="6287"/>
                    <a:pt x="644" y="6192"/>
                    <a:pt x="644" y="6085"/>
                  </a:cubicBezTo>
                  <a:cubicBezTo>
                    <a:pt x="644" y="5990"/>
                    <a:pt x="727" y="5894"/>
                    <a:pt x="834" y="5894"/>
                  </a:cubicBezTo>
                  <a:close/>
                  <a:moveTo>
                    <a:pt x="3382" y="334"/>
                  </a:moveTo>
                  <a:lnTo>
                    <a:pt x="3489" y="4859"/>
                  </a:lnTo>
                  <a:lnTo>
                    <a:pt x="3192" y="4859"/>
                  </a:lnTo>
                  <a:cubicBezTo>
                    <a:pt x="2894" y="4859"/>
                    <a:pt x="2668" y="5097"/>
                    <a:pt x="2668" y="5371"/>
                  </a:cubicBezTo>
                  <a:cubicBezTo>
                    <a:pt x="2668" y="5537"/>
                    <a:pt x="2739" y="5668"/>
                    <a:pt x="2846" y="5775"/>
                  </a:cubicBezTo>
                  <a:lnTo>
                    <a:pt x="2846" y="8085"/>
                  </a:lnTo>
                  <a:lnTo>
                    <a:pt x="2454" y="8085"/>
                  </a:lnTo>
                  <a:lnTo>
                    <a:pt x="2632" y="334"/>
                  </a:lnTo>
                  <a:close/>
                  <a:moveTo>
                    <a:pt x="10359" y="5180"/>
                  </a:moveTo>
                  <a:cubicBezTo>
                    <a:pt x="10466" y="5180"/>
                    <a:pt x="10550" y="5275"/>
                    <a:pt x="10550" y="5371"/>
                  </a:cubicBezTo>
                  <a:cubicBezTo>
                    <a:pt x="10550" y="5478"/>
                    <a:pt x="10466" y="5573"/>
                    <a:pt x="10359" y="5573"/>
                  </a:cubicBezTo>
                  <a:lnTo>
                    <a:pt x="10002" y="5573"/>
                  </a:lnTo>
                  <a:cubicBezTo>
                    <a:pt x="9919" y="5573"/>
                    <a:pt x="9835" y="5644"/>
                    <a:pt x="9835" y="5728"/>
                  </a:cubicBezTo>
                  <a:cubicBezTo>
                    <a:pt x="9835" y="5823"/>
                    <a:pt x="9919" y="5894"/>
                    <a:pt x="10002" y="5894"/>
                  </a:cubicBezTo>
                  <a:lnTo>
                    <a:pt x="10371" y="5894"/>
                  </a:lnTo>
                  <a:lnTo>
                    <a:pt x="10371" y="8085"/>
                  </a:lnTo>
                  <a:lnTo>
                    <a:pt x="3156" y="8085"/>
                  </a:lnTo>
                  <a:lnTo>
                    <a:pt x="3156" y="5894"/>
                  </a:lnTo>
                  <a:lnTo>
                    <a:pt x="9288" y="5894"/>
                  </a:lnTo>
                  <a:cubicBezTo>
                    <a:pt x="9383" y="5894"/>
                    <a:pt x="9454" y="5823"/>
                    <a:pt x="9454" y="5728"/>
                  </a:cubicBezTo>
                  <a:cubicBezTo>
                    <a:pt x="9454" y="5644"/>
                    <a:pt x="9383" y="5573"/>
                    <a:pt x="9288" y="5573"/>
                  </a:cubicBezTo>
                  <a:lnTo>
                    <a:pt x="3168" y="5573"/>
                  </a:lnTo>
                  <a:cubicBezTo>
                    <a:pt x="3073" y="5573"/>
                    <a:pt x="2977" y="5478"/>
                    <a:pt x="2977" y="5371"/>
                  </a:cubicBezTo>
                  <a:cubicBezTo>
                    <a:pt x="2977" y="5275"/>
                    <a:pt x="3073" y="5180"/>
                    <a:pt x="3168" y="5180"/>
                  </a:cubicBezTo>
                  <a:close/>
                  <a:moveTo>
                    <a:pt x="2489" y="1"/>
                  </a:moveTo>
                  <a:cubicBezTo>
                    <a:pt x="2394" y="1"/>
                    <a:pt x="2323" y="72"/>
                    <a:pt x="2323" y="168"/>
                  </a:cubicBezTo>
                  <a:lnTo>
                    <a:pt x="2203" y="5561"/>
                  </a:lnTo>
                  <a:lnTo>
                    <a:pt x="882" y="5561"/>
                  </a:lnTo>
                  <a:cubicBezTo>
                    <a:pt x="584" y="5561"/>
                    <a:pt x="358" y="5799"/>
                    <a:pt x="358" y="6085"/>
                  </a:cubicBezTo>
                  <a:cubicBezTo>
                    <a:pt x="358" y="6252"/>
                    <a:pt x="429" y="6383"/>
                    <a:pt x="537" y="6490"/>
                  </a:cubicBezTo>
                  <a:lnTo>
                    <a:pt x="537" y="8085"/>
                  </a:lnTo>
                  <a:lnTo>
                    <a:pt x="168" y="8085"/>
                  </a:lnTo>
                  <a:cubicBezTo>
                    <a:pt x="72" y="8085"/>
                    <a:pt x="1" y="8157"/>
                    <a:pt x="1" y="8252"/>
                  </a:cubicBezTo>
                  <a:cubicBezTo>
                    <a:pt x="1" y="8335"/>
                    <a:pt x="72" y="8407"/>
                    <a:pt x="168" y="8407"/>
                  </a:cubicBezTo>
                  <a:lnTo>
                    <a:pt x="11312" y="8407"/>
                  </a:lnTo>
                  <a:cubicBezTo>
                    <a:pt x="11395" y="8407"/>
                    <a:pt x="11478" y="8335"/>
                    <a:pt x="11478" y="8252"/>
                  </a:cubicBezTo>
                  <a:cubicBezTo>
                    <a:pt x="11431" y="8157"/>
                    <a:pt x="11359" y="8085"/>
                    <a:pt x="11264" y="8085"/>
                  </a:cubicBezTo>
                  <a:lnTo>
                    <a:pt x="10716" y="8085"/>
                  </a:lnTo>
                  <a:lnTo>
                    <a:pt x="10716" y="5775"/>
                  </a:lnTo>
                  <a:cubicBezTo>
                    <a:pt x="10824" y="5668"/>
                    <a:pt x="10895" y="5537"/>
                    <a:pt x="10895" y="5371"/>
                  </a:cubicBezTo>
                  <a:cubicBezTo>
                    <a:pt x="10895" y="5073"/>
                    <a:pt x="10657" y="4859"/>
                    <a:pt x="10371" y="4859"/>
                  </a:cubicBezTo>
                  <a:lnTo>
                    <a:pt x="9276" y="4859"/>
                  </a:lnTo>
                  <a:lnTo>
                    <a:pt x="9109" y="2132"/>
                  </a:lnTo>
                  <a:cubicBezTo>
                    <a:pt x="9109" y="2037"/>
                    <a:pt x="9038" y="1965"/>
                    <a:pt x="8942" y="1965"/>
                  </a:cubicBezTo>
                  <a:lnTo>
                    <a:pt x="8228" y="1965"/>
                  </a:lnTo>
                  <a:cubicBezTo>
                    <a:pt x="8145" y="1965"/>
                    <a:pt x="8073" y="2037"/>
                    <a:pt x="8073" y="2132"/>
                  </a:cubicBezTo>
                  <a:lnTo>
                    <a:pt x="7907" y="4859"/>
                  </a:lnTo>
                  <a:lnTo>
                    <a:pt x="7502" y="4859"/>
                  </a:lnTo>
                  <a:lnTo>
                    <a:pt x="7335" y="2132"/>
                  </a:lnTo>
                  <a:cubicBezTo>
                    <a:pt x="7335" y="2037"/>
                    <a:pt x="7264" y="1965"/>
                    <a:pt x="7168" y="1965"/>
                  </a:cubicBezTo>
                  <a:lnTo>
                    <a:pt x="6466" y="1965"/>
                  </a:lnTo>
                  <a:cubicBezTo>
                    <a:pt x="6371" y="1965"/>
                    <a:pt x="6299" y="2037"/>
                    <a:pt x="6299" y="2132"/>
                  </a:cubicBezTo>
                  <a:lnTo>
                    <a:pt x="6133" y="4859"/>
                  </a:lnTo>
                  <a:lnTo>
                    <a:pt x="5728" y="4859"/>
                  </a:lnTo>
                  <a:lnTo>
                    <a:pt x="5561" y="2132"/>
                  </a:lnTo>
                  <a:cubicBezTo>
                    <a:pt x="5561" y="2037"/>
                    <a:pt x="5490" y="1965"/>
                    <a:pt x="5406" y="1965"/>
                  </a:cubicBezTo>
                  <a:lnTo>
                    <a:pt x="4620" y="1965"/>
                  </a:lnTo>
                  <a:cubicBezTo>
                    <a:pt x="4525" y="1965"/>
                    <a:pt x="4454" y="2037"/>
                    <a:pt x="4454" y="2132"/>
                  </a:cubicBezTo>
                  <a:lnTo>
                    <a:pt x="4287" y="4859"/>
                  </a:lnTo>
                  <a:lnTo>
                    <a:pt x="3823" y="4859"/>
                  </a:lnTo>
                  <a:lnTo>
                    <a:pt x="3716" y="168"/>
                  </a:lnTo>
                  <a:cubicBezTo>
                    <a:pt x="3716" y="72"/>
                    <a:pt x="3644" y="1"/>
                    <a:pt x="356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Google Shape;10707;p64"/>
            <p:cNvSpPr/>
            <p:nvPr/>
          </p:nvSpPr>
          <p:spPr>
            <a:xfrm>
              <a:off x="2724763" y="3357835"/>
              <a:ext cx="280050" cy="136476"/>
            </a:xfrm>
            <a:custGeom>
              <a:avLst/>
              <a:gdLst/>
              <a:ahLst/>
              <a:cxnLst/>
              <a:rect l="l" t="t" r="r" b="b"/>
              <a:pathLst>
                <a:path w="8799" h="4288" extrusionOk="0">
                  <a:moveTo>
                    <a:pt x="6656" y="1"/>
                  </a:moveTo>
                  <a:cubicBezTo>
                    <a:pt x="6156" y="1"/>
                    <a:pt x="5656" y="180"/>
                    <a:pt x="5286" y="501"/>
                  </a:cubicBezTo>
                  <a:cubicBezTo>
                    <a:pt x="5001" y="299"/>
                    <a:pt x="4679" y="168"/>
                    <a:pt x="4322" y="168"/>
                  </a:cubicBezTo>
                  <a:cubicBezTo>
                    <a:pt x="3905" y="168"/>
                    <a:pt x="3501" y="334"/>
                    <a:pt x="3191" y="632"/>
                  </a:cubicBezTo>
                  <a:cubicBezTo>
                    <a:pt x="3036" y="561"/>
                    <a:pt x="2858" y="525"/>
                    <a:pt x="2691" y="525"/>
                  </a:cubicBezTo>
                  <a:cubicBezTo>
                    <a:pt x="2191" y="525"/>
                    <a:pt x="1750" y="822"/>
                    <a:pt x="1548" y="1275"/>
                  </a:cubicBezTo>
                  <a:cubicBezTo>
                    <a:pt x="1476" y="1263"/>
                    <a:pt x="1417" y="1239"/>
                    <a:pt x="1346" y="1239"/>
                  </a:cubicBezTo>
                  <a:cubicBezTo>
                    <a:pt x="1000" y="1239"/>
                    <a:pt x="703" y="1465"/>
                    <a:pt x="584" y="1775"/>
                  </a:cubicBezTo>
                  <a:lnTo>
                    <a:pt x="524" y="1775"/>
                  </a:lnTo>
                  <a:cubicBezTo>
                    <a:pt x="226" y="1775"/>
                    <a:pt x="0" y="2013"/>
                    <a:pt x="0" y="2299"/>
                  </a:cubicBezTo>
                  <a:cubicBezTo>
                    <a:pt x="0" y="2394"/>
                    <a:pt x="72" y="2466"/>
                    <a:pt x="167" y="2466"/>
                  </a:cubicBezTo>
                  <a:cubicBezTo>
                    <a:pt x="262" y="2466"/>
                    <a:pt x="333" y="2394"/>
                    <a:pt x="333" y="2299"/>
                  </a:cubicBezTo>
                  <a:cubicBezTo>
                    <a:pt x="333" y="2192"/>
                    <a:pt x="417" y="2108"/>
                    <a:pt x="524" y="2108"/>
                  </a:cubicBezTo>
                  <a:cubicBezTo>
                    <a:pt x="560" y="2108"/>
                    <a:pt x="584" y="2120"/>
                    <a:pt x="631" y="2144"/>
                  </a:cubicBezTo>
                  <a:cubicBezTo>
                    <a:pt x="649" y="2156"/>
                    <a:pt x="679" y="2162"/>
                    <a:pt x="710" y="2162"/>
                  </a:cubicBezTo>
                  <a:cubicBezTo>
                    <a:pt x="741" y="2162"/>
                    <a:pt x="774" y="2156"/>
                    <a:pt x="798" y="2144"/>
                  </a:cubicBezTo>
                  <a:cubicBezTo>
                    <a:pt x="834" y="2108"/>
                    <a:pt x="881" y="2061"/>
                    <a:pt x="881" y="2001"/>
                  </a:cubicBezTo>
                  <a:cubicBezTo>
                    <a:pt x="893" y="1763"/>
                    <a:pt x="1095" y="1573"/>
                    <a:pt x="1346" y="1573"/>
                  </a:cubicBezTo>
                  <a:cubicBezTo>
                    <a:pt x="1417" y="1573"/>
                    <a:pt x="1488" y="1584"/>
                    <a:pt x="1572" y="1632"/>
                  </a:cubicBezTo>
                  <a:cubicBezTo>
                    <a:pt x="1591" y="1652"/>
                    <a:pt x="1618" y="1661"/>
                    <a:pt x="1646" y="1661"/>
                  </a:cubicBezTo>
                  <a:cubicBezTo>
                    <a:pt x="1669" y="1661"/>
                    <a:pt x="1693" y="1655"/>
                    <a:pt x="1715" y="1644"/>
                  </a:cubicBezTo>
                  <a:cubicBezTo>
                    <a:pt x="1762" y="1632"/>
                    <a:pt x="1810" y="1584"/>
                    <a:pt x="1822" y="1525"/>
                  </a:cubicBezTo>
                  <a:cubicBezTo>
                    <a:pt x="1929" y="1132"/>
                    <a:pt x="2286" y="858"/>
                    <a:pt x="2703" y="858"/>
                  </a:cubicBezTo>
                  <a:cubicBezTo>
                    <a:pt x="2846" y="858"/>
                    <a:pt x="3012" y="906"/>
                    <a:pt x="3143" y="977"/>
                  </a:cubicBezTo>
                  <a:cubicBezTo>
                    <a:pt x="3173" y="997"/>
                    <a:pt x="3207" y="1007"/>
                    <a:pt x="3240" y="1007"/>
                  </a:cubicBezTo>
                  <a:cubicBezTo>
                    <a:pt x="3286" y="1007"/>
                    <a:pt x="3330" y="988"/>
                    <a:pt x="3358" y="953"/>
                  </a:cubicBezTo>
                  <a:cubicBezTo>
                    <a:pt x="3596" y="668"/>
                    <a:pt x="3953" y="501"/>
                    <a:pt x="4322" y="501"/>
                  </a:cubicBezTo>
                  <a:cubicBezTo>
                    <a:pt x="4632" y="501"/>
                    <a:pt x="4941" y="620"/>
                    <a:pt x="5167" y="834"/>
                  </a:cubicBezTo>
                  <a:cubicBezTo>
                    <a:pt x="5197" y="864"/>
                    <a:pt x="5239" y="879"/>
                    <a:pt x="5281" y="879"/>
                  </a:cubicBezTo>
                  <a:cubicBezTo>
                    <a:pt x="5322" y="879"/>
                    <a:pt x="5364" y="864"/>
                    <a:pt x="5394" y="834"/>
                  </a:cubicBezTo>
                  <a:cubicBezTo>
                    <a:pt x="5739" y="501"/>
                    <a:pt x="6179" y="322"/>
                    <a:pt x="6644" y="322"/>
                  </a:cubicBezTo>
                  <a:cubicBezTo>
                    <a:pt x="7644" y="322"/>
                    <a:pt x="8454" y="1144"/>
                    <a:pt x="8454" y="2144"/>
                  </a:cubicBezTo>
                  <a:cubicBezTo>
                    <a:pt x="8454" y="3132"/>
                    <a:pt x="7644" y="3954"/>
                    <a:pt x="6644" y="3954"/>
                  </a:cubicBezTo>
                  <a:cubicBezTo>
                    <a:pt x="5977" y="3954"/>
                    <a:pt x="5382" y="3597"/>
                    <a:pt x="5048" y="3013"/>
                  </a:cubicBezTo>
                  <a:cubicBezTo>
                    <a:pt x="5013" y="2960"/>
                    <a:pt x="4957" y="2933"/>
                    <a:pt x="4891" y="2933"/>
                  </a:cubicBezTo>
                  <a:cubicBezTo>
                    <a:pt x="4869" y="2933"/>
                    <a:pt x="4846" y="2936"/>
                    <a:pt x="4822" y="2942"/>
                  </a:cubicBezTo>
                  <a:cubicBezTo>
                    <a:pt x="4667" y="3013"/>
                    <a:pt x="4489" y="3061"/>
                    <a:pt x="4286" y="3061"/>
                  </a:cubicBezTo>
                  <a:cubicBezTo>
                    <a:pt x="3917" y="3061"/>
                    <a:pt x="3572" y="2894"/>
                    <a:pt x="3322" y="2620"/>
                  </a:cubicBezTo>
                  <a:cubicBezTo>
                    <a:pt x="3284" y="2583"/>
                    <a:pt x="3242" y="2559"/>
                    <a:pt x="3198" y="2559"/>
                  </a:cubicBezTo>
                  <a:cubicBezTo>
                    <a:pt x="3172" y="2559"/>
                    <a:pt x="3146" y="2567"/>
                    <a:pt x="3120" y="2585"/>
                  </a:cubicBezTo>
                  <a:cubicBezTo>
                    <a:pt x="2977" y="2656"/>
                    <a:pt x="2822" y="2704"/>
                    <a:pt x="2667" y="2704"/>
                  </a:cubicBezTo>
                  <a:cubicBezTo>
                    <a:pt x="2381" y="2704"/>
                    <a:pt x="2119" y="2573"/>
                    <a:pt x="1953" y="2346"/>
                  </a:cubicBezTo>
                  <a:cubicBezTo>
                    <a:pt x="1929" y="2299"/>
                    <a:pt x="1881" y="2287"/>
                    <a:pt x="1822" y="2287"/>
                  </a:cubicBezTo>
                  <a:cubicBezTo>
                    <a:pt x="1774" y="2287"/>
                    <a:pt x="1715" y="2323"/>
                    <a:pt x="1691" y="2346"/>
                  </a:cubicBezTo>
                  <a:cubicBezTo>
                    <a:pt x="1596" y="2466"/>
                    <a:pt x="1465" y="2525"/>
                    <a:pt x="1334" y="2525"/>
                  </a:cubicBezTo>
                  <a:cubicBezTo>
                    <a:pt x="1238" y="2525"/>
                    <a:pt x="1167" y="2596"/>
                    <a:pt x="1167" y="2692"/>
                  </a:cubicBezTo>
                  <a:cubicBezTo>
                    <a:pt x="1167" y="2775"/>
                    <a:pt x="1238" y="2858"/>
                    <a:pt x="1334" y="2858"/>
                  </a:cubicBezTo>
                  <a:cubicBezTo>
                    <a:pt x="1512" y="2858"/>
                    <a:pt x="1667" y="2799"/>
                    <a:pt x="1822" y="2692"/>
                  </a:cubicBezTo>
                  <a:cubicBezTo>
                    <a:pt x="2060" y="2918"/>
                    <a:pt x="2358" y="3037"/>
                    <a:pt x="2679" y="3037"/>
                  </a:cubicBezTo>
                  <a:cubicBezTo>
                    <a:pt x="2846" y="3037"/>
                    <a:pt x="3024" y="3001"/>
                    <a:pt x="3179" y="2930"/>
                  </a:cubicBezTo>
                  <a:cubicBezTo>
                    <a:pt x="3477" y="3228"/>
                    <a:pt x="3870" y="3394"/>
                    <a:pt x="4310" y="3394"/>
                  </a:cubicBezTo>
                  <a:cubicBezTo>
                    <a:pt x="4489" y="3394"/>
                    <a:pt x="4667" y="3358"/>
                    <a:pt x="4846" y="3299"/>
                  </a:cubicBezTo>
                  <a:cubicBezTo>
                    <a:pt x="5227" y="3906"/>
                    <a:pt x="5918" y="4287"/>
                    <a:pt x="6644" y="4287"/>
                  </a:cubicBezTo>
                  <a:cubicBezTo>
                    <a:pt x="7834" y="4287"/>
                    <a:pt x="8787" y="3311"/>
                    <a:pt x="8787" y="2144"/>
                  </a:cubicBezTo>
                  <a:cubicBezTo>
                    <a:pt x="8799" y="965"/>
                    <a:pt x="7834" y="1"/>
                    <a:pt x="665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Google Shape;10708;p64"/>
            <p:cNvSpPr/>
            <p:nvPr/>
          </p:nvSpPr>
          <p:spPr>
            <a:xfrm>
              <a:off x="2771359" y="3655327"/>
              <a:ext cx="10280" cy="21611"/>
            </a:xfrm>
            <a:custGeom>
              <a:avLst/>
              <a:gdLst/>
              <a:ahLst/>
              <a:cxnLst/>
              <a:rect l="l" t="t" r="r" b="b"/>
              <a:pathLst>
                <a:path w="323" h="679" extrusionOk="0">
                  <a:moveTo>
                    <a:pt x="167" y="0"/>
                  </a:moveTo>
                  <a:cubicBezTo>
                    <a:pt x="72" y="0"/>
                    <a:pt x="1" y="72"/>
                    <a:pt x="1" y="155"/>
                  </a:cubicBezTo>
                  <a:lnTo>
                    <a:pt x="1" y="512"/>
                  </a:lnTo>
                  <a:cubicBezTo>
                    <a:pt x="1" y="608"/>
                    <a:pt x="72" y="679"/>
                    <a:pt x="167" y="679"/>
                  </a:cubicBezTo>
                  <a:cubicBezTo>
                    <a:pt x="251" y="679"/>
                    <a:pt x="322" y="608"/>
                    <a:pt x="322" y="512"/>
                  </a:cubicBezTo>
                  <a:lnTo>
                    <a:pt x="322" y="179"/>
                  </a:lnTo>
                  <a:cubicBezTo>
                    <a:pt x="322" y="72"/>
                    <a:pt x="251" y="0"/>
                    <a:pt x="1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Google Shape;10709;p64"/>
            <p:cNvSpPr/>
            <p:nvPr/>
          </p:nvSpPr>
          <p:spPr>
            <a:xfrm>
              <a:off x="2794084" y="3655327"/>
              <a:ext cx="10280" cy="21611"/>
            </a:xfrm>
            <a:custGeom>
              <a:avLst/>
              <a:gdLst/>
              <a:ahLst/>
              <a:cxnLst/>
              <a:rect l="l" t="t" r="r" b="b"/>
              <a:pathLst>
                <a:path w="323" h="679" extrusionOk="0">
                  <a:moveTo>
                    <a:pt x="168" y="0"/>
                  </a:moveTo>
                  <a:cubicBezTo>
                    <a:pt x="72" y="0"/>
                    <a:pt x="1" y="72"/>
                    <a:pt x="1" y="155"/>
                  </a:cubicBezTo>
                  <a:lnTo>
                    <a:pt x="1" y="512"/>
                  </a:lnTo>
                  <a:cubicBezTo>
                    <a:pt x="1" y="608"/>
                    <a:pt x="72" y="679"/>
                    <a:pt x="168" y="679"/>
                  </a:cubicBezTo>
                  <a:cubicBezTo>
                    <a:pt x="251" y="679"/>
                    <a:pt x="322" y="608"/>
                    <a:pt x="322" y="512"/>
                  </a:cubicBezTo>
                  <a:lnTo>
                    <a:pt x="322" y="179"/>
                  </a:lnTo>
                  <a:cubicBezTo>
                    <a:pt x="322" y="72"/>
                    <a:pt x="251" y="0"/>
                    <a:pt x="16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Google Shape;10710;p64"/>
            <p:cNvSpPr/>
            <p:nvPr/>
          </p:nvSpPr>
          <p:spPr>
            <a:xfrm>
              <a:off x="2816840" y="3655327"/>
              <a:ext cx="11012" cy="21611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lnTo>
                    <a:pt x="0" y="512"/>
                  </a:lnTo>
                  <a:cubicBezTo>
                    <a:pt x="0" y="608"/>
                    <a:pt x="72" y="679"/>
                    <a:pt x="167" y="679"/>
                  </a:cubicBezTo>
                  <a:cubicBezTo>
                    <a:pt x="250" y="679"/>
                    <a:pt x="322" y="608"/>
                    <a:pt x="322" y="512"/>
                  </a:cubicBezTo>
                  <a:lnTo>
                    <a:pt x="322" y="179"/>
                  </a:lnTo>
                  <a:cubicBezTo>
                    <a:pt x="346" y="72"/>
                    <a:pt x="262" y="0"/>
                    <a:pt x="1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Google Shape;10711;p64"/>
            <p:cNvSpPr/>
            <p:nvPr/>
          </p:nvSpPr>
          <p:spPr>
            <a:xfrm>
              <a:off x="2839947" y="3655327"/>
              <a:ext cx="10630" cy="21611"/>
            </a:xfrm>
            <a:custGeom>
              <a:avLst/>
              <a:gdLst/>
              <a:ahLst/>
              <a:cxnLst/>
              <a:rect l="l" t="t" r="r" b="b"/>
              <a:pathLst>
                <a:path w="334" h="679" extrusionOk="0">
                  <a:moveTo>
                    <a:pt x="167" y="0"/>
                  </a:moveTo>
                  <a:cubicBezTo>
                    <a:pt x="72" y="0"/>
                    <a:pt x="1" y="72"/>
                    <a:pt x="1" y="155"/>
                  </a:cubicBezTo>
                  <a:lnTo>
                    <a:pt x="1" y="512"/>
                  </a:lnTo>
                  <a:cubicBezTo>
                    <a:pt x="1" y="608"/>
                    <a:pt x="72" y="679"/>
                    <a:pt x="167" y="679"/>
                  </a:cubicBezTo>
                  <a:cubicBezTo>
                    <a:pt x="251" y="679"/>
                    <a:pt x="334" y="608"/>
                    <a:pt x="334" y="512"/>
                  </a:cubicBezTo>
                  <a:lnTo>
                    <a:pt x="334" y="179"/>
                  </a:lnTo>
                  <a:cubicBezTo>
                    <a:pt x="334" y="72"/>
                    <a:pt x="251" y="0"/>
                    <a:pt x="1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Google Shape;10712;p64"/>
            <p:cNvSpPr/>
            <p:nvPr/>
          </p:nvSpPr>
          <p:spPr>
            <a:xfrm>
              <a:off x="2862672" y="3655327"/>
              <a:ext cx="10662" cy="21611"/>
            </a:xfrm>
            <a:custGeom>
              <a:avLst/>
              <a:gdLst/>
              <a:ahLst/>
              <a:cxnLst/>
              <a:rect l="l" t="t" r="r" b="b"/>
              <a:pathLst>
                <a:path w="335" h="679" extrusionOk="0">
                  <a:moveTo>
                    <a:pt x="168" y="0"/>
                  </a:moveTo>
                  <a:cubicBezTo>
                    <a:pt x="72" y="0"/>
                    <a:pt x="1" y="72"/>
                    <a:pt x="1" y="155"/>
                  </a:cubicBezTo>
                  <a:lnTo>
                    <a:pt x="1" y="512"/>
                  </a:lnTo>
                  <a:cubicBezTo>
                    <a:pt x="1" y="608"/>
                    <a:pt x="72" y="679"/>
                    <a:pt x="168" y="679"/>
                  </a:cubicBezTo>
                  <a:cubicBezTo>
                    <a:pt x="251" y="679"/>
                    <a:pt x="334" y="608"/>
                    <a:pt x="334" y="512"/>
                  </a:cubicBezTo>
                  <a:lnTo>
                    <a:pt x="334" y="179"/>
                  </a:lnTo>
                  <a:cubicBezTo>
                    <a:pt x="334" y="72"/>
                    <a:pt x="251" y="0"/>
                    <a:pt x="16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Google Shape;10713;p64"/>
            <p:cNvSpPr/>
            <p:nvPr/>
          </p:nvSpPr>
          <p:spPr>
            <a:xfrm>
              <a:off x="2885429" y="3655327"/>
              <a:ext cx="11012" cy="21611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lnTo>
                    <a:pt x="0" y="512"/>
                  </a:lnTo>
                  <a:cubicBezTo>
                    <a:pt x="0" y="608"/>
                    <a:pt x="72" y="679"/>
                    <a:pt x="167" y="679"/>
                  </a:cubicBezTo>
                  <a:cubicBezTo>
                    <a:pt x="250" y="679"/>
                    <a:pt x="334" y="608"/>
                    <a:pt x="334" y="512"/>
                  </a:cubicBezTo>
                  <a:lnTo>
                    <a:pt x="334" y="179"/>
                  </a:lnTo>
                  <a:cubicBezTo>
                    <a:pt x="346" y="72"/>
                    <a:pt x="274" y="0"/>
                    <a:pt x="1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Google Shape;10714;p64"/>
            <p:cNvSpPr/>
            <p:nvPr/>
          </p:nvSpPr>
          <p:spPr>
            <a:xfrm>
              <a:off x="2908535" y="3655327"/>
              <a:ext cx="10630" cy="21611"/>
            </a:xfrm>
            <a:custGeom>
              <a:avLst/>
              <a:gdLst/>
              <a:ahLst/>
              <a:cxnLst/>
              <a:rect l="l" t="t" r="r" b="b"/>
              <a:pathLst>
                <a:path w="334" h="679" extrusionOk="0">
                  <a:moveTo>
                    <a:pt x="167" y="0"/>
                  </a:moveTo>
                  <a:cubicBezTo>
                    <a:pt x="84" y="0"/>
                    <a:pt x="1" y="72"/>
                    <a:pt x="1" y="155"/>
                  </a:cubicBezTo>
                  <a:lnTo>
                    <a:pt x="1" y="512"/>
                  </a:lnTo>
                  <a:cubicBezTo>
                    <a:pt x="1" y="608"/>
                    <a:pt x="84" y="679"/>
                    <a:pt x="167" y="679"/>
                  </a:cubicBezTo>
                  <a:cubicBezTo>
                    <a:pt x="263" y="679"/>
                    <a:pt x="334" y="608"/>
                    <a:pt x="334" y="512"/>
                  </a:cubicBezTo>
                  <a:lnTo>
                    <a:pt x="334" y="179"/>
                  </a:lnTo>
                  <a:cubicBezTo>
                    <a:pt x="334" y="72"/>
                    <a:pt x="263" y="0"/>
                    <a:pt x="1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Google Shape;10715;p64"/>
            <p:cNvSpPr/>
            <p:nvPr/>
          </p:nvSpPr>
          <p:spPr>
            <a:xfrm>
              <a:off x="2931292" y="3655327"/>
              <a:ext cx="10630" cy="21611"/>
            </a:xfrm>
            <a:custGeom>
              <a:avLst/>
              <a:gdLst/>
              <a:ahLst/>
              <a:cxnLst/>
              <a:rect l="l" t="t" r="r" b="b"/>
              <a:pathLst>
                <a:path w="334" h="679" extrusionOk="0">
                  <a:moveTo>
                    <a:pt x="167" y="0"/>
                  </a:moveTo>
                  <a:cubicBezTo>
                    <a:pt x="71" y="0"/>
                    <a:pt x="0" y="72"/>
                    <a:pt x="0" y="155"/>
                  </a:cubicBezTo>
                  <a:lnTo>
                    <a:pt x="0" y="512"/>
                  </a:lnTo>
                  <a:cubicBezTo>
                    <a:pt x="0" y="608"/>
                    <a:pt x="71" y="679"/>
                    <a:pt x="167" y="679"/>
                  </a:cubicBezTo>
                  <a:cubicBezTo>
                    <a:pt x="262" y="679"/>
                    <a:pt x="333" y="608"/>
                    <a:pt x="333" y="512"/>
                  </a:cubicBezTo>
                  <a:lnTo>
                    <a:pt x="333" y="179"/>
                  </a:lnTo>
                  <a:cubicBezTo>
                    <a:pt x="333" y="72"/>
                    <a:pt x="262" y="0"/>
                    <a:pt x="1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9" name="Google Shape;10944;p64"/>
          <p:cNvGrpSpPr/>
          <p:nvPr/>
        </p:nvGrpSpPr>
        <p:grpSpPr>
          <a:xfrm>
            <a:off x="7047142" y="1562472"/>
            <a:ext cx="367608" cy="350548"/>
            <a:chOff x="6659725" y="3808035"/>
            <a:chExt cx="367608" cy="350548"/>
          </a:xfrm>
        </p:grpSpPr>
        <p:sp>
          <p:nvSpPr>
            <p:cNvPr id="50" name="Google Shape;10945;p64"/>
            <p:cNvSpPr/>
            <p:nvPr/>
          </p:nvSpPr>
          <p:spPr>
            <a:xfrm>
              <a:off x="6659725" y="3845942"/>
              <a:ext cx="321394" cy="312642"/>
            </a:xfrm>
            <a:custGeom>
              <a:avLst/>
              <a:gdLst/>
              <a:ahLst/>
              <a:cxnLst/>
              <a:rect l="l" t="t" r="r" b="b"/>
              <a:pathLst>
                <a:path w="10098" h="9823" extrusionOk="0">
                  <a:moveTo>
                    <a:pt x="8740" y="0"/>
                  </a:moveTo>
                  <a:cubicBezTo>
                    <a:pt x="8383" y="0"/>
                    <a:pt x="8037" y="131"/>
                    <a:pt x="7787" y="405"/>
                  </a:cubicBezTo>
                  <a:lnTo>
                    <a:pt x="6847" y="1346"/>
                  </a:lnTo>
                  <a:cubicBezTo>
                    <a:pt x="6775" y="1417"/>
                    <a:pt x="6775" y="1524"/>
                    <a:pt x="6847" y="1596"/>
                  </a:cubicBezTo>
                  <a:cubicBezTo>
                    <a:pt x="6882" y="1631"/>
                    <a:pt x="6927" y="1649"/>
                    <a:pt x="6972" y="1649"/>
                  </a:cubicBezTo>
                  <a:cubicBezTo>
                    <a:pt x="7016" y="1649"/>
                    <a:pt x="7061" y="1631"/>
                    <a:pt x="7097" y="1596"/>
                  </a:cubicBezTo>
                  <a:lnTo>
                    <a:pt x="8037" y="655"/>
                  </a:lnTo>
                  <a:cubicBezTo>
                    <a:pt x="8228" y="464"/>
                    <a:pt x="8466" y="357"/>
                    <a:pt x="8740" y="357"/>
                  </a:cubicBezTo>
                  <a:cubicBezTo>
                    <a:pt x="9002" y="357"/>
                    <a:pt x="9264" y="464"/>
                    <a:pt x="9442" y="655"/>
                  </a:cubicBezTo>
                  <a:cubicBezTo>
                    <a:pt x="9633" y="857"/>
                    <a:pt x="9740" y="1096"/>
                    <a:pt x="9740" y="1357"/>
                  </a:cubicBezTo>
                  <a:cubicBezTo>
                    <a:pt x="9740" y="1631"/>
                    <a:pt x="9633" y="1881"/>
                    <a:pt x="9442" y="2060"/>
                  </a:cubicBezTo>
                  <a:lnTo>
                    <a:pt x="8156" y="3334"/>
                  </a:lnTo>
                  <a:cubicBezTo>
                    <a:pt x="8025" y="3024"/>
                    <a:pt x="7847" y="2739"/>
                    <a:pt x="7597" y="2489"/>
                  </a:cubicBezTo>
                  <a:cubicBezTo>
                    <a:pt x="7097" y="1988"/>
                    <a:pt x="6436" y="1738"/>
                    <a:pt x="5777" y="1738"/>
                  </a:cubicBezTo>
                  <a:cubicBezTo>
                    <a:pt x="5117" y="1738"/>
                    <a:pt x="4459" y="1988"/>
                    <a:pt x="3965" y="2489"/>
                  </a:cubicBezTo>
                  <a:lnTo>
                    <a:pt x="1001" y="5453"/>
                  </a:lnTo>
                  <a:cubicBezTo>
                    <a:pt x="1" y="6453"/>
                    <a:pt x="1" y="8084"/>
                    <a:pt x="1001" y="9085"/>
                  </a:cubicBezTo>
                  <a:cubicBezTo>
                    <a:pt x="1501" y="9585"/>
                    <a:pt x="2156" y="9823"/>
                    <a:pt x="2810" y="9823"/>
                  </a:cubicBezTo>
                  <a:cubicBezTo>
                    <a:pt x="3465" y="9823"/>
                    <a:pt x="4120" y="9573"/>
                    <a:pt x="4632" y="9085"/>
                  </a:cubicBezTo>
                  <a:lnTo>
                    <a:pt x="6204" y="7501"/>
                  </a:lnTo>
                  <a:cubicBezTo>
                    <a:pt x="6287" y="7430"/>
                    <a:pt x="6287" y="7322"/>
                    <a:pt x="6204" y="7251"/>
                  </a:cubicBezTo>
                  <a:cubicBezTo>
                    <a:pt x="6176" y="7242"/>
                    <a:pt x="6143" y="7236"/>
                    <a:pt x="6109" y="7236"/>
                  </a:cubicBezTo>
                  <a:cubicBezTo>
                    <a:pt x="6055" y="7236"/>
                    <a:pt x="5997" y="7250"/>
                    <a:pt x="5954" y="7287"/>
                  </a:cubicBezTo>
                  <a:lnTo>
                    <a:pt x="4382" y="8858"/>
                  </a:lnTo>
                  <a:cubicBezTo>
                    <a:pt x="3965" y="9275"/>
                    <a:pt x="3406" y="9513"/>
                    <a:pt x="2810" y="9513"/>
                  </a:cubicBezTo>
                  <a:cubicBezTo>
                    <a:pt x="2215" y="9513"/>
                    <a:pt x="1667" y="9287"/>
                    <a:pt x="1251" y="8858"/>
                  </a:cubicBezTo>
                  <a:cubicBezTo>
                    <a:pt x="394" y="8001"/>
                    <a:pt x="394" y="6596"/>
                    <a:pt x="1251" y="5739"/>
                  </a:cubicBezTo>
                  <a:lnTo>
                    <a:pt x="4215" y="2774"/>
                  </a:lnTo>
                  <a:cubicBezTo>
                    <a:pt x="4632" y="2358"/>
                    <a:pt x="5180" y="2119"/>
                    <a:pt x="5775" y="2119"/>
                  </a:cubicBezTo>
                  <a:cubicBezTo>
                    <a:pt x="6370" y="2119"/>
                    <a:pt x="6918" y="2346"/>
                    <a:pt x="7335" y="2774"/>
                  </a:cubicBezTo>
                  <a:cubicBezTo>
                    <a:pt x="7573" y="3012"/>
                    <a:pt x="7775" y="3310"/>
                    <a:pt x="7871" y="3632"/>
                  </a:cubicBezTo>
                  <a:lnTo>
                    <a:pt x="6478" y="5036"/>
                  </a:lnTo>
                  <a:cubicBezTo>
                    <a:pt x="6287" y="5227"/>
                    <a:pt x="6049" y="5334"/>
                    <a:pt x="5775" y="5334"/>
                  </a:cubicBezTo>
                  <a:cubicBezTo>
                    <a:pt x="5513" y="5334"/>
                    <a:pt x="5251" y="5227"/>
                    <a:pt x="5073" y="5036"/>
                  </a:cubicBezTo>
                  <a:cubicBezTo>
                    <a:pt x="4989" y="4941"/>
                    <a:pt x="4918" y="4822"/>
                    <a:pt x="4858" y="4703"/>
                  </a:cubicBezTo>
                  <a:cubicBezTo>
                    <a:pt x="4829" y="4634"/>
                    <a:pt x="4751" y="4590"/>
                    <a:pt x="4677" y="4590"/>
                  </a:cubicBezTo>
                  <a:cubicBezTo>
                    <a:pt x="4662" y="4590"/>
                    <a:pt x="4647" y="4592"/>
                    <a:pt x="4632" y="4596"/>
                  </a:cubicBezTo>
                  <a:cubicBezTo>
                    <a:pt x="4537" y="4632"/>
                    <a:pt x="4501" y="4739"/>
                    <a:pt x="4525" y="4822"/>
                  </a:cubicBezTo>
                  <a:cubicBezTo>
                    <a:pt x="4596" y="4989"/>
                    <a:pt x="4692" y="5132"/>
                    <a:pt x="4823" y="5275"/>
                  </a:cubicBezTo>
                  <a:cubicBezTo>
                    <a:pt x="5073" y="5525"/>
                    <a:pt x="5418" y="5679"/>
                    <a:pt x="5775" y="5679"/>
                  </a:cubicBezTo>
                  <a:cubicBezTo>
                    <a:pt x="6132" y="5679"/>
                    <a:pt x="6478" y="5537"/>
                    <a:pt x="6728" y="5275"/>
                  </a:cubicBezTo>
                  <a:lnTo>
                    <a:pt x="9692" y="2310"/>
                  </a:lnTo>
                  <a:cubicBezTo>
                    <a:pt x="9942" y="2060"/>
                    <a:pt x="10097" y="1715"/>
                    <a:pt x="10097" y="1357"/>
                  </a:cubicBezTo>
                  <a:cubicBezTo>
                    <a:pt x="10097" y="1000"/>
                    <a:pt x="9954" y="655"/>
                    <a:pt x="9692" y="405"/>
                  </a:cubicBezTo>
                  <a:cubicBezTo>
                    <a:pt x="9442" y="155"/>
                    <a:pt x="9097" y="0"/>
                    <a:pt x="874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Google Shape;10946;p64"/>
            <p:cNvSpPr/>
            <p:nvPr/>
          </p:nvSpPr>
          <p:spPr>
            <a:xfrm>
              <a:off x="6705588" y="3808035"/>
              <a:ext cx="321744" cy="313787"/>
            </a:xfrm>
            <a:custGeom>
              <a:avLst/>
              <a:gdLst/>
              <a:ahLst/>
              <a:cxnLst/>
              <a:rect l="l" t="t" r="r" b="b"/>
              <a:pathLst>
                <a:path w="10109" h="9859" extrusionOk="0">
                  <a:moveTo>
                    <a:pt x="7281" y="1"/>
                  </a:moveTo>
                  <a:cubicBezTo>
                    <a:pt x="6623" y="1"/>
                    <a:pt x="5965" y="251"/>
                    <a:pt x="5465" y="751"/>
                  </a:cubicBezTo>
                  <a:lnTo>
                    <a:pt x="3894" y="2322"/>
                  </a:lnTo>
                  <a:cubicBezTo>
                    <a:pt x="3810" y="2406"/>
                    <a:pt x="3810" y="2501"/>
                    <a:pt x="3894" y="2584"/>
                  </a:cubicBezTo>
                  <a:cubicBezTo>
                    <a:pt x="3929" y="2620"/>
                    <a:pt x="3974" y="2638"/>
                    <a:pt x="4019" y="2638"/>
                  </a:cubicBezTo>
                  <a:cubicBezTo>
                    <a:pt x="4063" y="2638"/>
                    <a:pt x="4108" y="2620"/>
                    <a:pt x="4144" y="2584"/>
                  </a:cubicBezTo>
                  <a:lnTo>
                    <a:pt x="5715" y="1001"/>
                  </a:lnTo>
                  <a:cubicBezTo>
                    <a:pt x="6150" y="572"/>
                    <a:pt x="6715" y="358"/>
                    <a:pt x="7281" y="358"/>
                  </a:cubicBezTo>
                  <a:cubicBezTo>
                    <a:pt x="7846" y="358"/>
                    <a:pt x="8412" y="572"/>
                    <a:pt x="8847" y="1001"/>
                  </a:cubicBezTo>
                  <a:cubicBezTo>
                    <a:pt x="9704" y="1870"/>
                    <a:pt x="9704" y="3263"/>
                    <a:pt x="8847" y="4132"/>
                  </a:cubicBezTo>
                  <a:lnTo>
                    <a:pt x="5882" y="7085"/>
                  </a:lnTo>
                  <a:cubicBezTo>
                    <a:pt x="5465" y="7501"/>
                    <a:pt x="4918" y="7740"/>
                    <a:pt x="4322" y="7740"/>
                  </a:cubicBezTo>
                  <a:cubicBezTo>
                    <a:pt x="3727" y="7740"/>
                    <a:pt x="3179" y="7525"/>
                    <a:pt x="2763" y="7085"/>
                  </a:cubicBezTo>
                  <a:cubicBezTo>
                    <a:pt x="2524" y="6847"/>
                    <a:pt x="2322" y="6549"/>
                    <a:pt x="2227" y="6227"/>
                  </a:cubicBezTo>
                  <a:lnTo>
                    <a:pt x="3620" y="4823"/>
                  </a:lnTo>
                  <a:cubicBezTo>
                    <a:pt x="3810" y="4632"/>
                    <a:pt x="4048" y="4525"/>
                    <a:pt x="4322" y="4525"/>
                  </a:cubicBezTo>
                  <a:cubicBezTo>
                    <a:pt x="4584" y="4525"/>
                    <a:pt x="4846" y="4632"/>
                    <a:pt x="5025" y="4823"/>
                  </a:cubicBezTo>
                  <a:cubicBezTo>
                    <a:pt x="5108" y="4918"/>
                    <a:pt x="5179" y="5037"/>
                    <a:pt x="5239" y="5156"/>
                  </a:cubicBezTo>
                  <a:cubicBezTo>
                    <a:pt x="5269" y="5225"/>
                    <a:pt x="5347" y="5269"/>
                    <a:pt x="5420" y="5269"/>
                  </a:cubicBezTo>
                  <a:cubicBezTo>
                    <a:pt x="5435" y="5269"/>
                    <a:pt x="5451" y="5267"/>
                    <a:pt x="5465" y="5263"/>
                  </a:cubicBezTo>
                  <a:cubicBezTo>
                    <a:pt x="5560" y="5227"/>
                    <a:pt x="5596" y="5120"/>
                    <a:pt x="5572" y="5037"/>
                  </a:cubicBezTo>
                  <a:cubicBezTo>
                    <a:pt x="5501" y="4870"/>
                    <a:pt x="5406" y="4727"/>
                    <a:pt x="5275" y="4584"/>
                  </a:cubicBezTo>
                  <a:cubicBezTo>
                    <a:pt x="5025" y="4334"/>
                    <a:pt x="4679" y="4192"/>
                    <a:pt x="4322" y="4192"/>
                  </a:cubicBezTo>
                  <a:cubicBezTo>
                    <a:pt x="3965" y="4192"/>
                    <a:pt x="3620" y="4322"/>
                    <a:pt x="3370" y="4584"/>
                  </a:cubicBezTo>
                  <a:lnTo>
                    <a:pt x="1929" y="6037"/>
                  </a:lnTo>
                  <a:cubicBezTo>
                    <a:pt x="1893" y="6049"/>
                    <a:pt x="1881" y="6061"/>
                    <a:pt x="1870" y="6097"/>
                  </a:cubicBezTo>
                  <a:lnTo>
                    <a:pt x="405" y="7549"/>
                  </a:lnTo>
                  <a:cubicBezTo>
                    <a:pt x="155" y="7799"/>
                    <a:pt x="0" y="8144"/>
                    <a:pt x="0" y="8502"/>
                  </a:cubicBezTo>
                  <a:cubicBezTo>
                    <a:pt x="0" y="8859"/>
                    <a:pt x="143" y="9204"/>
                    <a:pt x="405" y="9454"/>
                  </a:cubicBezTo>
                  <a:cubicBezTo>
                    <a:pt x="655" y="9704"/>
                    <a:pt x="1000" y="9859"/>
                    <a:pt x="1358" y="9859"/>
                  </a:cubicBezTo>
                  <a:cubicBezTo>
                    <a:pt x="1715" y="9859"/>
                    <a:pt x="2060" y="9728"/>
                    <a:pt x="2310" y="9454"/>
                  </a:cubicBezTo>
                  <a:lnTo>
                    <a:pt x="3251" y="8513"/>
                  </a:lnTo>
                  <a:cubicBezTo>
                    <a:pt x="3322" y="8442"/>
                    <a:pt x="3322" y="8335"/>
                    <a:pt x="3251" y="8263"/>
                  </a:cubicBezTo>
                  <a:cubicBezTo>
                    <a:pt x="3215" y="8228"/>
                    <a:pt x="3170" y="8210"/>
                    <a:pt x="3126" y="8210"/>
                  </a:cubicBezTo>
                  <a:cubicBezTo>
                    <a:pt x="3081" y="8210"/>
                    <a:pt x="3036" y="8228"/>
                    <a:pt x="3001" y="8263"/>
                  </a:cubicBezTo>
                  <a:lnTo>
                    <a:pt x="2060" y="9204"/>
                  </a:lnTo>
                  <a:cubicBezTo>
                    <a:pt x="1870" y="9395"/>
                    <a:pt x="1631" y="9502"/>
                    <a:pt x="1358" y="9502"/>
                  </a:cubicBezTo>
                  <a:cubicBezTo>
                    <a:pt x="1096" y="9502"/>
                    <a:pt x="834" y="9395"/>
                    <a:pt x="655" y="9204"/>
                  </a:cubicBezTo>
                  <a:cubicBezTo>
                    <a:pt x="465" y="9014"/>
                    <a:pt x="357" y="8775"/>
                    <a:pt x="357" y="8502"/>
                  </a:cubicBezTo>
                  <a:cubicBezTo>
                    <a:pt x="357" y="8240"/>
                    <a:pt x="465" y="7978"/>
                    <a:pt x="655" y="7799"/>
                  </a:cubicBezTo>
                  <a:lnTo>
                    <a:pt x="1941" y="6525"/>
                  </a:lnTo>
                  <a:cubicBezTo>
                    <a:pt x="2072" y="6835"/>
                    <a:pt x="2251" y="7120"/>
                    <a:pt x="2501" y="7370"/>
                  </a:cubicBezTo>
                  <a:cubicBezTo>
                    <a:pt x="2989" y="7859"/>
                    <a:pt x="3632" y="8132"/>
                    <a:pt x="4322" y="8132"/>
                  </a:cubicBezTo>
                  <a:cubicBezTo>
                    <a:pt x="5001" y="8132"/>
                    <a:pt x="5644" y="7859"/>
                    <a:pt x="6132" y="7370"/>
                  </a:cubicBezTo>
                  <a:lnTo>
                    <a:pt x="9097" y="4406"/>
                  </a:lnTo>
                  <a:cubicBezTo>
                    <a:pt x="10109" y="3382"/>
                    <a:pt x="10109" y="1751"/>
                    <a:pt x="9097" y="751"/>
                  </a:cubicBezTo>
                  <a:cubicBezTo>
                    <a:pt x="8597" y="251"/>
                    <a:pt x="7939" y="1"/>
                    <a:pt x="728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Ορθογώνιο 5"/>
          <p:cNvSpPr/>
          <p:nvPr/>
        </p:nvSpPr>
        <p:spPr>
          <a:xfrm>
            <a:off x="1059883" y="2998125"/>
            <a:ext cx="7024233" cy="69324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Συχνά εμφανίζεται ως </a:t>
            </a:r>
            <a:r>
              <a:rPr lang="el-GR" sz="20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υποπρόβλημα</a:t>
            </a: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στον πυρήνα </a:t>
            </a:r>
            <a:b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πιο σύνθετων προβλημάτων.</a:t>
            </a:r>
          </a:p>
        </p:txBody>
      </p:sp>
      <p:sp>
        <p:nvSpPr>
          <p:cNvPr id="7" name="Ορθογώνιο 6"/>
          <p:cNvSpPr/>
          <p:nvPr/>
        </p:nvSpPr>
        <p:spPr>
          <a:xfrm>
            <a:off x="227249" y="2694843"/>
            <a:ext cx="11560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el-GR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Karp</a:t>
            </a:r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1972) </a:t>
            </a:r>
            <a:endParaRPr lang="el-GR" dirty="0">
              <a:solidFill>
                <a:schemeClr val="tx1">
                  <a:lumMod val="10000"/>
                </a:schemeClr>
              </a:solidFill>
            </a:endParaRPr>
          </a:p>
        </p:txBody>
      </p:sp>
      <p:sp>
        <p:nvSpPr>
          <p:cNvPr id="8" name="Ορθογώνιο 7"/>
          <p:cNvSpPr/>
          <p:nvPr/>
        </p:nvSpPr>
        <p:spPr>
          <a:xfrm>
            <a:off x="2268999" y="3813079"/>
            <a:ext cx="457161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el-GR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Martello</a:t>
            </a:r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&amp; </a:t>
            </a:r>
            <a:r>
              <a:rPr lang="en-GB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Toth</a:t>
            </a:r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1990; </a:t>
            </a:r>
            <a:r>
              <a:rPr lang="en-GB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Kellerer</a:t>
            </a:r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GB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Pferschy</a:t>
            </a:r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&amp; </a:t>
            </a:r>
            <a:r>
              <a:rPr lang="en-GB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Pisinger</a:t>
            </a:r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2004) </a:t>
            </a:r>
            <a:endParaRPr lang="el-GR" dirty="0">
              <a:solidFill>
                <a:schemeClr val="tx1">
                  <a:lumMod val="1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29"/>
          <p:cNvSpPr txBox="1">
            <a:spLocks noGrp="1"/>
          </p:cNvSpPr>
          <p:nvPr>
            <p:ph type="title"/>
          </p:nvPr>
        </p:nvSpPr>
        <p:spPr>
          <a:xfrm>
            <a:off x="0" y="230110"/>
            <a:ext cx="9144000" cy="52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/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Εφαρμογές (2)</a:t>
            </a:r>
            <a:endParaRPr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1" name="Google Shape;971;p29"/>
          <p:cNvSpPr txBox="1"/>
          <p:nvPr/>
        </p:nvSpPr>
        <p:spPr>
          <a:xfrm>
            <a:off x="782851" y="935840"/>
            <a:ext cx="7578300" cy="2677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Βιομηχανία μεταφορών, πλοία, τρένα, αεροσκάφη ή φορτηγά.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Ενοποίηση και αποστολή φορτίων με μεγάλη συχνότητα, για να διατηρηθούν σύντομοι χρόνοι.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Τα σταθερά χρονοδιαγράμματα ή οι δεσμεύσεις των πελατών οδηγούν σε προθεσμίες.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Η πίεση για την αύξηση της χρήσης του εξοπλισμού και της εργασίας και να διατηρηθεί ένα υψηλό επίπεδο εξυπηρέτησης των πελατών, οδηγούν σε κόστος αναμονής ανά μονάδα χρόνου.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Τα αντικείμενα συνδέονται με απαιτήσεις πόρων καθώς και με ανταμοιβές.</a:t>
            </a:r>
          </a:p>
        </p:txBody>
      </p:sp>
      <p:grpSp>
        <p:nvGrpSpPr>
          <p:cNvPr id="974" name="Google Shape;974;p29"/>
          <p:cNvGrpSpPr/>
          <p:nvPr/>
        </p:nvGrpSpPr>
        <p:grpSpPr>
          <a:xfrm>
            <a:off x="1611150" y="665127"/>
            <a:ext cx="5921700" cy="192184"/>
            <a:chOff x="902597" y="1069304"/>
            <a:chExt cx="5921700" cy="192184"/>
          </a:xfrm>
        </p:grpSpPr>
        <p:grpSp>
          <p:nvGrpSpPr>
            <p:cNvPr id="975" name="Google Shape;975;p29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976" name="Google Shape;976;p29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77" name="Google Shape;977;p29"/>
              <p:cNvCxnSpPr>
                <a:stCxn id="978" idx="6"/>
                <a:endCxn id="979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79" name="Google Shape;979;p29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78" name="Google Shape;978;p29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Ορθογώνιο 1"/>
          <p:cNvSpPr/>
          <p:nvPr/>
        </p:nvSpPr>
        <p:spPr>
          <a:xfrm>
            <a:off x="782851" y="3837830"/>
            <a:ext cx="7578300" cy="78205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Τα προβλήματα γενικής φύσης ονομάζονται Δυναμικό και Στοχαστικό Πρόβλημα Σακιδίου (</a:t>
            </a:r>
            <a:r>
              <a:rPr lang="el-GR" sz="20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l-GR" sz="20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Stochastic</a:t>
            </a: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20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Knapsack</a:t>
            </a: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20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</p:txBody>
      </p:sp>
      <p:sp>
        <p:nvSpPr>
          <p:cNvPr id="3" name="Ορθογώνιο 2"/>
          <p:cNvSpPr/>
          <p:nvPr/>
        </p:nvSpPr>
        <p:spPr>
          <a:xfrm>
            <a:off x="7307408" y="3518021"/>
            <a:ext cx="15456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(</a:t>
            </a:r>
            <a:r>
              <a:rPr lang="en-US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Gu</a:t>
            </a:r>
            <a:r>
              <a:rPr 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&amp; </a:t>
            </a:r>
            <a:r>
              <a:rPr lang="en-US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Hao</a:t>
            </a:r>
            <a:r>
              <a:rPr 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, 2018)</a:t>
            </a:r>
            <a:endParaRPr lang="el-GR"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4201580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782849" y="153761"/>
            <a:ext cx="7578300" cy="523200"/>
          </a:xfrm>
        </p:spPr>
        <p:txBody>
          <a:bodyPr/>
          <a:lstStyle/>
          <a:p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Βελτιστοποίησης ενός στόχου (1)</a:t>
            </a:r>
          </a:p>
        </p:txBody>
      </p:sp>
      <p:graphicFrame>
        <p:nvGraphicFramePr>
          <p:cNvPr id="6" name="Πίνακας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867740"/>
              </p:ext>
            </p:extLst>
          </p:nvPr>
        </p:nvGraphicFramePr>
        <p:xfrm>
          <a:off x="607593" y="676961"/>
          <a:ext cx="7928811" cy="4399630"/>
        </p:xfrm>
        <a:graphic>
          <a:graphicData uri="http://schemas.openxmlformats.org/drawingml/2006/table">
            <a:tbl>
              <a:tblPr>
                <a:tableStyleId>{ECCDC6F9-9CED-40D5-A569-A2F5D344B805}</a:tableStyleId>
              </a:tblPr>
              <a:tblGrid>
                <a:gridCol w="2843518">
                  <a:extLst>
                    <a:ext uri="{9D8B030D-6E8A-4147-A177-3AD203B41FA5}">
                      <a16:colId xmlns:a16="http://schemas.microsoft.com/office/drawing/2014/main" val="2422261528"/>
                    </a:ext>
                  </a:extLst>
                </a:gridCol>
                <a:gridCol w="5085293">
                  <a:extLst>
                    <a:ext uri="{9D8B030D-6E8A-4147-A177-3AD203B41FA5}">
                      <a16:colId xmlns:a16="http://schemas.microsoft.com/office/drawing/2014/main" val="1532924089"/>
                    </a:ext>
                  </a:extLst>
                </a:gridCol>
              </a:tblGrid>
              <a:tr h="75332">
                <a:tc>
                  <a:txBody>
                    <a:bodyPr/>
                    <a:lstStyle/>
                    <a:p>
                      <a:pPr algn="l" fontAlgn="b"/>
                      <a:r>
                        <a:rPr lang="el-GR" sz="2000" b="1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Μελετητές</a:t>
                      </a:r>
                      <a:endParaRPr lang="el-GR" sz="2000" b="1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7" marR="3767" marT="376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000" b="1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Μελέτη</a:t>
                      </a:r>
                      <a:endParaRPr lang="el-GR" sz="2000" b="1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7" marR="3767" marT="3767" marB="0" anchor="b"/>
                </a:tc>
                <a:extLst>
                  <a:ext uri="{0D108BD9-81ED-4DB2-BD59-A6C34878D82A}">
                    <a16:rowId xmlns:a16="http://schemas.microsoft.com/office/drawing/2014/main" val="1399959582"/>
                  </a:ext>
                </a:extLst>
              </a:tr>
              <a:tr h="818474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Roy et al., 2020</a:t>
                      </a:r>
                      <a:endParaRPr lang="en-US" sz="16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7" marR="3767" marT="376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Υβριδικά μοντέλα προσαρμοστικού νευροασαφούς συστήματος συμπερασμάτων-εξελικτικούς αλγόριθμους (ANFIS-EA).</a:t>
                      </a:r>
                      <a:endParaRPr lang="el-GR" sz="16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7" marR="3767" marT="3767" marB="0" anchor="b"/>
                </a:tc>
                <a:extLst>
                  <a:ext uri="{0D108BD9-81ED-4DB2-BD59-A6C34878D82A}">
                    <a16:rowId xmlns:a16="http://schemas.microsoft.com/office/drawing/2014/main" val="2126866792"/>
                  </a:ext>
                </a:extLst>
              </a:tr>
              <a:tr h="67376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Barakat</a:t>
                      </a:r>
                      <a:r>
                        <a:rPr lang="en-US" sz="16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Ibrahim &amp; </a:t>
                      </a:r>
                      <a:r>
                        <a:rPr lang="en-US" sz="1600" u="none" strike="noStrike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Elbaset</a:t>
                      </a:r>
                      <a:r>
                        <a:rPr lang="en-US" sz="16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2020</a:t>
                      </a:r>
                      <a:endParaRPr lang="en-US" sz="16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7" marR="3767" marT="376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Βελτιστοποίηση πολλαπλών στόχων υβριδικού συστήματος </a:t>
                      </a:r>
                      <a:r>
                        <a:rPr lang="el-GR" sz="1600" u="none" strike="noStrike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φωτοβολταϊκού</a:t>
                      </a:r>
                      <a:r>
                        <a:rPr lang="el-GR" sz="16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-αιολικού συνδεδεμένου στο δίκτυο .</a:t>
                      </a:r>
                      <a:endParaRPr lang="el-GR" sz="16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7" marR="3767" marT="3767" marB="0" anchor="b"/>
                </a:tc>
                <a:extLst>
                  <a:ext uri="{0D108BD9-81ED-4DB2-BD59-A6C34878D82A}">
                    <a16:rowId xmlns:a16="http://schemas.microsoft.com/office/drawing/2014/main" val="544269307"/>
                  </a:ext>
                </a:extLst>
              </a:tr>
              <a:tr h="505327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Dorigo, Birattari &amp; Thomas, 2006</a:t>
                      </a:r>
                      <a:endParaRPr lang="en-US" sz="16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7" marR="3767" marT="376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Βελτιστοποίηση αποικίας μυρμηγκιών (</a:t>
                      </a:r>
                      <a:r>
                        <a:rPr lang="en-US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ACO).</a:t>
                      </a:r>
                      <a:endParaRPr lang="en-US" sz="16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7" marR="3767" marT="3767" marB="0" anchor="b"/>
                </a:tc>
                <a:extLst>
                  <a:ext uri="{0D108BD9-81ED-4DB2-BD59-A6C34878D82A}">
                    <a16:rowId xmlns:a16="http://schemas.microsoft.com/office/drawing/2014/main" val="1005524385"/>
                  </a:ext>
                </a:extLst>
              </a:tr>
              <a:tr h="48126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Mezura-Montes &amp; Coello, 2005</a:t>
                      </a:r>
                      <a:endParaRPr lang="en-US" sz="16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7" marR="3767" marT="376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Στρατηγική εξέλιξης (</a:t>
                      </a:r>
                      <a:r>
                        <a:rPr lang="en-US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ES).</a:t>
                      </a:r>
                      <a:endParaRPr lang="en-US" sz="16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7" marR="3767" marT="3767" marB="0" anchor="b"/>
                </a:tc>
                <a:extLst>
                  <a:ext uri="{0D108BD9-81ED-4DB2-BD59-A6C34878D82A}">
                    <a16:rowId xmlns:a16="http://schemas.microsoft.com/office/drawing/2014/main" val="1833925066"/>
                  </a:ext>
                </a:extLst>
              </a:tr>
              <a:tr h="70986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Reddy &amp; Kumar, 2021; </a:t>
                      </a:r>
                      <a:br>
                        <a:rPr lang="el-GR" sz="16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u="none" strike="noStrike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Coelloe</a:t>
                      </a:r>
                      <a:r>
                        <a:rPr lang="en-US" sz="16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Pulido &amp; </a:t>
                      </a:r>
                      <a:r>
                        <a:rPr lang="en-US" sz="1600" u="none" strike="noStrike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Lechuga</a:t>
                      </a:r>
                      <a:r>
                        <a:rPr lang="en-US" sz="16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2004</a:t>
                      </a:r>
                      <a:endParaRPr lang="en-US" sz="16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7" marR="3767" marT="376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Βελτιστοποίηση σμήνος σωματιδίων (</a:t>
                      </a:r>
                      <a:r>
                        <a:rPr lang="en-US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PSO).</a:t>
                      </a:r>
                      <a:endParaRPr lang="en-US" sz="16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7" marR="3767" marT="3767" marB="0" anchor="b"/>
                </a:tc>
                <a:extLst>
                  <a:ext uri="{0D108BD9-81ED-4DB2-BD59-A6C34878D82A}">
                    <a16:rowId xmlns:a16="http://schemas.microsoft.com/office/drawing/2014/main" val="3091418669"/>
                  </a:ext>
                </a:extLst>
              </a:tr>
              <a:tr h="433137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Deb et al., 2002</a:t>
                      </a:r>
                      <a:endParaRPr lang="en-US" sz="16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7" marR="3767" marT="376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Γενετικός αλγόριθμος.</a:t>
                      </a:r>
                      <a:endParaRPr lang="el-GR" sz="16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7" marR="3767" marT="3767" marB="0" anchor="b"/>
                </a:tc>
                <a:extLst>
                  <a:ext uri="{0D108BD9-81ED-4DB2-BD59-A6C34878D82A}">
                    <a16:rowId xmlns:a16="http://schemas.microsoft.com/office/drawing/2014/main" val="1648675831"/>
                  </a:ext>
                </a:extLst>
              </a:tr>
              <a:tr h="469231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Mugambi &amp; Hunter, 2003</a:t>
                      </a:r>
                      <a:endParaRPr lang="en-US" sz="16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7" marR="3767" marT="376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Γενετικός προγραμματισμός (</a:t>
                      </a:r>
                      <a:r>
                        <a:rPr lang="en-US" sz="16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GP).</a:t>
                      </a:r>
                      <a:endParaRPr lang="en-US" sz="16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7" marR="3767" marT="3767" marB="0" anchor="b"/>
                </a:tc>
                <a:extLst>
                  <a:ext uri="{0D108BD9-81ED-4DB2-BD59-A6C34878D82A}">
                    <a16:rowId xmlns:a16="http://schemas.microsoft.com/office/drawing/2014/main" val="2307284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8721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782849" y="153761"/>
            <a:ext cx="7578300" cy="523200"/>
          </a:xfrm>
        </p:spPr>
        <p:txBody>
          <a:bodyPr/>
          <a:lstStyle/>
          <a:p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Βελτιστοποίησης ενός στόχου (2)</a:t>
            </a:r>
          </a:p>
        </p:txBody>
      </p:sp>
      <p:graphicFrame>
        <p:nvGraphicFramePr>
          <p:cNvPr id="3" name="Πίνακας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002813"/>
              </p:ext>
            </p:extLst>
          </p:nvPr>
        </p:nvGraphicFramePr>
        <p:xfrm>
          <a:off x="668151" y="770020"/>
          <a:ext cx="7807695" cy="4186990"/>
        </p:xfrm>
        <a:graphic>
          <a:graphicData uri="http://schemas.openxmlformats.org/drawingml/2006/table">
            <a:tbl>
              <a:tblPr>
                <a:tableStyleId>{ECCDC6F9-9CED-40D5-A569-A2F5D344B805}</a:tableStyleId>
              </a:tblPr>
              <a:tblGrid>
                <a:gridCol w="2382251">
                  <a:extLst>
                    <a:ext uri="{9D8B030D-6E8A-4147-A177-3AD203B41FA5}">
                      <a16:colId xmlns:a16="http://schemas.microsoft.com/office/drawing/2014/main" val="98816771"/>
                    </a:ext>
                  </a:extLst>
                </a:gridCol>
                <a:gridCol w="5425444">
                  <a:extLst>
                    <a:ext uri="{9D8B030D-6E8A-4147-A177-3AD203B41FA5}">
                      <a16:colId xmlns:a16="http://schemas.microsoft.com/office/drawing/2014/main" val="4085373753"/>
                    </a:ext>
                  </a:extLst>
                </a:gridCol>
              </a:tblGrid>
              <a:tr h="378494">
                <a:tc>
                  <a:txBody>
                    <a:bodyPr/>
                    <a:lstStyle/>
                    <a:p>
                      <a:pPr algn="l" fontAlgn="b"/>
                      <a:r>
                        <a:rPr lang="el-GR" sz="2000" b="1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Μελετητές</a:t>
                      </a:r>
                      <a:endParaRPr lang="el-GR" sz="2000" b="1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10" marR="3310" marT="33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000" b="1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Μελέτη</a:t>
                      </a:r>
                      <a:endParaRPr lang="el-GR" sz="2000" b="1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10" marR="3310" marT="3310" marB="0" anchor="b"/>
                </a:tc>
                <a:extLst>
                  <a:ext uri="{0D108BD9-81ED-4DB2-BD59-A6C34878D82A}">
                    <a16:rowId xmlns:a16="http://schemas.microsoft.com/office/drawing/2014/main" val="644030391"/>
                  </a:ext>
                </a:extLst>
              </a:tr>
              <a:tr h="37297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Fonseca &amp; Fleming, 1995</a:t>
                      </a:r>
                      <a:endParaRPr lang="en-US" sz="16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10" marR="3310" marT="33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Εξελικτικός προγραμματισμός (</a:t>
                      </a:r>
                      <a:r>
                        <a:rPr lang="en-US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EP).</a:t>
                      </a:r>
                      <a:endParaRPr lang="en-US" sz="16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10" marR="3310" marT="3310" marB="0" anchor="b"/>
                </a:tc>
                <a:extLst>
                  <a:ext uri="{0D108BD9-81ED-4DB2-BD59-A6C34878D82A}">
                    <a16:rowId xmlns:a16="http://schemas.microsoft.com/office/drawing/2014/main" val="917983899"/>
                  </a:ext>
                </a:extLst>
              </a:tr>
              <a:tr h="32485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Storn &amp; Price, 1995</a:t>
                      </a:r>
                      <a:endParaRPr lang="en-US" sz="16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10" marR="3310" marT="33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Διαφορική εξέλιξη (</a:t>
                      </a:r>
                      <a:r>
                        <a:rPr lang="en-US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DE).</a:t>
                      </a:r>
                      <a:endParaRPr lang="en-US" sz="16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10" marR="3310" marT="3310" marB="0" anchor="b"/>
                </a:tc>
                <a:extLst>
                  <a:ext uri="{0D108BD9-81ED-4DB2-BD59-A6C34878D82A}">
                    <a16:rowId xmlns:a16="http://schemas.microsoft.com/office/drawing/2014/main" val="1933963888"/>
                  </a:ext>
                </a:extLst>
              </a:tr>
              <a:tr h="577516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Eita &amp; Fahmy, 2010; </a:t>
                      </a:r>
                      <a:br>
                        <a:rPr lang="el-GR" sz="16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pt-BR" sz="16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 &amp; Khan, 2013</a:t>
                      </a:r>
                      <a:endParaRPr lang="pt-BR" sz="16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10" marR="3310" marT="33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Βελτιστοποιητής ομαδικής συμβουλευτικής.</a:t>
                      </a:r>
                      <a:endParaRPr lang="el-GR" sz="16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10" marR="3310" marT="3310" marB="0" anchor="b"/>
                </a:tc>
                <a:extLst>
                  <a:ext uri="{0D108BD9-81ED-4DB2-BD59-A6C34878D82A}">
                    <a16:rowId xmlns:a16="http://schemas.microsoft.com/office/drawing/2014/main" val="269344547"/>
                  </a:ext>
                </a:extLst>
              </a:tr>
              <a:tr h="589547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 &amp; Khan, 2012</a:t>
                      </a:r>
                      <a:endParaRPr lang="en-US" sz="16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10" marR="3310" marT="33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Ολοκληρωμένος γενετικός αλγόριθμος με βάση την επιλογή γονέων (CPSGA).</a:t>
                      </a:r>
                      <a:endParaRPr lang="el-GR" sz="16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10" marR="3310" marT="3310" marB="0" anchor="b"/>
                </a:tc>
                <a:extLst>
                  <a:ext uri="{0D108BD9-81ED-4DB2-BD59-A6C34878D82A}">
                    <a16:rowId xmlns:a16="http://schemas.microsoft.com/office/drawing/2014/main" val="4259355299"/>
                  </a:ext>
                </a:extLst>
              </a:tr>
              <a:tr h="34891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Masadeh, 2021</a:t>
                      </a:r>
                      <a:endParaRPr lang="en-US" sz="16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10" marR="3310" marT="33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Αλγόριθμος βελτιστοποίησης φαλαινών.</a:t>
                      </a:r>
                      <a:endParaRPr lang="el-GR" sz="16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10" marR="3310" marT="3310" marB="0" anchor="b"/>
                </a:tc>
                <a:extLst>
                  <a:ext uri="{0D108BD9-81ED-4DB2-BD59-A6C34878D82A}">
                    <a16:rowId xmlns:a16="http://schemas.microsoft.com/office/drawing/2014/main" val="2977541999"/>
                  </a:ext>
                </a:extLst>
              </a:tr>
              <a:tr h="37297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 et al., 2021</a:t>
                      </a:r>
                      <a:endParaRPr lang="en-US" sz="16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10" marR="3310" marT="33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Αλγόριθμος βελτιστοποίησης δυαδικού σμήνου σωματιδίων.</a:t>
                      </a:r>
                      <a:endParaRPr lang="el-GR" sz="16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10" marR="3310" marT="3310" marB="0" anchor="b"/>
                </a:tc>
                <a:extLst>
                  <a:ext uri="{0D108BD9-81ED-4DB2-BD59-A6C34878D82A}">
                    <a16:rowId xmlns:a16="http://schemas.microsoft.com/office/drawing/2014/main" val="3199556393"/>
                  </a:ext>
                </a:extLst>
              </a:tr>
              <a:tr h="55345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Santoso et al., 2022</a:t>
                      </a:r>
                      <a:endParaRPr lang="en-US" sz="16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10" marR="3310" marT="33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Αλγόριθμος βελτιστοποίησης υβριδικού σμήνος σωματιδίων γάτας.</a:t>
                      </a:r>
                      <a:endParaRPr lang="el-GR" sz="16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10" marR="3310" marT="3310" marB="0" anchor="b"/>
                </a:tc>
                <a:extLst>
                  <a:ext uri="{0D108BD9-81ED-4DB2-BD59-A6C34878D82A}">
                    <a16:rowId xmlns:a16="http://schemas.microsoft.com/office/drawing/2014/main" val="1820853696"/>
                  </a:ext>
                </a:extLst>
              </a:tr>
              <a:tr h="312821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Abdollahzadeh et al., 2021</a:t>
                      </a:r>
                      <a:endParaRPr lang="en-US" sz="16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10" marR="3310" marT="33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Ενισχυμένος αλγόριθμος δυαδικού καλουπιού slime.</a:t>
                      </a:r>
                      <a:endParaRPr lang="el-GR" sz="16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10" marR="3310" marT="3310" marB="0" anchor="b"/>
                </a:tc>
                <a:extLst>
                  <a:ext uri="{0D108BD9-81ED-4DB2-BD59-A6C34878D82A}">
                    <a16:rowId xmlns:a16="http://schemas.microsoft.com/office/drawing/2014/main" val="3833919543"/>
                  </a:ext>
                </a:extLst>
              </a:tr>
              <a:tr h="355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Singh, 2011</a:t>
                      </a:r>
                      <a:endParaRPr lang="en-US" sz="16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10" marR="3310" marT="33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Πρόβλημα σακιδίου με χρήση γενετικού αλγόριθμου.</a:t>
                      </a:r>
                      <a:endParaRPr lang="el-GR" sz="16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10" marR="3310" marT="3310" marB="0" anchor="b"/>
                </a:tc>
                <a:extLst>
                  <a:ext uri="{0D108BD9-81ED-4DB2-BD59-A6C34878D82A}">
                    <a16:rowId xmlns:a16="http://schemas.microsoft.com/office/drawing/2014/main" val="36476980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6843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32"/>
          <p:cNvSpPr txBox="1">
            <a:spLocks noGrp="1"/>
          </p:cNvSpPr>
          <p:nvPr>
            <p:ph type="title"/>
          </p:nvPr>
        </p:nvSpPr>
        <p:spPr>
          <a:xfrm>
            <a:off x="782849" y="1013625"/>
            <a:ext cx="7350497" cy="984023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/>
            <a:r>
              <a:rPr lang="el-GR" sz="3000" b="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 Medium"/>
                <a:cs typeface="Times New Roman" panose="02020603050405020304" pitchFamily="18" charset="0"/>
                <a:sym typeface="Montserrat Medium"/>
              </a:rPr>
              <a:t>Το πρόβλημα του σακιδίου (KP) μπορεί να οριστεί επίσημα ως εξής: </a:t>
            </a:r>
            <a:endParaRPr sz="3000"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96" name="Google Shape;1096;p32"/>
          <p:cNvGrpSpPr/>
          <p:nvPr/>
        </p:nvGrpSpPr>
        <p:grpSpPr>
          <a:xfrm>
            <a:off x="4572000" y="169263"/>
            <a:ext cx="946675" cy="901375"/>
            <a:chOff x="4487300" y="227688"/>
            <a:chExt cx="946675" cy="901375"/>
          </a:xfrm>
        </p:grpSpPr>
        <p:grpSp>
          <p:nvGrpSpPr>
            <p:cNvPr id="1097" name="Google Shape;1097;p32"/>
            <p:cNvGrpSpPr/>
            <p:nvPr/>
          </p:nvGrpSpPr>
          <p:grpSpPr>
            <a:xfrm>
              <a:off x="5249800" y="345688"/>
              <a:ext cx="184175" cy="158025"/>
              <a:chOff x="-3626300" y="-1680825"/>
              <a:chExt cx="184175" cy="158025"/>
            </a:xfrm>
          </p:grpSpPr>
          <p:sp>
            <p:nvSpPr>
              <p:cNvPr id="1098" name="Google Shape;1098;p32"/>
              <p:cNvSpPr/>
              <p:nvPr/>
            </p:nvSpPr>
            <p:spPr>
              <a:xfrm>
                <a:off x="-3626300" y="-1680825"/>
                <a:ext cx="184175" cy="158025"/>
              </a:xfrm>
              <a:custGeom>
                <a:avLst/>
                <a:gdLst/>
                <a:ahLst/>
                <a:cxnLst/>
                <a:rect l="l" t="t" r="r" b="b"/>
                <a:pathLst>
                  <a:path w="7367" h="6321" extrusionOk="0">
                    <a:moveTo>
                      <a:pt x="4219" y="295"/>
                    </a:moveTo>
                    <a:cubicBezTo>
                      <a:pt x="5804" y="295"/>
                      <a:pt x="7087" y="1578"/>
                      <a:pt x="7087" y="3163"/>
                    </a:cubicBezTo>
                    <a:cubicBezTo>
                      <a:pt x="7087" y="4901"/>
                      <a:pt x="5670" y="6050"/>
                      <a:pt x="4190" y="6050"/>
                    </a:cubicBezTo>
                    <a:cubicBezTo>
                      <a:pt x="3484" y="6050"/>
                      <a:pt x="2764" y="5789"/>
                      <a:pt x="2177" y="5205"/>
                    </a:cubicBezTo>
                    <a:cubicBezTo>
                      <a:pt x="369" y="3386"/>
                      <a:pt x="1653" y="295"/>
                      <a:pt x="4219" y="295"/>
                    </a:cubicBezTo>
                    <a:close/>
                    <a:moveTo>
                      <a:pt x="4193" y="1"/>
                    </a:moveTo>
                    <a:cubicBezTo>
                      <a:pt x="3419" y="1"/>
                      <a:pt x="2630" y="289"/>
                      <a:pt x="1987" y="931"/>
                    </a:cubicBezTo>
                    <a:cubicBezTo>
                      <a:pt x="1" y="2928"/>
                      <a:pt x="1407" y="6321"/>
                      <a:pt x="4219" y="6321"/>
                    </a:cubicBezTo>
                    <a:cubicBezTo>
                      <a:pt x="5960" y="6321"/>
                      <a:pt x="7366" y="4904"/>
                      <a:pt x="7366" y="3163"/>
                    </a:cubicBezTo>
                    <a:cubicBezTo>
                      <a:pt x="7366" y="1260"/>
                      <a:pt x="5813" y="1"/>
                      <a:pt x="41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99" name="Google Shape;1099;p32"/>
              <p:cNvSpPr/>
              <p:nvPr/>
            </p:nvSpPr>
            <p:spPr>
              <a:xfrm>
                <a:off x="-3559050" y="-1636200"/>
                <a:ext cx="76175" cy="68900"/>
              </a:xfrm>
              <a:custGeom>
                <a:avLst/>
                <a:gdLst/>
                <a:ahLst/>
                <a:cxnLst/>
                <a:rect l="l" t="t" r="r" b="b"/>
                <a:pathLst>
                  <a:path w="3047" h="2756" extrusionOk="0">
                    <a:moveTo>
                      <a:pt x="1516" y="0"/>
                    </a:moveTo>
                    <a:cubicBezTo>
                      <a:pt x="891" y="0"/>
                      <a:pt x="331" y="427"/>
                      <a:pt x="179" y="1065"/>
                    </a:cubicBezTo>
                    <a:cubicBezTo>
                      <a:pt x="0" y="1802"/>
                      <a:pt x="469" y="2550"/>
                      <a:pt x="1206" y="2717"/>
                    </a:cubicBezTo>
                    <a:cubicBezTo>
                      <a:pt x="1315" y="2743"/>
                      <a:pt x="1424" y="2756"/>
                      <a:pt x="1531" y="2756"/>
                    </a:cubicBezTo>
                    <a:cubicBezTo>
                      <a:pt x="2157" y="2756"/>
                      <a:pt x="2716" y="2329"/>
                      <a:pt x="2868" y="1690"/>
                    </a:cubicBezTo>
                    <a:cubicBezTo>
                      <a:pt x="3047" y="954"/>
                      <a:pt x="2578" y="206"/>
                      <a:pt x="1842" y="39"/>
                    </a:cubicBezTo>
                    <a:cubicBezTo>
                      <a:pt x="1732" y="13"/>
                      <a:pt x="1623" y="0"/>
                      <a:pt x="15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00" name="Google Shape;1100;p32"/>
            <p:cNvGrpSpPr/>
            <p:nvPr/>
          </p:nvGrpSpPr>
          <p:grpSpPr>
            <a:xfrm>
              <a:off x="4487300" y="227688"/>
              <a:ext cx="716725" cy="901375"/>
              <a:chOff x="-3888525" y="-2483300"/>
              <a:chExt cx="716725" cy="901375"/>
            </a:xfrm>
          </p:grpSpPr>
          <p:sp>
            <p:nvSpPr>
              <p:cNvPr id="1101" name="Google Shape;1101;p32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02" name="Google Shape;1102;p32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103" name="Google Shape;1103;p32"/>
          <p:cNvGrpSpPr/>
          <p:nvPr/>
        </p:nvGrpSpPr>
        <p:grpSpPr>
          <a:xfrm>
            <a:off x="921470" y="1988723"/>
            <a:ext cx="3011003" cy="192185"/>
            <a:chOff x="4873322" y="2177404"/>
            <a:chExt cx="3011003" cy="192185"/>
          </a:xfrm>
        </p:grpSpPr>
        <p:sp>
          <p:nvSpPr>
            <p:cNvPr id="1104" name="Google Shape;1104;p32"/>
            <p:cNvSpPr/>
            <p:nvPr/>
          </p:nvSpPr>
          <p:spPr>
            <a:xfrm rot="-2700000" flipH="1">
              <a:off x="6184140" y="2205609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05" name="Google Shape;1105;p32"/>
            <p:cNvCxnSpPr>
              <a:stCxn id="1106" idx="6"/>
              <a:endCxn id="1107" idx="2"/>
            </p:cNvCxnSpPr>
            <p:nvPr/>
          </p:nvCxnSpPr>
          <p:spPr>
            <a:xfrm rot="10800000">
              <a:off x="4930225" y="2272525"/>
              <a:ext cx="2897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07" name="Google Shape;1107;p32"/>
            <p:cNvSpPr/>
            <p:nvPr/>
          </p:nvSpPr>
          <p:spPr>
            <a:xfrm flipH="1">
              <a:off x="487332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6" name="Google Shape;1106;p32"/>
            <p:cNvSpPr/>
            <p:nvPr/>
          </p:nvSpPr>
          <p:spPr>
            <a:xfrm flipH="1">
              <a:off x="7827325" y="2244025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3" name="Εικόνα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284" y="2296761"/>
            <a:ext cx="5381625" cy="1485900"/>
          </a:xfrm>
          <a:prstGeom prst="rect">
            <a:avLst/>
          </a:prstGeom>
        </p:spPr>
      </p:pic>
      <p:sp>
        <p:nvSpPr>
          <p:cNvPr id="4" name="Ορθογώνιο 3"/>
          <p:cNvSpPr/>
          <p:nvPr/>
        </p:nvSpPr>
        <p:spPr>
          <a:xfrm>
            <a:off x="782849" y="3966721"/>
            <a:ext cx="13660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en-US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Dantzig</a:t>
            </a:r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1957) </a:t>
            </a:r>
            <a:endParaRPr lang="el-GR" dirty="0">
              <a:solidFill>
                <a:schemeClr val="tx1">
                  <a:lumMod val="1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/>
      </p:transition>
    </mc:Choice>
    <mc:Fallback xmlns="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29"/>
          <p:cNvSpPr txBox="1">
            <a:spLocks noGrp="1"/>
          </p:cNvSpPr>
          <p:nvPr>
            <p:ph type="title"/>
          </p:nvPr>
        </p:nvSpPr>
        <p:spPr>
          <a:xfrm>
            <a:off x="0" y="230110"/>
            <a:ext cx="9144000" cy="52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/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Συμπεράσματα</a:t>
            </a:r>
            <a:endParaRPr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1" name="Google Shape;971;p29"/>
          <p:cNvSpPr txBox="1"/>
          <p:nvPr/>
        </p:nvSpPr>
        <p:spPr>
          <a:xfrm>
            <a:off x="270710" y="983966"/>
            <a:ext cx="8602579" cy="381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spAutoFit/>
          </a:bodyPr>
          <a:lstStyle/>
          <a:p>
            <a:pPr marL="171450" lvl="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Το πρόβλημα </a:t>
            </a:r>
            <a:r>
              <a:rPr lang="el-GR" sz="18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Knapsack</a:t>
            </a: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αποτελεί χαρακτηριστικό παράδειγμα συνδυαστικής πρόκλησης βελτιστοποίησης με μεγάλη πολυπλοκότητα.</a:t>
            </a:r>
          </a:p>
          <a:p>
            <a:pPr marL="171450" lvl="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Χαρακτηρίζεται από την αύξηση του χώρου λύσεων με το μέγεθος του προβλήματος.</a:t>
            </a:r>
          </a:p>
          <a:p>
            <a:pPr marL="171450" lvl="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Η βιβλιογραφία σχετικά με την πολυπλοκότητα του προβλήματος, εστιάζει στην ανάγκη για καινοτόμες τεχνικές, οι οποίες περιλαμβάνουν τον δυναμικό προγραμματισμό.</a:t>
            </a:r>
          </a:p>
          <a:p>
            <a:pPr marL="171450" lvl="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Οι πρακτικές εφαρμογές του </a:t>
            </a:r>
            <a:r>
              <a:rPr lang="el-GR" sz="18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Knapsack</a:t>
            </a: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καλύπτουν διάφορους τομείς, (οικονομικών, εφοδιαστικής, διαχείρισης πόρων και χρονοπρογραμματισμού).</a:t>
            </a:r>
          </a:p>
          <a:p>
            <a:pPr marL="171450" lvl="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Η συμβολή του στις διαδικασίες λήψης αποφάσεων σε όλους τους κλάδους, αναδεικνύει τη σημασία της εξεύρεσης αποτελεσματικών λύσεων βελτιστοποίησης. </a:t>
            </a:r>
          </a:p>
          <a:p>
            <a:pPr marL="171450" lvl="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Οι μελλοντικές προσπάθειες μπορούν να επικεντρωθούν στην βελτίωση των υφιστάμενων μεθοδολογιών, στη διερεύνηση υβριδικών προσεγγίσεων και στην προσαρμογή των λύσεων στα εξελισσόμενα τεχνολογικά τοπία.</a:t>
            </a:r>
          </a:p>
        </p:txBody>
      </p:sp>
      <p:grpSp>
        <p:nvGrpSpPr>
          <p:cNvPr id="974" name="Google Shape;974;p29"/>
          <p:cNvGrpSpPr/>
          <p:nvPr/>
        </p:nvGrpSpPr>
        <p:grpSpPr>
          <a:xfrm>
            <a:off x="1611150" y="665127"/>
            <a:ext cx="5921700" cy="192184"/>
            <a:chOff x="902597" y="1069304"/>
            <a:chExt cx="5921700" cy="192184"/>
          </a:xfrm>
        </p:grpSpPr>
        <p:grpSp>
          <p:nvGrpSpPr>
            <p:cNvPr id="975" name="Google Shape;975;p29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976" name="Google Shape;976;p29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77" name="Google Shape;977;p29"/>
              <p:cNvCxnSpPr>
                <a:stCxn id="978" idx="6"/>
                <a:endCxn id="979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79" name="Google Shape;979;p29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78" name="Google Shape;978;p29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99235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33"/>
          <p:cNvSpPr txBox="1">
            <a:spLocks noGrp="1"/>
          </p:cNvSpPr>
          <p:nvPr>
            <p:ph type="title"/>
          </p:nvPr>
        </p:nvSpPr>
        <p:spPr>
          <a:xfrm>
            <a:off x="3791747" y="802531"/>
            <a:ext cx="3946500" cy="1175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3" name="Google Shape;1113;p33"/>
          <p:cNvSpPr txBox="1">
            <a:spLocks noGrp="1"/>
          </p:cNvSpPr>
          <p:nvPr>
            <p:ph type="title" idx="2"/>
          </p:nvPr>
        </p:nvSpPr>
        <p:spPr>
          <a:xfrm>
            <a:off x="1555234" y="2347850"/>
            <a:ext cx="6183013" cy="1229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/>
            <a:r>
              <a:rPr lang="el-GR" b="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 Medium"/>
                <a:cs typeface="Times New Roman" panose="02020603050405020304" pitchFamily="18" charset="0"/>
                <a:sym typeface="Montserrat Medium"/>
              </a:rPr>
              <a:t>Η  χρήση των </a:t>
            </a:r>
            <a:r>
              <a:rPr lang="el-GR" b="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 Medium"/>
                <a:cs typeface="Times New Roman" panose="02020603050405020304" pitchFamily="18" charset="0"/>
                <a:sym typeface="Montserrat Medium"/>
              </a:rPr>
              <a:t>Νευρωνικών</a:t>
            </a:r>
            <a:r>
              <a:rPr lang="el-GR" b="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 Medium"/>
                <a:cs typeface="Times New Roman" panose="02020603050405020304" pitchFamily="18" charset="0"/>
                <a:sym typeface="Montserrat Medium"/>
              </a:rPr>
              <a:t> Δικτύων (</a:t>
            </a:r>
            <a:r>
              <a:rPr lang="el-GR" b="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 Medium"/>
                <a:cs typeface="Times New Roman" panose="02020603050405020304" pitchFamily="18" charset="0"/>
                <a:sym typeface="Montserrat Medium"/>
              </a:rPr>
              <a:t>Νeural</a:t>
            </a:r>
            <a:r>
              <a:rPr lang="el-GR" b="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 Medium"/>
                <a:cs typeface="Times New Roman" panose="02020603050405020304" pitchFamily="18" charset="0"/>
                <a:sym typeface="Montserrat Medium"/>
              </a:rPr>
              <a:t> </a:t>
            </a:r>
            <a:r>
              <a:rPr lang="el-GR" b="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 Medium"/>
                <a:cs typeface="Times New Roman" panose="02020603050405020304" pitchFamily="18" charset="0"/>
                <a:sym typeface="Montserrat Medium"/>
              </a:rPr>
              <a:t>Νetworks</a:t>
            </a:r>
            <a:r>
              <a:rPr lang="el-GR" b="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 Medium"/>
                <a:cs typeface="Times New Roman" panose="02020603050405020304" pitchFamily="18" charset="0"/>
                <a:sym typeface="Montserrat Medium"/>
              </a:rPr>
              <a:t>) στην επίλυση του ΚP</a:t>
            </a:r>
            <a:endParaRPr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grpSp>
        <p:nvGrpSpPr>
          <p:cNvPr id="1115" name="Google Shape;1115;p33"/>
          <p:cNvGrpSpPr/>
          <p:nvPr/>
        </p:nvGrpSpPr>
        <p:grpSpPr>
          <a:xfrm>
            <a:off x="1822209" y="2089315"/>
            <a:ext cx="5916038" cy="306847"/>
            <a:chOff x="4788672" y="2177404"/>
            <a:chExt cx="3478000" cy="192185"/>
          </a:xfrm>
        </p:grpSpPr>
        <p:sp>
          <p:nvSpPr>
            <p:cNvPr id="1116" name="Google Shape;1116;p33"/>
            <p:cNvSpPr/>
            <p:nvPr/>
          </p:nvSpPr>
          <p:spPr>
            <a:xfrm rot="-2700000" flipH="1">
              <a:off x="7250940" y="2205609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17" name="Google Shape;1117;p33"/>
            <p:cNvCxnSpPr>
              <a:stCxn id="1118" idx="6"/>
              <a:endCxn id="1119" idx="2"/>
            </p:cNvCxnSpPr>
            <p:nvPr/>
          </p:nvCxnSpPr>
          <p:spPr>
            <a:xfrm rot="10800000">
              <a:off x="4845772" y="2272517"/>
              <a:ext cx="33639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19" name="Google Shape;1119;p33"/>
            <p:cNvSpPr/>
            <p:nvPr/>
          </p:nvSpPr>
          <p:spPr>
            <a:xfrm flipH="1">
              <a:off x="4788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8" name="Google Shape;1118;p33"/>
            <p:cNvSpPr/>
            <p:nvPr/>
          </p:nvSpPr>
          <p:spPr>
            <a:xfrm flipH="1">
              <a:off x="8209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20" name="Google Shape;1120;p33"/>
          <p:cNvGrpSpPr/>
          <p:nvPr/>
        </p:nvGrpSpPr>
        <p:grpSpPr>
          <a:xfrm flipH="1">
            <a:off x="7834772" y="2544125"/>
            <a:ext cx="1929500" cy="2210100"/>
            <a:chOff x="295725" y="-3462825"/>
            <a:chExt cx="1929500" cy="2210100"/>
          </a:xfrm>
        </p:grpSpPr>
        <p:sp>
          <p:nvSpPr>
            <p:cNvPr id="1121" name="Google Shape;1121;p33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2" name="Google Shape;1122;p33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3" name="Google Shape;1123;p33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4" name="Google Shape;1124;p33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5" name="Google Shape;1125;p33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6" name="Google Shape;1126;p33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7" name="Google Shape;1127;p33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8" name="Google Shape;1128;p33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9" name="Google Shape;1129;p33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0" name="Google Shape;1130;p33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1" name="Google Shape;1131;p33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2" name="Google Shape;1132;p33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3" name="Google Shape;1133;p33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4" name="Google Shape;1134;p33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5" name="Google Shape;1135;p33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6" name="Google Shape;1136;p33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7" name="Google Shape;1137;p33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8" name="Google Shape;1138;p33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9" name="Google Shape;1139;p33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0" name="Google Shape;1140;p33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1" name="Google Shape;1141;p33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2" name="Google Shape;1142;p33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3" name="Google Shape;1143;p33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4" name="Google Shape;1144;p33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5" name="Google Shape;1145;p33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46" name="Google Shape;1146;p33"/>
          <p:cNvGrpSpPr/>
          <p:nvPr/>
        </p:nvGrpSpPr>
        <p:grpSpPr>
          <a:xfrm>
            <a:off x="1005972" y="2347838"/>
            <a:ext cx="873188" cy="546900"/>
            <a:chOff x="1115510" y="4327288"/>
            <a:chExt cx="873188" cy="546900"/>
          </a:xfrm>
        </p:grpSpPr>
        <p:sp>
          <p:nvSpPr>
            <p:cNvPr id="1147" name="Google Shape;1147;p33"/>
            <p:cNvSpPr/>
            <p:nvPr/>
          </p:nvSpPr>
          <p:spPr>
            <a:xfrm flipH="1">
              <a:off x="1115510" y="4327288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148" name="Google Shape;1148;p33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1149" name="Google Shape;1149;p33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50" name="Google Shape;1150;p33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51" name="Google Shape;1151;p33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24293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/>
      </p:transition>
    </mc:Choice>
    <mc:Fallback xmlns=""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29"/>
          <p:cNvSpPr txBox="1">
            <a:spLocks noGrp="1"/>
          </p:cNvSpPr>
          <p:nvPr>
            <p:ph type="title"/>
          </p:nvPr>
        </p:nvSpPr>
        <p:spPr>
          <a:xfrm>
            <a:off x="-1" y="623891"/>
            <a:ext cx="9144000" cy="52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/>
            <a:r>
              <a:rPr lang="el-GR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Νευρωνικά</a:t>
            </a:r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δίκτυα</a:t>
            </a:r>
            <a:endParaRPr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1" name="Google Shape;971;p29"/>
          <p:cNvSpPr txBox="1"/>
          <p:nvPr/>
        </p:nvSpPr>
        <p:spPr>
          <a:xfrm>
            <a:off x="270710" y="1477261"/>
            <a:ext cx="8602579" cy="1826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spAutoFit/>
          </a:bodyPr>
          <a:lstStyle/>
          <a:p>
            <a:pPr marL="171450" lvl="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Ένα διασυνδεδεμένο σύνολο απλών στοιχείων επεξεργασίας, μονάδων ή κόμβων, των οποίων η λειτουργικότητα βασίζεται χαλαρά στον ζωικό νευρώνα </a:t>
            </a:r>
            <a:b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</a:b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(</a:t>
            </a:r>
            <a:r>
              <a:rPr lang="el-GR" sz="20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Chollet</a:t>
            </a: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, 2018). </a:t>
            </a:r>
          </a:p>
          <a:p>
            <a:pPr marL="171450" lvl="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Η ικανότητα επεξεργασίας του δικτύου είναι αποθηκευμένη στην ισχύ των συνδέσεων μεταξύ των μονάδων.</a:t>
            </a:r>
          </a:p>
        </p:txBody>
      </p:sp>
      <p:grpSp>
        <p:nvGrpSpPr>
          <p:cNvPr id="974" name="Google Shape;974;p29"/>
          <p:cNvGrpSpPr/>
          <p:nvPr/>
        </p:nvGrpSpPr>
        <p:grpSpPr>
          <a:xfrm>
            <a:off x="1611149" y="1216084"/>
            <a:ext cx="5921700" cy="192184"/>
            <a:chOff x="902597" y="1069304"/>
            <a:chExt cx="5921700" cy="192184"/>
          </a:xfrm>
        </p:grpSpPr>
        <p:grpSp>
          <p:nvGrpSpPr>
            <p:cNvPr id="975" name="Google Shape;975;p29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976" name="Google Shape;976;p29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77" name="Google Shape;977;p29"/>
              <p:cNvCxnSpPr>
                <a:stCxn id="978" idx="6"/>
                <a:endCxn id="979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79" name="Google Shape;979;p29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78" name="Google Shape;978;p29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1928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/>
      </p:transition>
    </mc:Choice>
    <mc:Fallback xmlns=""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782849" y="153761"/>
            <a:ext cx="7578300" cy="523200"/>
          </a:xfrm>
        </p:spPr>
        <p:txBody>
          <a:bodyPr/>
          <a:lstStyle/>
          <a:p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Ανασκόπηση Βιβλιογραφίας</a:t>
            </a:r>
          </a:p>
        </p:txBody>
      </p:sp>
      <p:graphicFrame>
        <p:nvGraphicFramePr>
          <p:cNvPr id="3" name="Πίνακας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529893"/>
              </p:ext>
            </p:extLst>
          </p:nvPr>
        </p:nvGraphicFramePr>
        <p:xfrm>
          <a:off x="427120" y="676961"/>
          <a:ext cx="8289757" cy="4261685"/>
        </p:xfrm>
        <a:graphic>
          <a:graphicData uri="http://schemas.openxmlformats.org/drawingml/2006/table">
            <a:tbl>
              <a:tblPr>
                <a:tableStyleId>{ECCDC6F9-9CED-40D5-A569-A2F5D344B805}</a:tableStyleId>
              </a:tblPr>
              <a:tblGrid>
                <a:gridCol w="2989848">
                  <a:extLst>
                    <a:ext uri="{9D8B030D-6E8A-4147-A177-3AD203B41FA5}">
                      <a16:colId xmlns:a16="http://schemas.microsoft.com/office/drawing/2014/main" val="1095786628"/>
                    </a:ext>
                  </a:extLst>
                </a:gridCol>
                <a:gridCol w="5299909">
                  <a:extLst>
                    <a:ext uri="{9D8B030D-6E8A-4147-A177-3AD203B41FA5}">
                      <a16:colId xmlns:a16="http://schemas.microsoft.com/office/drawing/2014/main" val="3591475927"/>
                    </a:ext>
                  </a:extLst>
                </a:gridCol>
              </a:tblGrid>
              <a:tr h="52835">
                <a:tc>
                  <a:txBody>
                    <a:bodyPr/>
                    <a:lstStyle/>
                    <a:p>
                      <a:pPr algn="l" fontAlgn="b"/>
                      <a:r>
                        <a:rPr lang="el-GR" sz="2000" b="1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Μελετητές</a:t>
                      </a:r>
                      <a:endParaRPr lang="el-GR" sz="2000" b="1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42" marR="2642" marT="26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000" b="1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Μελέτη</a:t>
                      </a:r>
                      <a:endParaRPr lang="el-GR" sz="2000" b="1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42" marR="2642" marT="2642" marB="0" anchor="b"/>
                </a:tc>
                <a:extLst>
                  <a:ext uri="{0D108BD9-81ED-4DB2-BD59-A6C34878D82A}">
                    <a16:rowId xmlns:a16="http://schemas.microsoft.com/office/drawing/2014/main" val="3409335356"/>
                  </a:ext>
                </a:extLst>
              </a:tr>
              <a:tr h="577380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Suk, 2017</a:t>
                      </a:r>
                      <a:endParaRPr lang="en-US" sz="15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42" marR="2642" marT="26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5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Μοντελοποίηση δεδομένων με πολύπλοκες αρχιτεκτονικές, συνδυάζοντας σχεδιασμούς διαφορετικούς και μη γραμμικούς.</a:t>
                      </a:r>
                      <a:endParaRPr lang="el-GR" sz="15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42" marR="2642" marT="2642" marB="0" anchor="b"/>
                </a:tc>
                <a:extLst>
                  <a:ext uri="{0D108BD9-81ED-4DB2-BD59-A6C34878D82A}">
                    <a16:rowId xmlns:a16="http://schemas.microsoft.com/office/drawing/2014/main" val="588461830"/>
                  </a:ext>
                </a:extLst>
              </a:tr>
              <a:tr h="766011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Bengio</a:t>
                      </a:r>
                      <a:r>
                        <a:rPr lang="en-US" sz="15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Lodi &amp; </a:t>
                      </a:r>
                      <a:r>
                        <a:rPr lang="en-US" sz="1500" u="none" strike="noStrike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Prouvost</a:t>
                      </a:r>
                      <a:r>
                        <a:rPr lang="en-US" sz="15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2018</a:t>
                      </a:r>
                      <a:endParaRPr lang="el-GR" sz="150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fontAlgn="b"/>
                      <a:endParaRPr lang="en-US" sz="15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42" marR="2642" marT="26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5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Μεγάλες δυνατότητες για πρακτικές επίλυσης  προβλημάτων συνδυαστικής βελτιστοποίησης (CO) ή την εμπειρικές βελτιώσεις των κλασικών μεθόδων επίλυσης.</a:t>
                      </a:r>
                      <a:endParaRPr lang="el-GR" sz="15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42" marR="2642" marT="2642" marB="0" anchor="b"/>
                </a:tc>
                <a:extLst>
                  <a:ext uri="{0D108BD9-81ED-4DB2-BD59-A6C34878D82A}">
                    <a16:rowId xmlns:a16="http://schemas.microsoft.com/office/drawing/2014/main" val="216706640"/>
                  </a:ext>
                </a:extLst>
              </a:tr>
              <a:tr h="324852">
                <a:tc>
                  <a:txBody>
                    <a:bodyPr/>
                    <a:lstStyle/>
                    <a:p>
                      <a:pPr algn="l" fontAlgn="b"/>
                      <a:r>
                        <a:rPr lang="da-DK" sz="15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Yang et al., 2018; Xu et al., 2020</a:t>
                      </a:r>
                      <a:endParaRPr lang="da-DK" sz="15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42" marR="2642" marT="26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5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Νευρωνικά δίκτυα για βελτίωση του δυναμικού προγραμματισμού.</a:t>
                      </a:r>
                      <a:endParaRPr lang="el-GR" sz="15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42" marR="2642" marT="2642" marB="0" anchor="b"/>
                </a:tc>
                <a:extLst>
                  <a:ext uri="{0D108BD9-81ED-4DB2-BD59-A6C34878D82A}">
                    <a16:rowId xmlns:a16="http://schemas.microsoft.com/office/drawing/2014/main" val="463201042"/>
                  </a:ext>
                </a:extLst>
              </a:tr>
              <a:tr h="541421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Bengio, Lodi &amp; Prouvost, 2018</a:t>
                      </a:r>
                      <a:endParaRPr lang="en-US" sz="15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42" marR="2642" marT="26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5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Επιτάχυνση λύσεων για γραμμικά προγράμματα μικτού ακέραιου αριθμού.</a:t>
                      </a:r>
                      <a:endParaRPr lang="el-GR" sz="15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42" marR="2642" marT="2642" marB="0" anchor="b"/>
                </a:tc>
                <a:extLst>
                  <a:ext uri="{0D108BD9-81ED-4DB2-BD59-A6C34878D82A}">
                    <a16:rowId xmlns:a16="http://schemas.microsoft.com/office/drawing/2014/main" val="2626797365"/>
                  </a:ext>
                </a:extLst>
              </a:tr>
              <a:tr h="529390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Lombardi &amp; Milano, 2018</a:t>
                      </a:r>
                      <a:endParaRPr lang="en-US" sz="15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42" marR="2642" marT="26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5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Εφαρμογή της μηχανικής μάθησης σε πτυχές μοντελοποίησης του CO.</a:t>
                      </a:r>
                      <a:endParaRPr lang="el-GR" sz="15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42" marR="2642" marT="2642" marB="0" anchor="b"/>
                </a:tc>
                <a:extLst>
                  <a:ext uri="{0D108BD9-81ED-4DB2-BD59-A6C34878D82A}">
                    <a16:rowId xmlns:a16="http://schemas.microsoft.com/office/drawing/2014/main" val="1252500758"/>
                  </a:ext>
                </a:extLst>
              </a:tr>
              <a:tr h="1215189">
                <a:tc>
                  <a:txBody>
                    <a:bodyPr/>
                    <a:lstStyle/>
                    <a:p>
                      <a:pPr algn="l" fontAlgn="b"/>
                      <a:r>
                        <a:rPr lang="en-GB" sz="1500" u="none" strike="noStrike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Vinyals</a:t>
                      </a:r>
                      <a:r>
                        <a:rPr lang="en-GB" sz="15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Fortunato &amp; </a:t>
                      </a:r>
                      <a:r>
                        <a:rPr lang="en-GB" sz="1500" u="none" strike="noStrike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Jaitly</a:t>
                      </a:r>
                      <a:r>
                        <a:rPr lang="en-GB" sz="15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2015; Bello et al., 2016; Khalil et al., 2017; Nowak et al., 2017; </a:t>
                      </a:r>
                      <a:br>
                        <a:rPr lang="el-GR" sz="15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GB" sz="1500" u="none" strike="noStrike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Emami</a:t>
                      </a:r>
                      <a:r>
                        <a:rPr lang="en-GB" sz="15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 </a:t>
                      </a:r>
                      <a:r>
                        <a:rPr lang="en-GB" sz="1500" u="none" strike="noStrike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Ranka</a:t>
                      </a:r>
                      <a:r>
                        <a:rPr lang="en-GB" sz="15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2018; </a:t>
                      </a:r>
                      <a:endParaRPr lang="el-GR" sz="150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fontAlgn="b"/>
                      <a:r>
                        <a:rPr lang="en-GB" sz="15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Kool, van Hoof &amp; Welling, 2019</a:t>
                      </a:r>
                      <a:endParaRPr lang="en-GB" sz="15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42" marR="2642" marT="264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5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Εφαρμογή της μηχανικής μάθησης σε πτυχές </a:t>
                      </a:r>
                      <a:r>
                        <a:rPr lang="el-GR" sz="1500" u="none" strike="noStrike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μοντελοποίησης</a:t>
                      </a:r>
                      <a:r>
                        <a:rPr lang="el-GR" sz="15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του CO σε προβλήματα TSP.</a:t>
                      </a:r>
                    </a:p>
                    <a:p>
                      <a:pPr algn="l" fontAlgn="b"/>
                      <a:endParaRPr lang="el-GR" sz="15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fontAlgn="b"/>
                      <a:endParaRPr lang="el-GR" sz="15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42" marR="2642" marT="2642" marB="0" anchor="b"/>
                </a:tc>
                <a:extLst>
                  <a:ext uri="{0D108BD9-81ED-4DB2-BD59-A6C34878D82A}">
                    <a16:rowId xmlns:a16="http://schemas.microsoft.com/office/drawing/2014/main" val="1747306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1189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/>
      </p:transition>
    </mc:Choice>
    <mc:Fallback xmlns=""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29"/>
          <p:cNvSpPr txBox="1">
            <a:spLocks noGrp="1"/>
          </p:cNvSpPr>
          <p:nvPr>
            <p:ph type="title"/>
          </p:nvPr>
        </p:nvSpPr>
        <p:spPr>
          <a:xfrm>
            <a:off x="0" y="202786"/>
            <a:ext cx="9144000" cy="52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/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Συμπεράσματα</a:t>
            </a:r>
            <a:endParaRPr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1" name="Google Shape;971;p29"/>
          <p:cNvSpPr txBox="1"/>
          <p:nvPr/>
        </p:nvSpPr>
        <p:spPr>
          <a:xfrm>
            <a:off x="270709" y="725007"/>
            <a:ext cx="8602579" cy="4467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spAutoFit/>
          </a:bodyPr>
          <a:lstStyle/>
          <a:p>
            <a:pPr marL="171450" lvl="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l-GR" sz="17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Η ενσωμάτωση των </a:t>
            </a:r>
            <a:r>
              <a:rPr lang="el-GR" sz="17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νευρωνικών</a:t>
            </a:r>
            <a:r>
              <a:rPr lang="el-GR" sz="17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δικτύων σε διαδικασίες συνδυαστικής βελτιστοποίησης συμβάλλει στην αντιμετώπιση σύνθετων προβλημάτων λήψης αποφάσεων σε διάφορους πρακτικούς τομείς. </a:t>
            </a:r>
          </a:p>
          <a:p>
            <a:pPr marL="171450" lvl="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l-GR" sz="17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Προσαρμοστικότητα των </a:t>
            </a:r>
            <a:r>
              <a:rPr lang="el-GR" sz="17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νευρωνικών</a:t>
            </a:r>
            <a:r>
              <a:rPr lang="el-GR" sz="17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δικτύων στις ιδιαιτερότητες του προβλήματος </a:t>
            </a:r>
            <a:r>
              <a:rPr lang="el-GR" sz="17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Knapsack</a:t>
            </a:r>
            <a:r>
              <a:rPr lang="el-GR" sz="17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. </a:t>
            </a:r>
          </a:p>
          <a:p>
            <a:pPr marL="171450" lvl="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l-GR" sz="17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Συνεχής διερεύνηση υβριδικών μοντέλων, που συνδυάζουν τα πλεονεκτήματα των </a:t>
            </a:r>
            <a:r>
              <a:rPr lang="el-GR" sz="17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νευρωνικών</a:t>
            </a:r>
            <a:r>
              <a:rPr lang="el-GR" sz="17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δικτύων με παραδοσιακούς αλγορίθμους βελτιστοποίησης ή </a:t>
            </a:r>
            <a:r>
              <a:rPr lang="el-GR" sz="17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ευρετικές</a:t>
            </a:r>
            <a:r>
              <a:rPr lang="el-GR" sz="17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μεθόδους. </a:t>
            </a:r>
          </a:p>
          <a:p>
            <a:pPr marL="171450" lvl="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l-GR" sz="17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Η ενσωμάτωση αποσκοπεί στην αξιοποίηση των συμπληρωματικών πλεονεκτημάτων και των δύο προτύπων, συμβάλλοντας στην ενίσχυση της ποιότητας των λύσεων.</a:t>
            </a:r>
          </a:p>
          <a:p>
            <a:pPr marL="171450" lvl="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l-GR" sz="17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Εφαρμογές σε εφοδιαστική, κατανομή πόρων και στα οικονομικά, αναδεικνύουν την ευελιξία των ΝΝ στην αντιμετώπιση του προβλήματος </a:t>
            </a:r>
            <a:r>
              <a:rPr lang="el-GR" sz="17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Knapsack</a:t>
            </a:r>
            <a:r>
              <a:rPr lang="el-GR" sz="17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. </a:t>
            </a:r>
          </a:p>
          <a:p>
            <a:pPr marL="171450" lvl="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l-GR" sz="17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Ανάγκη για βελτιωμένη γενίκευση για την αντιμετώπιση μεγαλύτερων περιπτώσεων προβλημάτων και η διερεύνηση νέων αρχιτεκτονικών </a:t>
            </a:r>
            <a:r>
              <a:rPr lang="el-GR" sz="17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νευρωνικών</a:t>
            </a:r>
            <a:r>
              <a:rPr lang="el-GR" sz="17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δικτύων.</a:t>
            </a:r>
          </a:p>
          <a:p>
            <a:pPr marL="171450" lvl="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l-GR" sz="17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Οι μελλοντικές ερευνητικές κατευθύνσεις μπορεί να περιλαμβάνουν την αντιμετώπιση προκλήσεων, την βελτίωση των υφιστάμενων μεθοδολογιών και τη διερεύνηση εφαρμογών σε αναδυόμενους τομείς.</a:t>
            </a:r>
          </a:p>
        </p:txBody>
      </p:sp>
      <p:grpSp>
        <p:nvGrpSpPr>
          <p:cNvPr id="974" name="Google Shape;974;p29"/>
          <p:cNvGrpSpPr/>
          <p:nvPr/>
        </p:nvGrpSpPr>
        <p:grpSpPr>
          <a:xfrm>
            <a:off x="1611149" y="629894"/>
            <a:ext cx="5921700" cy="192184"/>
            <a:chOff x="902597" y="1069304"/>
            <a:chExt cx="5921700" cy="192184"/>
          </a:xfrm>
        </p:grpSpPr>
        <p:grpSp>
          <p:nvGrpSpPr>
            <p:cNvPr id="975" name="Google Shape;975;p29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976" name="Google Shape;976;p29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77" name="Google Shape;977;p29"/>
              <p:cNvCxnSpPr>
                <a:stCxn id="978" idx="6"/>
                <a:endCxn id="979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79" name="Google Shape;979;p29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78" name="Google Shape;978;p29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1268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/>
      </p:transition>
    </mc:Choice>
    <mc:Fallback xmlns=""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33"/>
          <p:cNvSpPr txBox="1">
            <a:spLocks noGrp="1"/>
          </p:cNvSpPr>
          <p:nvPr>
            <p:ph type="title"/>
          </p:nvPr>
        </p:nvSpPr>
        <p:spPr>
          <a:xfrm>
            <a:off x="3791747" y="802531"/>
            <a:ext cx="3946500" cy="1175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3" name="Google Shape;1113;p33"/>
          <p:cNvSpPr txBox="1">
            <a:spLocks noGrp="1"/>
          </p:cNvSpPr>
          <p:nvPr>
            <p:ph type="title" idx="2"/>
          </p:nvPr>
        </p:nvSpPr>
        <p:spPr>
          <a:xfrm>
            <a:off x="1263316" y="2347850"/>
            <a:ext cx="6474931" cy="1229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/>
            <a:r>
              <a:rPr lang="el-GR" b="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 Medium"/>
                <a:cs typeface="Times New Roman" panose="02020603050405020304" pitchFamily="18" charset="0"/>
                <a:sym typeface="Montserrat Medium"/>
              </a:rPr>
              <a:t>Βαθιά Μάθηση </a:t>
            </a:r>
            <a:br>
              <a:rPr lang="el-GR" b="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 Medium"/>
                <a:cs typeface="Times New Roman" panose="02020603050405020304" pitchFamily="18" charset="0"/>
                <a:sym typeface="Montserrat Medium"/>
              </a:rPr>
            </a:br>
            <a:r>
              <a:rPr lang="el-GR" b="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 Medium"/>
                <a:cs typeface="Times New Roman" panose="02020603050405020304" pitchFamily="18" charset="0"/>
                <a:sym typeface="Montserrat Medium"/>
              </a:rPr>
              <a:t>(</a:t>
            </a:r>
            <a:r>
              <a:rPr lang="el-GR" b="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 Medium"/>
                <a:cs typeface="Times New Roman" panose="02020603050405020304" pitchFamily="18" charset="0"/>
                <a:sym typeface="Montserrat Medium"/>
              </a:rPr>
              <a:t>Deep</a:t>
            </a:r>
            <a:r>
              <a:rPr lang="el-GR" b="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 Medium"/>
                <a:cs typeface="Times New Roman" panose="02020603050405020304" pitchFamily="18" charset="0"/>
                <a:sym typeface="Montserrat Medium"/>
              </a:rPr>
              <a:t> </a:t>
            </a:r>
            <a:r>
              <a:rPr lang="el-GR" b="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 Medium"/>
                <a:cs typeface="Times New Roman" panose="02020603050405020304" pitchFamily="18" charset="0"/>
                <a:sym typeface="Montserrat Medium"/>
              </a:rPr>
              <a:t>Learning</a:t>
            </a:r>
            <a:r>
              <a:rPr lang="el-GR" b="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 Medium"/>
                <a:cs typeface="Times New Roman" panose="02020603050405020304" pitchFamily="18" charset="0"/>
                <a:sym typeface="Montserrat Medium"/>
              </a:rPr>
              <a:t>) για την επίλυση του KP</a:t>
            </a:r>
            <a:endParaRPr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grpSp>
        <p:nvGrpSpPr>
          <p:cNvPr id="1115" name="Google Shape;1115;p33"/>
          <p:cNvGrpSpPr/>
          <p:nvPr/>
        </p:nvGrpSpPr>
        <p:grpSpPr>
          <a:xfrm>
            <a:off x="2598821" y="2089315"/>
            <a:ext cx="5139426" cy="306847"/>
            <a:chOff x="4788672" y="2177404"/>
            <a:chExt cx="3478000" cy="192185"/>
          </a:xfrm>
        </p:grpSpPr>
        <p:sp>
          <p:nvSpPr>
            <p:cNvPr id="1116" name="Google Shape;1116;p33"/>
            <p:cNvSpPr/>
            <p:nvPr/>
          </p:nvSpPr>
          <p:spPr>
            <a:xfrm rot="-2700000" flipH="1">
              <a:off x="7250940" y="2205609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17" name="Google Shape;1117;p33"/>
            <p:cNvCxnSpPr>
              <a:stCxn id="1118" idx="6"/>
              <a:endCxn id="1119" idx="2"/>
            </p:cNvCxnSpPr>
            <p:nvPr/>
          </p:nvCxnSpPr>
          <p:spPr>
            <a:xfrm rot="10800000">
              <a:off x="4845772" y="2272517"/>
              <a:ext cx="33639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19" name="Google Shape;1119;p33"/>
            <p:cNvSpPr/>
            <p:nvPr/>
          </p:nvSpPr>
          <p:spPr>
            <a:xfrm flipH="1">
              <a:off x="4788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8" name="Google Shape;1118;p33"/>
            <p:cNvSpPr/>
            <p:nvPr/>
          </p:nvSpPr>
          <p:spPr>
            <a:xfrm flipH="1">
              <a:off x="8209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20" name="Google Shape;1120;p33"/>
          <p:cNvGrpSpPr/>
          <p:nvPr/>
        </p:nvGrpSpPr>
        <p:grpSpPr>
          <a:xfrm flipH="1">
            <a:off x="7834772" y="2544125"/>
            <a:ext cx="1929500" cy="2210100"/>
            <a:chOff x="295725" y="-3462825"/>
            <a:chExt cx="1929500" cy="2210100"/>
          </a:xfrm>
        </p:grpSpPr>
        <p:sp>
          <p:nvSpPr>
            <p:cNvPr id="1121" name="Google Shape;1121;p33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2" name="Google Shape;1122;p33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3" name="Google Shape;1123;p33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4" name="Google Shape;1124;p33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5" name="Google Shape;1125;p33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6" name="Google Shape;1126;p33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7" name="Google Shape;1127;p33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8" name="Google Shape;1128;p33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9" name="Google Shape;1129;p33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0" name="Google Shape;1130;p33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1" name="Google Shape;1131;p33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2" name="Google Shape;1132;p33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3" name="Google Shape;1133;p33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4" name="Google Shape;1134;p33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5" name="Google Shape;1135;p33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6" name="Google Shape;1136;p33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7" name="Google Shape;1137;p33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8" name="Google Shape;1138;p33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9" name="Google Shape;1139;p33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0" name="Google Shape;1140;p33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1" name="Google Shape;1141;p33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2" name="Google Shape;1142;p33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3" name="Google Shape;1143;p33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4" name="Google Shape;1144;p33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5" name="Google Shape;1145;p33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46" name="Google Shape;1146;p33"/>
          <p:cNvGrpSpPr/>
          <p:nvPr/>
        </p:nvGrpSpPr>
        <p:grpSpPr>
          <a:xfrm>
            <a:off x="1005972" y="2347838"/>
            <a:ext cx="873188" cy="546900"/>
            <a:chOff x="1115510" y="4327288"/>
            <a:chExt cx="873188" cy="546900"/>
          </a:xfrm>
        </p:grpSpPr>
        <p:sp>
          <p:nvSpPr>
            <p:cNvPr id="1147" name="Google Shape;1147;p33"/>
            <p:cNvSpPr/>
            <p:nvPr/>
          </p:nvSpPr>
          <p:spPr>
            <a:xfrm flipH="1">
              <a:off x="1115510" y="4327288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148" name="Google Shape;1148;p33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1149" name="Google Shape;1149;p33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50" name="Google Shape;1150;p33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51" name="Google Shape;1151;p33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2488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/>
      </p:transition>
    </mc:Choice>
    <mc:Fallback xmlns=""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29"/>
          <p:cNvSpPr txBox="1">
            <a:spLocks noGrp="1"/>
          </p:cNvSpPr>
          <p:nvPr>
            <p:ph type="title"/>
          </p:nvPr>
        </p:nvSpPr>
        <p:spPr>
          <a:xfrm>
            <a:off x="-1" y="623891"/>
            <a:ext cx="9144000" cy="52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/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Βαθιά Μάθηση</a:t>
            </a:r>
            <a:endParaRPr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1" name="Google Shape;971;p29"/>
          <p:cNvSpPr txBox="1"/>
          <p:nvPr/>
        </p:nvSpPr>
        <p:spPr>
          <a:xfrm>
            <a:off x="270710" y="1477261"/>
            <a:ext cx="8602579" cy="2133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spAutoFit/>
          </a:bodyPr>
          <a:lstStyle/>
          <a:p>
            <a:pPr marL="171450" lvl="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Μέθοδος μηχανικής μάθησης και τεχνητής νοημοσύνης που αποσκοπεί στον εκφοβισμό των ανθρώπων και των πράξεων τους με βάση ορισμένες λειτουργίες του ανθρώπινου εγκεφάλου για τη λήψη αποτελεσματικών αποφάσεων.</a:t>
            </a:r>
          </a:p>
          <a:p>
            <a:pPr marL="171450" lvl="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Για την ανθρώπινη ικανότητα προσαρμογής και μάθησης, πρέπει να υπάρχουν κάποιες ισχυρές δυνάμεις που κοινώς ονομάζονται αλγόριθμοι </a:t>
            </a:r>
            <a:b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</a:b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(</a:t>
            </a:r>
            <a:r>
              <a:rPr lang="el-GR" sz="20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Gu</a:t>
            </a: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&amp; </a:t>
            </a:r>
            <a:r>
              <a:rPr lang="el-GR" sz="20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Hao</a:t>
            </a: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, 2018).</a:t>
            </a:r>
          </a:p>
        </p:txBody>
      </p:sp>
      <p:grpSp>
        <p:nvGrpSpPr>
          <p:cNvPr id="974" name="Google Shape;974;p29"/>
          <p:cNvGrpSpPr/>
          <p:nvPr/>
        </p:nvGrpSpPr>
        <p:grpSpPr>
          <a:xfrm>
            <a:off x="1611149" y="1216084"/>
            <a:ext cx="5921700" cy="192184"/>
            <a:chOff x="902597" y="1069304"/>
            <a:chExt cx="5921700" cy="192184"/>
          </a:xfrm>
        </p:grpSpPr>
        <p:grpSp>
          <p:nvGrpSpPr>
            <p:cNvPr id="975" name="Google Shape;975;p29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976" name="Google Shape;976;p29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77" name="Google Shape;977;p29"/>
              <p:cNvCxnSpPr>
                <a:stCxn id="978" idx="6"/>
                <a:endCxn id="979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79" name="Google Shape;979;p29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78" name="Google Shape;978;p29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0094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/>
      </p:transition>
    </mc:Choice>
    <mc:Fallback xmlns=""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782849" y="153761"/>
            <a:ext cx="7578300" cy="523200"/>
          </a:xfrm>
        </p:spPr>
        <p:txBody>
          <a:bodyPr/>
          <a:lstStyle/>
          <a:p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Ανασκόπηση Βιβλιογραφίας</a:t>
            </a:r>
          </a:p>
        </p:txBody>
      </p:sp>
      <p:graphicFrame>
        <p:nvGraphicFramePr>
          <p:cNvPr id="4" name="Πίνακας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075903"/>
              </p:ext>
            </p:extLst>
          </p:nvPr>
        </p:nvGraphicFramePr>
        <p:xfrm>
          <a:off x="565882" y="827506"/>
          <a:ext cx="8012233" cy="3863537"/>
        </p:xfrm>
        <a:graphic>
          <a:graphicData uri="http://schemas.openxmlformats.org/drawingml/2006/table">
            <a:tbl>
              <a:tblPr>
                <a:tableStyleId>{ECCDC6F9-9CED-40D5-A569-A2F5D344B805}</a:tableStyleId>
              </a:tblPr>
              <a:tblGrid>
                <a:gridCol w="1684421">
                  <a:extLst>
                    <a:ext uri="{9D8B030D-6E8A-4147-A177-3AD203B41FA5}">
                      <a16:colId xmlns:a16="http://schemas.microsoft.com/office/drawing/2014/main" val="3070584188"/>
                    </a:ext>
                  </a:extLst>
                </a:gridCol>
                <a:gridCol w="6327812">
                  <a:extLst>
                    <a:ext uri="{9D8B030D-6E8A-4147-A177-3AD203B41FA5}">
                      <a16:colId xmlns:a16="http://schemas.microsoft.com/office/drawing/2014/main" val="1489903973"/>
                    </a:ext>
                  </a:extLst>
                </a:gridCol>
              </a:tblGrid>
              <a:tr h="41581">
                <a:tc>
                  <a:txBody>
                    <a:bodyPr/>
                    <a:lstStyle/>
                    <a:p>
                      <a:pPr algn="l" fontAlgn="b"/>
                      <a:r>
                        <a:rPr lang="el-GR" sz="2000" b="1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Μελετητές</a:t>
                      </a:r>
                      <a:endParaRPr lang="el-GR" sz="2000" b="1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79" marR="2079" marT="207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2000" b="1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Μελέτη</a:t>
                      </a:r>
                      <a:endParaRPr lang="el-GR" sz="2000" b="1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79" marR="2079" marT="2079" marB="0" anchor="b"/>
                </a:tc>
                <a:extLst>
                  <a:ext uri="{0D108BD9-81ED-4DB2-BD59-A6C34878D82A}">
                    <a16:rowId xmlns:a16="http://schemas.microsoft.com/office/drawing/2014/main" val="1934972816"/>
                  </a:ext>
                </a:extLst>
              </a:tr>
              <a:tr h="1127553"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Nomer</a:t>
                      </a:r>
                      <a:r>
                        <a:rPr lang="en-GB" sz="16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al., 2020</a:t>
                      </a:r>
                      <a:endParaRPr lang="el-GR" sz="160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fontAlgn="b"/>
                      <a:endParaRPr lang="el-GR" sz="16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fontAlgn="b"/>
                      <a:endParaRPr lang="en-GB" sz="16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79" marR="2079" marT="207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Οι αλγόριθμοι βαθιάς μάθησης μπορούν να υπερνικήσουν ορισμένες εργασίες που ενδέχεται να περιλαμβάνουν πολύπλοκα προβλήματα, επειδή χρειάζονται πρόσβαση σε τεράστιο όγκο δεδομένων, ώστε να μπορούν να λειτουργούν αποτελεσματικά.</a:t>
                      </a:r>
                      <a:endParaRPr lang="el-GR" sz="16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79" marR="2079" marT="2079" marB="0" anchor="b"/>
                </a:tc>
                <a:extLst>
                  <a:ext uri="{0D108BD9-81ED-4DB2-BD59-A6C34878D82A}">
                    <a16:rowId xmlns:a16="http://schemas.microsoft.com/office/drawing/2014/main" val="2004392478"/>
                  </a:ext>
                </a:extLst>
              </a:tr>
              <a:tr h="892517"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</a:t>
                      </a:r>
                      <a:r>
                        <a:rPr lang="en-GB" sz="16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 </a:t>
                      </a:r>
                      <a:r>
                        <a:rPr lang="en-GB" sz="1600" u="none" strike="noStrike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Hao</a:t>
                      </a:r>
                      <a:r>
                        <a:rPr lang="en-GB" sz="16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2018</a:t>
                      </a:r>
                      <a:endParaRPr lang="el-GR" sz="160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fontAlgn="b"/>
                      <a:endParaRPr lang="en-GB" sz="16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79" marR="2079" marT="207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Οι αλγόριθμοι βαθιάς μάθησης είναι εξαιρετικά προοδευτικοί αλγόριθμοι πουαναγνωρίζουν εικόνες, περνώντας τες από κάθε επίπεδο νευρωνικού δικτύου.</a:t>
                      </a:r>
                      <a:endParaRPr lang="el-GR" sz="16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79" marR="2079" marT="2079" marB="0" anchor="b"/>
                </a:tc>
                <a:extLst>
                  <a:ext uri="{0D108BD9-81ED-4DB2-BD59-A6C34878D82A}">
                    <a16:rowId xmlns:a16="http://schemas.microsoft.com/office/drawing/2014/main" val="1064919545"/>
                  </a:ext>
                </a:extLst>
              </a:tr>
              <a:tr h="90236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Suk, 2017</a:t>
                      </a:r>
                      <a:endParaRPr lang="el-GR" sz="160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fontAlgn="b"/>
                      <a:endParaRPr lang="el-GR" sz="16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fontAlgn="b"/>
                      <a:endParaRPr lang="en-US" sz="16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79" marR="2079" marT="207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Εντοπισμός χαρακτηριστικών χαμηλού επιπέδου της εικόνας, όπως άκρες και </a:t>
                      </a:r>
                      <a:r>
                        <a:rPr lang="el-GR" sz="1600" u="none" strike="noStrike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εικονοστοιχεία</a:t>
                      </a:r>
                      <a:r>
                        <a:rPr lang="el-GR" sz="16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όπου λαμβάνονται πληροφορίες και σχηματίζουν ολιστικές αναπαραστάσεις, συγκρίνοντάς τις με προηγούμενα δεδομένα.</a:t>
                      </a:r>
                      <a:endParaRPr lang="el-GR" sz="16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79" marR="2079" marT="2079" marB="0" anchor="b"/>
                </a:tc>
                <a:extLst>
                  <a:ext uri="{0D108BD9-81ED-4DB2-BD59-A6C34878D82A}">
                    <a16:rowId xmlns:a16="http://schemas.microsoft.com/office/drawing/2014/main" val="3373408506"/>
                  </a:ext>
                </a:extLst>
              </a:tr>
              <a:tr h="634219"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Nomer et al., 2020</a:t>
                      </a:r>
                      <a:endParaRPr lang="en-GB" sz="16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79" marR="2079" marT="207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6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Η βαθιά μάθηση δεν θεωρείται αποτελεσματική ως γραμμικά ή ενισχυμένα μοντέλα δέντρων.</a:t>
                      </a:r>
                      <a:endParaRPr lang="el-GR" sz="16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79" marR="2079" marT="2079" marB="0" anchor="b"/>
                </a:tc>
                <a:extLst>
                  <a:ext uri="{0D108BD9-81ED-4DB2-BD59-A6C34878D82A}">
                    <a16:rowId xmlns:a16="http://schemas.microsoft.com/office/drawing/2014/main" val="4072369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5278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/>
      </p:transition>
    </mc:Choice>
    <mc:Fallback xmlns=""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29"/>
          <p:cNvSpPr txBox="1">
            <a:spLocks noGrp="1"/>
          </p:cNvSpPr>
          <p:nvPr>
            <p:ph type="title"/>
          </p:nvPr>
        </p:nvSpPr>
        <p:spPr>
          <a:xfrm>
            <a:off x="0" y="202786"/>
            <a:ext cx="9144000" cy="52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/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Οι αλγόριθμοι </a:t>
            </a:r>
            <a:r>
              <a:rPr 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</a:t>
            </a:r>
            <a:endParaRPr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1" name="Google Shape;971;p29"/>
          <p:cNvSpPr txBox="1"/>
          <p:nvPr/>
        </p:nvSpPr>
        <p:spPr>
          <a:xfrm>
            <a:off x="2033337" y="725007"/>
            <a:ext cx="6839951" cy="4339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spAutoFit/>
          </a:bodyPr>
          <a:lstStyle/>
          <a:p>
            <a:pPr marL="171450" lvl="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l-GR" sz="20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Συνελικτικά</a:t>
            </a: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l-GR" sz="20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νευρωνικά</a:t>
            </a: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δίκτυα (CNN).</a:t>
            </a:r>
          </a:p>
          <a:p>
            <a:pPr marL="171450" lvl="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Δίκτυα μακροπρόθεσμης μνήμης (LSTM).</a:t>
            </a:r>
          </a:p>
          <a:p>
            <a:pPr marL="171450" lvl="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Επαναλαμβανόμενα </a:t>
            </a:r>
            <a:r>
              <a:rPr lang="el-GR" sz="20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νευρωνικά</a:t>
            </a: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δίκτυα (RNN).</a:t>
            </a:r>
          </a:p>
          <a:p>
            <a:pPr marL="171450" lvl="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Δίκτυα</a:t>
            </a:r>
            <a:r>
              <a:rPr lang="en-US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Generative Adversarial Networks (GAN)</a:t>
            </a: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.</a:t>
            </a:r>
          </a:p>
          <a:p>
            <a:pPr marL="171450" lvl="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Δίκτυα συναρτήσεων ακτινικής βάσης (RBFN).</a:t>
            </a:r>
          </a:p>
          <a:p>
            <a:pPr marL="171450" lvl="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l-GR" sz="20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Πολυστρωματικά</a:t>
            </a: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Perceptrons</a:t>
            </a:r>
            <a:r>
              <a:rPr lang="en-US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(MLPs)</a:t>
            </a: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.</a:t>
            </a:r>
          </a:p>
          <a:p>
            <a:pPr marL="171450" lvl="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l-GR" sz="20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Αυτοοργάνωση</a:t>
            </a: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χαρτών (</a:t>
            </a:r>
            <a:r>
              <a:rPr lang="en-US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SOM)</a:t>
            </a: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.</a:t>
            </a:r>
          </a:p>
          <a:p>
            <a:pPr marL="171450" lvl="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Δίκτυα βαθιάς πεποίθησης (</a:t>
            </a:r>
            <a:r>
              <a:rPr lang="en-US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DBN)</a:t>
            </a: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.</a:t>
            </a:r>
          </a:p>
          <a:p>
            <a:pPr marL="171450" lvl="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Περιορισμένες μηχανές </a:t>
            </a:r>
            <a:r>
              <a:rPr lang="el-GR" sz="20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Boltzmann</a:t>
            </a: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(RBM).</a:t>
            </a:r>
          </a:p>
        </p:txBody>
      </p:sp>
      <p:grpSp>
        <p:nvGrpSpPr>
          <p:cNvPr id="974" name="Google Shape;974;p29"/>
          <p:cNvGrpSpPr/>
          <p:nvPr/>
        </p:nvGrpSpPr>
        <p:grpSpPr>
          <a:xfrm>
            <a:off x="1611149" y="629894"/>
            <a:ext cx="5921700" cy="192184"/>
            <a:chOff x="902597" y="1069304"/>
            <a:chExt cx="5921700" cy="192184"/>
          </a:xfrm>
        </p:grpSpPr>
        <p:grpSp>
          <p:nvGrpSpPr>
            <p:cNvPr id="975" name="Google Shape;975;p29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976" name="Google Shape;976;p29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77" name="Google Shape;977;p29"/>
              <p:cNvCxnSpPr>
                <a:stCxn id="978" idx="6"/>
                <a:endCxn id="979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79" name="Google Shape;979;p29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78" name="Google Shape;978;p29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6994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/>
      </p:transition>
    </mc:Choice>
    <mc:Fallback xmlns=""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29"/>
          <p:cNvSpPr txBox="1">
            <a:spLocks noGrp="1"/>
          </p:cNvSpPr>
          <p:nvPr>
            <p:ph type="title"/>
          </p:nvPr>
        </p:nvSpPr>
        <p:spPr>
          <a:xfrm>
            <a:off x="0" y="177758"/>
            <a:ext cx="9144000" cy="52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/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Συμπεράσματα</a:t>
            </a:r>
            <a:endParaRPr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1" name="Google Shape;971;p29"/>
          <p:cNvSpPr txBox="1"/>
          <p:nvPr/>
        </p:nvSpPr>
        <p:spPr>
          <a:xfrm>
            <a:off x="270708" y="626639"/>
            <a:ext cx="8602579" cy="4416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spAutoFit/>
          </a:bodyPr>
          <a:lstStyle/>
          <a:p>
            <a:pPr marL="171450" lvl="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l-GR" sz="17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Η συγχώνευση τεχνικών βαθιάς μάθησης με το πρόβλημα </a:t>
            </a:r>
            <a:r>
              <a:rPr lang="el-GR" sz="17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Knapsack</a:t>
            </a:r>
            <a:r>
              <a:rPr lang="el-GR" sz="17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συμβάλλει στην αντιμετώπιση των προκλήσεων που θέτει αυτό το κλασικό πρόβλημα συνδυαστικής βελτιστοποίησης. </a:t>
            </a:r>
          </a:p>
          <a:p>
            <a:pPr marL="171450" lvl="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l-GR" sz="17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Η προσαρμοστικότητα των </a:t>
            </a:r>
            <a:r>
              <a:rPr lang="el-GR" sz="17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νευρωνικών</a:t>
            </a:r>
            <a:r>
              <a:rPr lang="el-GR" sz="17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δικτύων επιτρέπει την ενσωμάτωση κωδικοποιήσεων πραγματικών τιμών και δυαδικών κωδικοποιήσεων.</a:t>
            </a:r>
          </a:p>
          <a:p>
            <a:pPr marL="171450" lvl="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l-GR" sz="17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Οι αρχιτεκτονικές που κυμαίνονται από δίκτυα τροφοδότησης έως πιο σύνθετα επαναλαμβανόμενα </a:t>
            </a:r>
            <a:r>
              <a:rPr lang="el-GR" sz="17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νευρωνικά</a:t>
            </a:r>
            <a:r>
              <a:rPr lang="el-GR" sz="17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δίκτυα και εξελικτικούς αλγορίθμους αναδεικνύουν την ευελιξία αυτών των μοντέλων.</a:t>
            </a:r>
          </a:p>
          <a:p>
            <a:pPr marL="171450" lvl="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l-GR" sz="17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Η ικανότητα των </a:t>
            </a:r>
            <a:r>
              <a:rPr lang="el-GR" sz="17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deep</a:t>
            </a:r>
            <a:r>
              <a:rPr lang="el-GR" sz="17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l-GR" sz="17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learning</a:t>
            </a:r>
            <a:r>
              <a:rPr lang="el-GR" sz="17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να μαθαίνουν περίπλοκα μοτίβα και σχέσεις μέσα στα δεδομένα τους επιτρέπει να προσαρμόζονται στις πολυπλοκότητες του πραγματικού κόσμου, παρέχοντας στους υπεύθυνους λήψης αποφάσεων ισχυρά εργαλεία βελτιστοποίησης.</a:t>
            </a:r>
          </a:p>
          <a:p>
            <a:pPr marL="171450" lvl="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l-GR" sz="17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Η γενίκευση για τον χειρισμό μεγαλύτερων περιπτώσεων και η διερεύνηση νέων αρχιτεκτονικών </a:t>
            </a:r>
            <a:r>
              <a:rPr lang="el-GR" sz="17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νευρωνικών</a:t>
            </a:r>
            <a:r>
              <a:rPr lang="el-GR" sz="17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δικτύων αποτελούν τομείς για συνεχή διερεύνηση. </a:t>
            </a:r>
          </a:p>
          <a:p>
            <a:pPr marL="171450" lvl="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l-GR" sz="17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Η μελλοντική έρευνα μπορεί να εμβαθύνει σε υβριδικά μοντέλα που ενσωματώνουν απρόσκοπτα τη βαθιά μάθηση με αναδυόμενες τεχνολογίες.</a:t>
            </a:r>
          </a:p>
        </p:txBody>
      </p:sp>
      <p:grpSp>
        <p:nvGrpSpPr>
          <p:cNvPr id="974" name="Google Shape;974;p29"/>
          <p:cNvGrpSpPr/>
          <p:nvPr/>
        </p:nvGrpSpPr>
        <p:grpSpPr>
          <a:xfrm>
            <a:off x="1611148" y="604866"/>
            <a:ext cx="5921700" cy="192184"/>
            <a:chOff x="902597" y="1069304"/>
            <a:chExt cx="5921700" cy="192184"/>
          </a:xfrm>
        </p:grpSpPr>
        <p:grpSp>
          <p:nvGrpSpPr>
            <p:cNvPr id="975" name="Google Shape;975;p29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976" name="Google Shape;976;p29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77" name="Google Shape;977;p29"/>
              <p:cNvCxnSpPr>
                <a:stCxn id="978" idx="6"/>
                <a:endCxn id="979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79" name="Google Shape;979;p29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78" name="Google Shape;978;p29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6167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/>
      </p:transition>
    </mc:Choice>
    <mc:Fallback xmlns=""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33"/>
          <p:cNvSpPr txBox="1">
            <a:spLocks noGrp="1"/>
          </p:cNvSpPr>
          <p:nvPr>
            <p:ph type="title"/>
          </p:nvPr>
        </p:nvSpPr>
        <p:spPr>
          <a:xfrm>
            <a:off x="3791747" y="802531"/>
            <a:ext cx="3946500" cy="1175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3" name="Google Shape;1113;p33"/>
          <p:cNvSpPr txBox="1">
            <a:spLocks noGrp="1"/>
          </p:cNvSpPr>
          <p:nvPr>
            <p:ph type="title" idx="2"/>
          </p:nvPr>
        </p:nvSpPr>
        <p:spPr>
          <a:xfrm>
            <a:off x="1263316" y="2347850"/>
            <a:ext cx="6474931" cy="1229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/>
            <a:r>
              <a:rPr lang="el-GR" b="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 Medium"/>
                <a:cs typeface="Times New Roman" panose="02020603050405020304" pitchFamily="18" charset="0"/>
                <a:sym typeface="Montserrat Medium"/>
              </a:rPr>
              <a:t>Αναφορά προσομοίωσης αλγορίθμων </a:t>
            </a:r>
            <a:br>
              <a:rPr lang="el-GR" b="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 Medium"/>
                <a:cs typeface="Times New Roman" panose="02020603050405020304" pitchFamily="18" charset="0"/>
                <a:sym typeface="Montserrat Medium"/>
              </a:rPr>
            </a:br>
            <a:r>
              <a:rPr lang="el-GR" b="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 Medium"/>
                <a:cs typeface="Times New Roman" panose="02020603050405020304" pitchFamily="18" charset="0"/>
                <a:sym typeface="Montserrat Medium"/>
              </a:rPr>
              <a:t>για την επίλυση του KP</a:t>
            </a:r>
            <a:endParaRPr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grpSp>
        <p:nvGrpSpPr>
          <p:cNvPr id="1115" name="Google Shape;1115;p33"/>
          <p:cNvGrpSpPr/>
          <p:nvPr/>
        </p:nvGrpSpPr>
        <p:grpSpPr>
          <a:xfrm>
            <a:off x="2598821" y="2089315"/>
            <a:ext cx="5139426" cy="306847"/>
            <a:chOff x="4788672" y="2177404"/>
            <a:chExt cx="3478000" cy="192185"/>
          </a:xfrm>
        </p:grpSpPr>
        <p:sp>
          <p:nvSpPr>
            <p:cNvPr id="1116" name="Google Shape;1116;p33"/>
            <p:cNvSpPr/>
            <p:nvPr/>
          </p:nvSpPr>
          <p:spPr>
            <a:xfrm rot="-2700000" flipH="1">
              <a:off x="7250940" y="2205609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17" name="Google Shape;1117;p33"/>
            <p:cNvCxnSpPr>
              <a:stCxn id="1118" idx="6"/>
              <a:endCxn id="1119" idx="2"/>
            </p:cNvCxnSpPr>
            <p:nvPr/>
          </p:nvCxnSpPr>
          <p:spPr>
            <a:xfrm rot="10800000">
              <a:off x="4845772" y="2272517"/>
              <a:ext cx="33639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19" name="Google Shape;1119;p33"/>
            <p:cNvSpPr/>
            <p:nvPr/>
          </p:nvSpPr>
          <p:spPr>
            <a:xfrm flipH="1">
              <a:off x="4788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8" name="Google Shape;1118;p33"/>
            <p:cNvSpPr/>
            <p:nvPr/>
          </p:nvSpPr>
          <p:spPr>
            <a:xfrm flipH="1">
              <a:off x="8209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20" name="Google Shape;1120;p33"/>
          <p:cNvGrpSpPr/>
          <p:nvPr/>
        </p:nvGrpSpPr>
        <p:grpSpPr>
          <a:xfrm flipH="1">
            <a:off x="7834772" y="2544125"/>
            <a:ext cx="1929500" cy="2210100"/>
            <a:chOff x="295725" y="-3462825"/>
            <a:chExt cx="1929500" cy="2210100"/>
          </a:xfrm>
        </p:grpSpPr>
        <p:sp>
          <p:nvSpPr>
            <p:cNvPr id="1121" name="Google Shape;1121;p33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2" name="Google Shape;1122;p33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3" name="Google Shape;1123;p33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4" name="Google Shape;1124;p33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5" name="Google Shape;1125;p33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6" name="Google Shape;1126;p33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7" name="Google Shape;1127;p33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8" name="Google Shape;1128;p33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9" name="Google Shape;1129;p33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0" name="Google Shape;1130;p33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1" name="Google Shape;1131;p33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2" name="Google Shape;1132;p33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3" name="Google Shape;1133;p33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4" name="Google Shape;1134;p33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5" name="Google Shape;1135;p33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6" name="Google Shape;1136;p33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7" name="Google Shape;1137;p33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8" name="Google Shape;1138;p33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9" name="Google Shape;1139;p33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0" name="Google Shape;1140;p33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1" name="Google Shape;1141;p33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2" name="Google Shape;1142;p33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3" name="Google Shape;1143;p33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4" name="Google Shape;1144;p33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5" name="Google Shape;1145;p33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46" name="Google Shape;1146;p33"/>
          <p:cNvGrpSpPr/>
          <p:nvPr/>
        </p:nvGrpSpPr>
        <p:grpSpPr>
          <a:xfrm>
            <a:off x="1005972" y="2347838"/>
            <a:ext cx="873188" cy="546900"/>
            <a:chOff x="1115510" y="4327288"/>
            <a:chExt cx="873188" cy="546900"/>
          </a:xfrm>
        </p:grpSpPr>
        <p:sp>
          <p:nvSpPr>
            <p:cNvPr id="1147" name="Google Shape;1147;p33"/>
            <p:cNvSpPr/>
            <p:nvPr/>
          </p:nvSpPr>
          <p:spPr>
            <a:xfrm flipH="1">
              <a:off x="1115510" y="4327288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148" name="Google Shape;1148;p33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1149" name="Google Shape;1149;p33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50" name="Google Shape;1150;p33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51" name="Google Shape;1151;p33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67243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/>
      </p:transition>
    </mc:Choice>
    <mc:Fallback xmlns="">
      <p:transition spd="slow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2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/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Δήλωση του προβλήματος </a:t>
            </a:r>
            <a:r>
              <a:rPr 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0/1 Knapsack</a:t>
            </a:r>
            <a:endParaRPr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1" name="Google Shape;971;p29"/>
          <p:cNvSpPr txBox="1"/>
          <p:nvPr/>
        </p:nvSpPr>
        <p:spPr>
          <a:xfrm>
            <a:off x="270709" y="550721"/>
            <a:ext cx="8602579" cy="4647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spAutoFit/>
          </a:bodyPr>
          <a:lstStyle/>
          <a:p>
            <a:pPr marL="171450" lvl="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Ανάπτυξη ενός λύτη του προβλήματος </a:t>
            </a:r>
            <a:r>
              <a:rPr lang="el-GR" sz="18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Knapsack</a:t>
            </a: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που χρησιμοποιεί τρεις διαφορετικούς αλγορίθμους </a:t>
            </a:r>
            <a:r>
              <a:rPr lang="el-GR" sz="18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deep</a:t>
            </a: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l-GR" sz="18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learning</a:t>
            </a: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: </a:t>
            </a:r>
            <a:b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</a:b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  - </a:t>
            </a:r>
            <a:r>
              <a:rPr lang="el-GR" sz="18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Neural</a:t>
            </a: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l-GR" sz="18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network</a:t>
            </a: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, </a:t>
            </a:r>
            <a:b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</a:b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  - </a:t>
            </a:r>
            <a:r>
              <a:rPr lang="el-GR" sz="18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Greedy</a:t>
            </a: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αλγόριθμο και</a:t>
            </a:r>
            <a:b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</a:b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  - προσομοιωμένη </a:t>
            </a:r>
            <a:r>
              <a:rPr lang="el-GR" sz="18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ανόπτηση</a:t>
            </a: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. </a:t>
            </a:r>
          </a:p>
          <a:p>
            <a:pPr marL="171450" lvl="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Συγκρίνοντας και αντιπαραβάλλοντας τις επιδόσεις αυτών των αλγορίθμων, το έργο αυτό αποσκοπεί στην παροχή πληροφοριών σχετικά με την αποτελεσματικότητα και την </a:t>
            </a:r>
            <a:r>
              <a:rPr lang="el-GR" sz="18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καταλληλότητά</a:t>
            </a: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τους.</a:t>
            </a:r>
          </a:p>
          <a:p>
            <a:pPr marL="171450" lvl="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Σχεδιασμός μια γραφικής </a:t>
            </a:r>
            <a:r>
              <a:rPr lang="el-GR" sz="18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διεπαφής</a:t>
            </a: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χρήστη (GUI) με συγκεκριμένες απαιτήσεις.</a:t>
            </a:r>
          </a:p>
          <a:p>
            <a:pPr marL="171450" lvl="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Το GUI επιτρέπει στους χρήστες να επιλέγουν τον αριθμό των στοιχείων για την περίπτωση του προβλήματος (5-200 στοιχεία), καλύπτοντας διαφορετικές πολυπλοκότητες.</a:t>
            </a:r>
          </a:p>
          <a:p>
            <a:pPr marL="171450" lvl="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Οι χρήστες μπορούν να επιλέξουν ποιος από τους τρεις αλγορίθμους </a:t>
            </a:r>
            <a:r>
              <a:rPr lang="el-GR" sz="18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Deep</a:t>
            </a: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l-GR" sz="18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learning</a:t>
            </a: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.</a:t>
            </a:r>
          </a:p>
          <a:p>
            <a:pPr marL="171450" lvl="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Με την έναρξη της διαδικασίας επίλυσης μέσω ενός ειδικού κουμπιού, το GUI επιδεικνύει οπτικά τη διαδικασία επίλυσης και παρουσιάζει την τελική λύση του </a:t>
            </a:r>
            <a:r>
              <a:rPr lang="el-GR" sz="18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Knapsack</a:t>
            </a: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. </a:t>
            </a:r>
          </a:p>
        </p:txBody>
      </p:sp>
      <p:grpSp>
        <p:nvGrpSpPr>
          <p:cNvPr id="974" name="Google Shape;974;p29"/>
          <p:cNvGrpSpPr/>
          <p:nvPr/>
        </p:nvGrpSpPr>
        <p:grpSpPr>
          <a:xfrm>
            <a:off x="1611149" y="427108"/>
            <a:ext cx="5921700" cy="192184"/>
            <a:chOff x="902597" y="1069304"/>
            <a:chExt cx="5921700" cy="192184"/>
          </a:xfrm>
        </p:grpSpPr>
        <p:grpSp>
          <p:nvGrpSpPr>
            <p:cNvPr id="975" name="Google Shape;975;p29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976" name="Google Shape;976;p29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77" name="Google Shape;977;p29"/>
              <p:cNvCxnSpPr>
                <a:stCxn id="978" idx="6"/>
                <a:endCxn id="979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79" name="Google Shape;979;p29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78" name="Google Shape;978;p29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3487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/>
      </p:transition>
    </mc:Choice>
    <mc:Fallback xmlns="">
      <p:transition spd="slow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29"/>
          <p:cNvSpPr txBox="1">
            <a:spLocks noGrp="1"/>
          </p:cNvSpPr>
          <p:nvPr>
            <p:ph type="title"/>
          </p:nvPr>
        </p:nvSpPr>
        <p:spPr>
          <a:xfrm>
            <a:off x="0" y="202786"/>
            <a:ext cx="9144000" cy="52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/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Εφαρμογή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1" name="Google Shape;971;p29"/>
          <p:cNvSpPr txBox="1"/>
          <p:nvPr/>
        </p:nvSpPr>
        <p:spPr>
          <a:xfrm>
            <a:off x="613611" y="725007"/>
            <a:ext cx="8259677" cy="4093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spAutoFit/>
          </a:bodyPr>
          <a:lstStyle/>
          <a:p>
            <a:r>
              <a:rPr lang="el-GR" sz="1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Στη φάση της υλοποίησης, η δομή του κώδικα ακολουθεί οργανωμένη προσέγγιση. Ο κώδικας περιλαμβάνει διάφορες συναρτήσεις και κλάσεις προσαρμοσμένες για να χειρίζονται διάφορες πτυχές του </a:t>
            </a:r>
            <a:r>
              <a:rPr lang="el-GR" sz="1800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Knapsack</a:t>
            </a:r>
            <a:r>
              <a:rPr lang="el-GR" sz="1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1800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l-GR" sz="1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1800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Solver</a:t>
            </a:r>
            <a:r>
              <a:rPr lang="el-GR" sz="1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και της γραφικής </a:t>
            </a:r>
            <a:r>
              <a:rPr lang="el-GR" sz="1800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διεπαφής</a:t>
            </a:r>
            <a:r>
              <a:rPr lang="el-GR" sz="1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χρήστη (GUI):</a:t>
            </a:r>
          </a:p>
          <a:p>
            <a:r>
              <a:rPr lang="el-GR" dirty="0"/>
              <a:t> </a:t>
            </a:r>
          </a:p>
          <a:p>
            <a:pPr marL="171450" lvl="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l-GR" sz="1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Επισκόπηση της δομής του υλοποιημένου κώδικα.</a:t>
            </a:r>
          </a:p>
          <a:p>
            <a:pPr marL="171450" lvl="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l-GR" sz="1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Επαναλαμβανόμενα </a:t>
            </a:r>
            <a:r>
              <a:rPr lang="el-GR" sz="1800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νευρωνικά</a:t>
            </a:r>
            <a:r>
              <a:rPr lang="el-GR" sz="1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δίκτυα (RNN).</a:t>
            </a:r>
          </a:p>
          <a:p>
            <a:pPr marL="171450" lvl="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l-GR" sz="1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Συνάρτηση δημιουργίας δεδομένων.</a:t>
            </a:r>
          </a:p>
          <a:p>
            <a:pPr marL="171450" lvl="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l-GR" sz="1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Λειτουργίες εκπαίδευσης για κάθε αλγόριθμο</a:t>
            </a:r>
          </a:p>
          <a:p>
            <a:pPr marL="171450" lvl="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l-GR" sz="1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Συναρτήσεις επίλυσης σακιδίων.</a:t>
            </a:r>
          </a:p>
          <a:p>
            <a:pPr marL="171450" lvl="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l-GR" sz="1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Λειτουργία δημιουργίας GUI.</a:t>
            </a:r>
          </a:p>
        </p:txBody>
      </p:sp>
      <p:grpSp>
        <p:nvGrpSpPr>
          <p:cNvPr id="974" name="Google Shape;974;p29"/>
          <p:cNvGrpSpPr/>
          <p:nvPr/>
        </p:nvGrpSpPr>
        <p:grpSpPr>
          <a:xfrm>
            <a:off x="1611149" y="629894"/>
            <a:ext cx="5921700" cy="192184"/>
            <a:chOff x="902597" y="1069304"/>
            <a:chExt cx="5921700" cy="192184"/>
          </a:xfrm>
        </p:grpSpPr>
        <p:grpSp>
          <p:nvGrpSpPr>
            <p:cNvPr id="975" name="Google Shape;975;p29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976" name="Google Shape;976;p29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77" name="Google Shape;977;p29"/>
              <p:cNvCxnSpPr>
                <a:stCxn id="978" idx="6"/>
                <a:endCxn id="979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79" name="Google Shape;979;p29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78" name="Google Shape;978;p29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0" name="Picture 1" descr="A screenshot of a computer&#10;&#10;Description automatically generated"/>
          <p:cNvPicPr/>
          <p:nvPr/>
        </p:nvPicPr>
        <p:blipFill>
          <a:blip r:embed="rId3"/>
          <a:stretch>
            <a:fillRect/>
          </a:stretch>
        </p:blipFill>
        <p:spPr>
          <a:xfrm>
            <a:off x="5990388" y="2734335"/>
            <a:ext cx="2882900" cy="2084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82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/>
      </p:transition>
    </mc:Choice>
    <mc:Fallback xmlns="">
      <p:transition spd="slow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29"/>
          <p:cNvSpPr txBox="1">
            <a:spLocks noGrp="1"/>
          </p:cNvSpPr>
          <p:nvPr>
            <p:ph type="title"/>
          </p:nvPr>
        </p:nvSpPr>
        <p:spPr>
          <a:xfrm>
            <a:off x="0" y="202786"/>
            <a:ext cx="9144000" cy="52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/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Ανάλυση Κώδικα (1)</a:t>
            </a:r>
            <a:endParaRPr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1" name="Google Shape;971;p29"/>
          <p:cNvSpPr txBox="1"/>
          <p:nvPr/>
        </p:nvSpPr>
        <p:spPr>
          <a:xfrm>
            <a:off x="601579" y="725007"/>
            <a:ext cx="8259677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spAutoFit/>
          </a:bodyPr>
          <a:lstStyle/>
          <a:p>
            <a:pPr marL="171450" lvl="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Δημιουργία δεδομένων:</a:t>
            </a:r>
          </a:p>
        </p:txBody>
      </p:sp>
      <p:grpSp>
        <p:nvGrpSpPr>
          <p:cNvPr id="974" name="Google Shape;974;p29"/>
          <p:cNvGrpSpPr/>
          <p:nvPr/>
        </p:nvGrpSpPr>
        <p:grpSpPr>
          <a:xfrm>
            <a:off x="1611149" y="629894"/>
            <a:ext cx="5921700" cy="192184"/>
            <a:chOff x="902597" y="1069304"/>
            <a:chExt cx="5921700" cy="192184"/>
          </a:xfrm>
        </p:grpSpPr>
        <p:grpSp>
          <p:nvGrpSpPr>
            <p:cNvPr id="975" name="Google Shape;975;p29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976" name="Google Shape;976;p29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77" name="Google Shape;977;p29"/>
              <p:cNvCxnSpPr>
                <a:stCxn id="978" idx="6"/>
                <a:endCxn id="979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79" name="Google Shape;979;p29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78" name="Google Shape;978;p29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1" name="Picture 1" descr="A black background with white text&#10;&#10;Description automatically generated"/>
          <p:cNvPicPr/>
          <p:nvPr/>
        </p:nvPicPr>
        <p:blipFill>
          <a:blip r:embed="rId3"/>
          <a:stretch>
            <a:fillRect/>
          </a:stretch>
        </p:blipFill>
        <p:spPr>
          <a:xfrm>
            <a:off x="2176461" y="1340530"/>
            <a:ext cx="4791075" cy="485775"/>
          </a:xfrm>
          <a:prstGeom prst="rect">
            <a:avLst/>
          </a:prstGeom>
        </p:spPr>
      </p:pic>
      <p:pic>
        <p:nvPicPr>
          <p:cNvPr id="12" name="Picture 1" descr="A computer screen shot of text&#10;&#10;Description automatically generated"/>
          <p:cNvPicPr/>
          <p:nvPr/>
        </p:nvPicPr>
        <p:blipFill>
          <a:blip r:embed="rId4"/>
          <a:stretch>
            <a:fillRect/>
          </a:stretch>
        </p:blipFill>
        <p:spPr>
          <a:xfrm>
            <a:off x="1600200" y="1912302"/>
            <a:ext cx="5943600" cy="1318895"/>
          </a:xfrm>
          <a:prstGeom prst="rect">
            <a:avLst/>
          </a:prstGeom>
        </p:spPr>
      </p:pic>
      <p:pic>
        <p:nvPicPr>
          <p:cNvPr id="13" name="Picture 1"/>
          <p:cNvPicPr/>
          <p:nvPr/>
        </p:nvPicPr>
        <p:blipFill>
          <a:blip r:embed="rId5"/>
          <a:stretch>
            <a:fillRect/>
          </a:stretch>
        </p:blipFill>
        <p:spPr>
          <a:xfrm>
            <a:off x="1589249" y="3336510"/>
            <a:ext cx="5943600" cy="427355"/>
          </a:xfrm>
          <a:prstGeom prst="rect">
            <a:avLst/>
          </a:prstGeom>
        </p:spPr>
      </p:pic>
      <p:pic>
        <p:nvPicPr>
          <p:cNvPr id="14" name="Picture 1" descr="A screen shot of a computer&#10;&#10;Description automatically generated"/>
          <p:cNvPicPr/>
          <p:nvPr/>
        </p:nvPicPr>
        <p:blipFill>
          <a:blip r:embed="rId6"/>
          <a:stretch>
            <a:fillRect/>
          </a:stretch>
        </p:blipFill>
        <p:spPr>
          <a:xfrm>
            <a:off x="2167734" y="3869178"/>
            <a:ext cx="478663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89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/>
      </p:transition>
    </mc:Choice>
    <mc:Fallback xmlns="">
      <p:transition spd="slow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29"/>
          <p:cNvSpPr txBox="1">
            <a:spLocks noGrp="1"/>
          </p:cNvSpPr>
          <p:nvPr>
            <p:ph type="title"/>
          </p:nvPr>
        </p:nvSpPr>
        <p:spPr>
          <a:xfrm>
            <a:off x="0" y="202786"/>
            <a:ext cx="9144000" cy="52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/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Ανάλυση Κώδικα (2)</a:t>
            </a:r>
            <a:endParaRPr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1" name="Google Shape;971;p29"/>
          <p:cNvSpPr txBox="1"/>
          <p:nvPr/>
        </p:nvSpPr>
        <p:spPr>
          <a:xfrm>
            <a:off x="42100" y="730700"/>
            <a:ext cx="8259677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spAutoFit/>
          </a:bodyPr>
          <a:lstStyle/>
          <a:p>
            <a:pPr marL="171450" lvl="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Εκπαίδευση μοντέλου:</a:t>
            </a:r>
          </a:p>
        </p:txBody>
      </p:sp>
      <p:grpSp>
        <p:nvGrpSpPr>
          <p:cNvPr id="974" name="Google Shape;974;p29"/>
          <p:cNvGrpSpPr/>
          <p:nvPr/>
        </p:nvGrpSpPr>
        <p:grpSpPr>
          <a:xfrm>
            <a:off x="1611149" y="629894"/>
            <a:ext cx="5921700" cy="192184"/>
            <a:chOff x="902597" y="1069304"/>
            <a:chExt cx="5921700" cy="192184"/>
          </a:xfrm>
        </p:grpSpPr>
        <p:grpSp>
          <p:nvGrpSpPr>
            <p:cNvPr id="975" name="Google Shape;975;p29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976" name="Google Shape;976;p29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77" name="Google Shape;977;p29"/>
              <p:cNvCxnSpPr>
                <a:stCxn id="978" idx="6"/>
                <a:endCxn id="979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79" name="Google Shape;979;p29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78" name="Google Shape;978;p29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5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3200400" y="759196"/>
            <a:ext cx="5943600" cy="643890"/>
          </a:xfrm>
          <a:prstGeom prst="rect">
            <a:avLst/>
          </a:prstGeom>
        </p:spPr>
      </p:pic>
      <p:pic>
        <p:nvPicPr>
          <p:cNvPr id="16" name="Picture 1" descr="A screen shot of a computer program&#10;&#10;Description automatically generated"/>
          <p:cNvPicPr/>
          <p:nvPr/>
        </p:nvPicPr>
        <p:blipFill>
          <a:blip r:embed="rId4"/>
          <a:stretch>
            <a:fillRect/>
          </a:stretch>
        </p:blipFill>
        <p:spPr>
          <a:xfrm>
            <a:off x="1759617" y="1431582"/>
            <a:ext cx="5943600" cy="2173605"/>
          </a:xfrm>
          <a:prstGeom prst="rect">
            <a:avLst/>
          </a:prstGeom>
        </p:spPr>
      </p:pic>
      <p:pic>
        <p:nvPicPr>
          <p:cNvPr id="17" name="Picture 1" descr="A screen shot of a computer code&#10;&#10;Description automatically generated"/>
          <p:cNvPicPr/>
          <p:nvPr/>
        </p:nvPicPr>
        <p:blipFill>
          <a:blip r:embed="rId5"/>
          <a:stretch>
            <a:fillRect/>
          </a:stretch>
        </p:blipFill>
        <p:spPr>
          <a:xfrm>
            <a:off x="1759617" y="3633683"/>
            <a:ext cx="5943600" cy="145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325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/>
      </p:transition>
    </mc:Choice>
    <mc:Fallback xmlns="">
      <p:transition spd="slow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29"/>
          <p:cNvSpPr txBox="1">
            <a:spLocks noGrp="1"/>
          </p:cNvSpPr>
          <p:nvPr>
            <p:ph type="title"/>
          </p:nvPr>
        </p:nvSpPr>
        <p:spPr>
          <a:xfrm>
            <a:off x="0" y="202786"/>
            <a:ext cx="9144000" cy="52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/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Ανάλυση Κώδικα (3)</a:t>
            </a:r>
            <a:endParaRPr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1" name="Google Shape;971;p29"/>
          <p:cNvSpPr txBox="1"/>
          <p:nvPr/>
        </p:nvSpPr>
        <p:spPr>
          <a:xfrm>
            <a:off x="601579" y="725007"/>
            <a:ext cx="8259677" cy="4616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spAutoFit/>
          </a:bodyPr>
          <a:lstStyle/>
          <a:p>
            <a:pPr marL="171450" lvl="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Επίλυση προβλήματος με </a:t>
            </a:r>
            <a:r>
              <a:rPr lang="en-US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NN</a:t>
            </a: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:</a:t>
            </a:r>
          </a:p>
          <a:p>
            <a:pPr marL="171450" lvl="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l-GR" sz="2000"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171450" lvl="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Πρόβλεψη μοντέλου:</a:t>
            </a:r>
          </a:p>
          <a:p>
            <a:pPr marL="171450" lvl="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l-GR" sz="2000"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171450" lvl="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Καθορισμός </a:t>
            </a:r>
            <a:r>
              <a:rPr lang="el-GR" sz="20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threshold</a:t>
            </a: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για τη λήψη των προβλεπόμενων αντικειμένων:</a:t>
            </a:r>
          </a:p>
          <a:p>
            <a:pPr marL="171450" lvl="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l-GR" sz="2000"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171450" lvl="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l-GR" sz="2000"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171450" lvl="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Επιστροφή προβλεπόμενων στοιχείων:</a:t>
            </a:r>
            <a:b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</a:br>
            <a:r>
              <a:rPr lang="el-GR" sz="16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  - η συνάρτηση επιστρέφει τον κατάλογο των προβλεπόμενων στοιχείων, όπου κάθε στοιχείο αντιστοιχεί στο αν το αντίστοιχο στοιχείο πρέπει να επιλεγεί (1) ή όχι (0) με βάση την πρόβλεψη του </a:t>
            </a:r>
            <a:r>
              <a:rPr lang="el-GR" sz="16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νευρωνικού</a:t>
            </a:r>
            <a:r>
              <a:rPr lang="el-GR" sz="16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δικτύου.</a:t>
            </a:r>
          </a:p>
        </p:txBody>
      </p:sp>
      <p:grpSp>
        <p:nvGrpSpPr>
          <p:cNvPr id="974" name="Google Shape;974;p29"/>
          <p:cNvGrpSpPr/>
          <p:nvPr/>
        </p:nvGrpSpPr>
        <p:grpSpPr>
          <a:xfrm>
            <a:off x="1611149" y="629894"/>
            <a:ext cx="5921700" cy="192184"/>
            <a:chOff x="902597" y="1069304"/>
            <a:chExt cx="5921700" cy="192184"/>
          </a:xfrm>
        </p:grpSpPr>
        <p:grpSp>
          <p:nvGrpSpPr>
            <p:cNvPr id="975" name="Google Shape;975;p29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976" name="Google Shape;976;p29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77" name="Google Shape;977;p29"/>
              <p:cNvCxnSpPr>
                <a:stCxn id="978" idx="6"/>
                <a:endCxn id="979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79" name="Google Shape;979;p29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78" name="Google Shape;978;p29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5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1914523" y="1405047"/>
            <a:ext cx="5314950" cy="209550"/>
          </a:xfrm>
          <a:prstGeom prst="rect">
            <a:avLst/>
          </a:prstGeom>
        </p:spPr>
      </p:pic>
      <p:pic>
        <p:nvPicPr>
          <p:cNvPr id="16" name="Picture 1"/>
          <p:cNvPicPr/>
          <p:nvPr/>
        </p:nvPicPr>
        <p:blipFill>
          <a:blip r:embed="rId4"/>
          <a:stretch>
            <a:fillRect/>
          </a:stretch>
        </p:blipFill>
        <p:spPr>
          <a:xfrm>
            <a:off x="3519486" y="2219257"/>
            <a:ext cx="2105025" cy="228600"/>
          </a:xfrm>
          <a:prstGeom prst="rect">
            <a:avLst/>
          </a:prstGeom>
        </p:spPr>
      </p:pic>
      <p:pic>
        <p:nvPicPr>
          <p:cNvPr id="17" name="Picture 1"/>
          <p:cNvPicPr/>
          <p:nvPr/>
        </p:nvPicPr>
        <p:blipFill>
          <a:blip r:embed="rId5"/>
          <a:stretch>
            <a:fillRect/>
          </a:stretch>
        </p:blipFill>
        <p:spPr>
          <a:xfrm>
            <a:off x="2228848" y="3317389"/>
            <a:ext cx="4686300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733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/>
      </p:transition>
    </mc:Choice>
    <mc:Fallback xmlns="">
      <p:transition spd="slow">
        <p:random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29"/>
          <p:cNvSpPr txBox="1">
            <a:spLocks noGrp="1"/>
          </p:cNvSpPr>
          <p:nvPr>
            <p:ph type="title"/>
          </p:nvPr>
        </p:nvSpPr>
        <p:spPr>
          <a:xfrm>
            <a:off x="0" y="202786"/>
            <a:ext cx="9144000" cy="52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/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Ανάλυση Κώδικα (4)</a:t>
            </a:r>
            <a:endParaRPr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1" name="Google Shape;971;p29"/>
          <p:cNvSpPr txBox="1"/>
          <p:nvPr/>
        </p:nvSpPr>
        <p:spPr>
          <a:xfrm>
            <a:off x="601579" y="725007"/>
            <a:ext cx="8259677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spAutoFit/>
          </a:bodyPr>
          <a:lstStyle/>
          <a:p>
            <a:pPr marL="171450" lvl="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Επίλυση προβλήματος με </a:t>
            </a:r>
            <a:r>
              <a:rPr lang="el-GR" sz="20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Greedy</a:t>
            </a: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αλγόριθμο:</a:t>
            </a:r>
          </a:p>
          <a:p>
            <a:pPr lvl="0">
              <a:spcBef>
                <a:spcPts val="600"/>
              </a:spcBef>
              <a:spcAft>
                <a:spcPts val="600"/>
              </a:spcAft>
            </a:pPr>
            <a:endParaRPr lang="el-GR" sz="2000"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grpSp>
        <p:nvGrpSpPr>
          <p:cNvPr id="974" name="Google Shape;974;p29"/>
          <p:cNvGrpSpPr/>
          <p:nvPr/>
        </p:nvGrpSpPr>
        <p:grpSpPr>
          <a:xfrm>
            <a:off x="1611149" y="629894"/>
            <a:ext cx="5921700" cy="192184"/>
            <a:chOff x="902597" y="1069304"/>
            <a:chExt cx="5921700" cy="192184"/>
          </a:xfrm>
        </p:grpSpPr>
        <p:grpSp>
          <p:nvGrpSpPr>
            <p:cNvPr id="975" name="Google Shape;975;p29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976" name="Google Shape;976;p29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77" name="Google Shape;977;p29"/>
              <p:cNvCxnSpPr>
                <a:stCxn id="978" idx="6"/>
                <a:endCxn id="979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79" name="Google Shape;979;p29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78" name="Google Shape;978;p29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3" name="Picture 1" descr="A black background with white text&#10;&#10;Description automatically generated"/>
          <p:cNvPicPr/>
          <p:nvPr/>
        </p:nvPicPr>
        <p:blipFill>
          <a:blip r:embed="rId3"/>
          <a:stretch>
            <a:fillRect/>
          </a:stretch>
        </p:blipFill>
        <p:spPr>
          <a:xfrm>
            <a:off x="1668149" y="1315800"/>
            <a:ext cx="5905500" cy="781050"/>
          </a:xfrm>
          <a:prstGeom prst="rect">
            <a:avLst/>
          </a:prstGeom>
        </p:spPr>
      </p:pic>
      <p:pic>
        <p:nvPicPr>
          <p:cNvPr id="14" name="Picture 1"/>
          <p:cNvPicPr/>
          <p:nvPr/>
        </p:nvPicPr>
        <p:blipFill>
          <a:blip r:embed="rId4"/>
          <a:stretch>
            <a:fillRect/>
          </a:stretch>
        </p:blipFill>
        <p:spPr>
          <a:xfrm>
            <a:off x="1649099" y="2267356"/>
            <a:ext cx="5943600" cy="323215"/>
          </a:xfrm>
          <a:prstGeom prst="rect">
            <a:avLst/>
          </a:prstGeom>
        </p:spPr>
      </p:pic>
      <p:pic>
        <p:nvPicPr>
          <p:cNvPr id="18" name="Picture 1" descr="A black background with white text and colorful numbers&#10;&#10;Description automatically generated"/>
          <p:cNvPicPr/>
          <p:nvPr/>
        </p:nvPicPr>
        <p:blipFill>
          <a:blip r:embed="rId5"/>
          <a:stretch>
            <a:fillRect/>
          </a:stretch>
        </p:blipFill>
        <p:spPr>
          <a:xfrm>
            <a:off x="3202653" y="2761077"/>
            <a:ext cx="3057525" cy="657225"/>
          </a:xfrm>
          <a:prstGeom prst="rect">
            <a:avLst/>
          </a:prstGeom>
        </p:spPr>
      </p:pic>
      <p:pic>
        <p:nvPicPr>
          <p:cNvPr id="19" name="Picture 1" descr="A black background with white text&#10;&#10;Description automatically generated"/>
          <p:cNvPicPr/>
          <p:nvPr/>
        </p:nvPicPr>
        <p:blipFill>
          <a:blip r:embed="rId6"/>
          <a:stretch>
            <a:fillRect/>
          </a:stretch>
        </p:blipFill>
        <p:spPr>
          <a:xfrm>
            <a:off x="2978815" y="3588808"/>
            <a:ext cx="3505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115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/>
      </p:transition>
    </mc:Choice>
    <mc:Fallback xmlns="">
      <p:transition spd="slow">
        <p:random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29"/>
          <p:cNvSpPr txBox="1">
            <a:spLocks noGrp="1"/>
          </p:cNvSpPr>
          <p:nvPr>
            <p:ph type="title"/>
          </p:nvPr>
        </p:nvSpPr>
        <p:spPr>
          <a:xfrm>
            <a:off x="0" y="202786"/>
            <a:ext cx="9144000" cy="52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/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Ανάλυση Κώδικα (5)</a:t>
            </a:r>
            <a:endParaRPr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1" name="Google Shape;971;p29"/>
          <p:cNvSpPr txBox="1"/>
          <p:nvPr/>
        </p:nvSpPr>
        <p:spPr>
          <a:xfrm>
            <a:off x="601579" y="725007"/>
            <a:ext cx="8259677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spAutoFit/>
          </a:bodyPr>
          <a:lstStyle/>
          <a:p>
            <a:pPr marL="171450" lvl="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Επίλυση προβλήματος με χρήση προσομοιωμένης </a:t>
            </a:r>
            <a:r>
              <a:rPr lang="el-GR" sz="20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ανόπτησης</a:t>
            </a: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:</a:t>
            </a:r>
          </a:p>
          <a:p>
            <a:pPr lvl="0">
              <a:spcBef>
                <a:spcPts val="600"/>
              </a:spcBef>
              <a:spcAft>
                <a:spcPts val="600"/>
              </a:spcAft>
            </a:pPr>
            <a:endParaRPr lang="el-GR" sz="2000"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grpSp>
        <p:nvGrpSpPr>
          <p:cNvPr id="974" name="Google Shape;974;p29"/>
          <p:cNvGrpSpPr/>
          <p:nvPr/>
        </p:nvGrpSpPr>
        <p:grpSpPr>
          <a:xfrm>
            <a:off x="1611149" y="629894"/>
            <a:ext cx="5921700" cy="192184"/>
            <a:chOff x="902597" y="1069304"/>
            <a:chExt cx="5921700" cy="192184"/>
          </a:xfrm>
        </p:grpSpPr>
        <p:grpSp>
          <p:nvGrpSpPr>
            <p:cNvPr id="975" name="Google Shape;975;p29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976" name="Google Shape;976;p29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77" name="Google Shape;977;p29"/>
              <p:cNvCxnSpPr>
                <a:stCxn id="978" idx="6"/>
                <a:endCxn id="979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79" name="Google Shape;979;p29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78" name="Google Shape;978;p29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5" name="Picture 1" descr="A screen shot of a computer code&#10;&#10;Description automatically generated"/>
          <p:cNvPicPr/>
          <p:nvPr/>
        </p:nvPicPr>
        <p:blipFill>
          <a:blip r:embed="rId3"/>
          <a:stretch>
            <a:fillRect/>
          </a:stretch>
        </p:blipFill>
        <p:spPr>
          <a:xfrm>
            <a:off x="1957386" y="1344300"/>
            <a:ext cx="5229225" cy="1485900"/>
          </a:xfrm>
          <a:prstGeom prst="rect">
            <a:avLst/>
          </a:prstGeom>
        </p:spPr>
      </p:pic>
      <p:pic>
        <p:nvPicPr>
          <p:cNvPr id="16" name="Picture 1" descr="A computer screen with white text&#10;&#10;Description automatically generated"/>
          <p:cNvPicPr/>
          <p:nvPr/>
        </p:nvPicPr>
        <p:blipFill>
          <a:blip r:embed="rId4"/>
          <a:stretch>
            <a:fillRect/>
          </a:stretch>
        </p:blipFill>
        <p:spPr>
          <a:xfrm>
            <a:off x="1589249" y="3025791"/>
            <a:ext cx="5943600" cy="1594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380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/>
      </p:transition>
    </mc:Choice>
    <mc:Fallback xmlns="">
      <p:transition spd="slow">
        <p:random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29"/>
          <p:cNvSpPr txBox="1">
            <a:spLocks noGrp="1"/>
          </p:cNvSpPr>
          <p:nvPr>
            <p:ph type="title"/>
          </p:nvPr>
        </p:nvSpPr>
        <p:spPr>
          <a:xfrm>
            <a:off x="0" y="202786"/>
            <a:ext cx="9144000" cy="52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/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Ανάλυση Κώδικα (6)</a:t>
            </a:r>
            <a:endParaRPr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1" name="Google Shape;971;p29"/>
          <p:cNvSpPr txBox="1"/>
          <p:nvPr/>
        </p:nvSpPr>
        <p:spPr>
          <a:xfrm>
            <a:off x="457201" y="725007"/>
            <a:ext cx="8404056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spAutoFit/>
          </a:bodyPr>
          <a:lstStyle/>
          <a:p>
            <a:pPr marL="171450" lvl="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Επίλυση προβλήματος με χρήση προσομοιωμένης </a:t>
            </a:r>
            <a:r>
              <a:rPr lang="el-GR" sz="20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ανόπτησης</a:t>
            </a: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(συνέχεια…)</a:t>
            </a:r>
          </a:p>
          <a:p>
            <a:pPr lvl="0">
              <a:spcBef>
                <a:spcPts val="600"/>
              </a:spcBef>
              <a:spcAft>
                <a:spcPts val="600"/>
              </a:spcAft>
            </a:pPr>
            <a:endParaRPr lang="el-GR" sz="2000"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grpSp>
        <p:nvGrpSpPr>
          <p:cNvPr id="974" name="Google Shape;974;p29"/>
          <p:cNvGrpSpPr/>
          <p:nvPr/>
        </p:nvGrpSpPr>
        <p:grpSpPr>
          <a:xfrm>
            <a:off x="1611149" y="629894"/>
            <a:ext cx="5921700" cy="192184"/>
            <a:chOff x="902597" y="1069304"/>
            <a:chExt cx="5921700" cy="192184"/>
          </a:xfrm>
        </p:grpSpPr>
        <p:grpSp>
          <p:nvGrpSpPr>
            <p:cNvPr id="975" name="Google Shape;975;p29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976" name="Google Shape;976;p29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77" name="Google Shape;977;p29"/>
              <p:cNvCxnSpPr>
                <a:stCxn id="978" idx="6"/>
                <a:endCxn id="979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79" name="Google Shape;979;p29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78" name="Google Shape;978;p29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2" name="Picture 1" descr="A computer screen shot of a code&#10;&#10;Description automatically generated"/>
          <p:cNvPicPr/>
          <p:nvPr/>
        </p:nvPicPr>
        <p:blipFill>
          <a:blip r:embed="rId3"/>
          <a:stretch>
            <a:fillRect/>
          </a:stretch>
        </p:blipFill>
        <p:spPr>
          <a:xfrm>
            <a:off x="1600200" y="1445260"/>
            <a:ext cx="5943600" cy="225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169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/>
      </p:transition>
    </mc:Choice>
    <mc:Fallback xmlns="">
      <p:transition spd="slow">
        <p:random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29"/>
          <p:cNvSpPr txBox="1">
            <a:spLocks noGrp="1"/>
          </p:cNvSpPr>
          <p:nvPr>
            <p:ph type="title"/>
          </p:nvPr>
        </p:nvSpPr>
        <p:spPr>
          <a:xfrm>
            <a:off x="0" y="202786"/>
            <a:ext cx="9144000" cy="52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/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Ανάλυση Κώδικα (7)</a:t>
            </a:r>
            <a:endParaRPr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1" name="Google Shape;971;p29"/>
          <p:cNvSpPr txBox="1"/>
          <p:nvPr/>
        </p:nvSpPr>
        <p:spPr>
          <a:xfrm>
            <a:off x="2755231" y="725007"/>
            <a:ext cx="6106025" cy="3108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spAutoFit/>
          </a:bodyPr>
          <a:lstStyle/>
          <a:p>
            <a:pPr marL="171450" lvl="0" indent="-1714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Entry point </a:t>
            </a: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την εφαρμογής:</a:t>
            </a:r>
            <a:b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</a:b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  - Παράμετροι λειτουργίας:</a:t>
            </a:r>
            <a:b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</a:b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  - Επιλογή αλγορίθμου</a:t>
            </a:r>
            <a:b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</a:b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  - Εκπαίδευση και δοκιμή</a:t>
            </a:r>
            <a:b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</a:b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  - Παρουσίαση αποτελεσμάτων</a:t>
            </a:r>
            <a:b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</a:b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  - Χειρισμός σφαλμάτων</a:t>
            </a:r>
          </a:p>
        </p:txBody>
      </p:sp>
      <p:grpSp>
        <p:nvGrpSpPr>
          <p:cNvPr id="974" name="Google Shape;974;p29"/>
          <p:cNvGrpSpPr/>
          <p:nvPr/>
        </p:nvGrpSpPr>
        <p:grpSpPr>
          <a:xfrm>
            <a:off x="1611149" y="629894"/>
            <a:ext cx="5921700" cy="192184"/>
            <a:chOff x="902597" y="1069304"/>
            <a:chExt cx="5921700" cy="192184"/>
          </a:xfrm>
        </p:grpSpPr>
        <p:grpSp>
          <p:nvGrpSpPr>
            <p:cNvPr id="975" name="Google Shape;975;p29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976" name="Google Shape;976;p29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77" name="Google Shape;977;p29"/>
              <p:cNvCxnSpPr>
                <a:stCxn id="978" idx="6"/>
                <a:endCxn id="979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79" name="Google Shape;979;p29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78" name="Google Shape;978;p29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0721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/>
      </p:transition>
    </mc:Choice>
    <mc:Fallback xmlns="">
      <p:transition spd="slow">
        <p:random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2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/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Αποτελέσματα (1)</a:t>
            </a:r>
            <a:endParaRPr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1" name="Google Shape;971;p29"/>
          <p:cNvSpPr txBox="1"/>
          <p:nvPr/>
        </p:nvSpPr>
        <p:spPr>
          <a:xfrm>
            <a:off x="926432" y="789865"/>
            <a:ext cx="7946856" cy="902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spAutoFit/>
          </a:bodyPr>
          <a:lstStyle/>
          <a:p>
            <a:pPr marL="171450" lvl="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Επίδειξη της γραφικής </a:t>
            </a:r>
            <a:r>
              <a:rPr lang="el-GR" sz="20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διεπαφής</a:t>
            </a: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.</a:t>
            </a:r>
          </a:p>
          <a:p>
            <a:pPr marL="171450" lvl="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el-GR" sz="2000"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grpSp>
        <p:nvGrpSpPr>
          <p:cNvPr id="974" name="Google Shape;974;p29"/>
          <p:cNvGrpSpPr/>
          <p:nvPr/>
        </p:nvGrpSpPr>
        <p:grpSpPr>
          <a:xfrm>
            <a:off x="1611149" y="427108"/>
            <a:ext cx="5921700" cy="192184"/>
            <a:chOff x="902597" y="1069304"/>
            <a:chExt cx="5921700" cy="192184"/>
          </a:xfrm>
        </p:grpSpPr>
        <p:grpSp>
          <p:nvGrpSpPr>
            <p:cNvPr id="975" name="Google Shape;975;p29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976" name="Google Shape;976;p29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77" name="Google Shape;977;p29"/>
              <p:cNvCxnSpPr>
                <a:stCxn id="978" idx="6"/>
                <a:endCxn id="979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79" name="Google Shape;979;p29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78" name="Google Shape;978;p29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0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5474" y="618385"/>
            <a:ext cx="2609461" cy="1908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5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432" y="2711461"/>
            <a:ext cx="3848100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9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432" y="3905940"/>
            <a:ext cx="5114925" cy="78359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971;p29"/>
          <p:cNvSpPr txBox="1"/>
          <p:nvPr/>
        </p:nvSpPr>
        <p:spPr>
          <a:xfrm>
            <a:off x="5177588" y="2764990"/>
            <a:ext cx="3695700" cy="115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spAutoFit/>
          </a:bodyPr>
          <a:lstStyle/>
          <a:p>
            <a:pPr marL="171450" lvl="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Περιγραφή των αλληλεπιδράσεων του χρήστη με το GUI.</a:t>
            </a:r>
          </a:p>
        </p:txBody>
      </p:sp>
    </p:spTree>
    <p:extLst>
      <p:ext uri="{BB962C8B-B14F-4D97-AF65-F5344CB8AC3E}">
        <p14:creationId xmlns:p14="http://schemas.microsoft.com/office/powerpoint/2010/main" val="2775492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/>
      </p:transition>
    </mc:Choice>
    <mc:Fallback xmlns="">
      <p:transition spd="slow">
        <p:random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2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/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Αποτελέσματα (2)</a:t>
            </a:r>
            <a:endParaRPr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1" name="Google Shape;971;p29"/>
          <p:cNvSpPr txBox="1"/>
          <p:nvPr/>
        </p:nvSpPr>
        <p:spPr>
          <a:xfrm>
            <a:off x="926432" y="789865"/>
            <a:ext cx="7946856" cy="902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spAutoFit/>
          </a:bodyPr>
          <a:lstStyle/>
          <a:p>
            <a:pPr marL="171450" lvl="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l-GR" sz="20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Οπτικοποίηση</a:t>
            </a: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των λύσεων </a:t>
            </a:r>
            <a:r>
              <a:rPr lang="en-US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Knapsack</a:t>
            </a: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:</a:t>
            </a:r>
          </a:p>
          <a:p>
            <a:pPr marL="171450" lvl="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el-GR" sz="2000"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grpSp>
        <p:nvGrpSpPr>
          <p:cNvPr id="974" name="Google Shape;974;p29"/>
          <p:cNvGrpSpPr/>
          <p:nvPr/>
        </p:nvGrpSpPr>
        <p:grpSpPr>
          <a:xfrm>
            <a:off x="1611149" y="427108"/>
            <a:ext cx="5921700" cy="192184"/>
            <a:chOff x="902597" y="1069304"/>
            <a:chExt cx="5921700" cy="192184"/>
          </a:xfrm>
        </p:grpSpPr>
        <p:grpSp>
          <p:nvGrpSpPr>
            <p:cNvPr id="975" name="Google Shape;975;p29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976" name="Google Shape;976;p29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77" name="Google Shape;977;p29"/>
              <p:cNvCxnSpPr>
                <a:stCxn id="978" idx="6"/>
                <a:endCxn id="979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79" name="Google Shape;979;p29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78" name="Google Shape;978;p29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4" name="Picture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4210" y="1355108"/>
            <a:ext cx="2695575" cy="1208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0" descr="A screenshot of a graph&#10;&#10;Description automatically generated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0157" y="2563513"/>
            <a:ext cx="4043680" cy="22967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6929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/>
      </p:transition>
    </mc:Choice>
    <mc:Fallback xmlns="">
      <p:transition spd="slow">
        <p:random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29"/>
          <p:cNvSpPr txBox="1">
            <a:spLocks noGrp="1"/>
          </p:cNvSpPr>
          <p:nvPr>
            <p:ph type="title"/>
          </p:nvPr>
        </p:nvSpPr>
        <p:spPr>
          <a:xfrm>
            <a:off x="-2" y="246859"/>
            <a:ext cx="9144000" cy="52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/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Συμπεράσματα (1)</a:t>
            </a:r>
            <a:endParaRPr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74" name="Google Shape;974;p29"/>
          <p:cNvGrpSpPr/>
          <p:nvPr/>
        </p:nvGrpSpPr>
        <p:grpSpPr>
          <a:xfrm>
            <a:off x="1611148" y="770059"/>
            <a:ext cx="5921700" cy="192184"/>
            <a:chOff x="902597" y="1069304"/>
            <a:chExt cx="5921700" cy="192184"/>
          </a:xfrm>
        </p:grpSpPr>
        <p:grpSp>
          <p:nvGrpSpPr>
            <p:cNvPr id="975" name="Google Shape;975;p29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976" name="Google Shape;976;p29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77" name="Google Shape;977;p29"/>
              <p:cNvCxnSpPr>
                <a:stCxn id="978" idx="6"/>
                <a:endCxn id="979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79" name="Google Shape;979;p29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78" name="Google Shape;978;p29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Google Shape;971;p29"/>
          <p:cNvSpPr txBox="1"/>
          <p:nvPr/>
        </p:nvSpPr>
        <p:spPr>
          <a:xfrm>
            <a:off x="270708" y="893672"/>
            <a:ext cx="8602579" cy="4278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l-GR" sz="19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Τα </a:t>
            </a:r>
            <a:r>
              <a:rPr lang="el-GR" sz="19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neural</a:t>
            </a:r>
            <a:r>
              <a:rPr lang="el-GR" sz="19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l-GR" sz="19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networks</a:t>
            </a:r>
            <a:r>
              <a:rPr lang="el-GR" sz="19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παρουσιάζουν μια ευέλικτη προσέγγιση για την επίλυση του προβλήματος μέσω της αναγνώρισης προτύπων και της προσαρμογής των δεδομένων.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l-GR" sz="19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Η διαδικασία εκπαίδευσης απαιτεί σημαντικό όγκο δεδομένων και πολλαπλές επαναληπτικές εποχές εκπαίδευσης.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l-GR" sz="19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Ο αλγόριθμος </a:t>
            </a:r>
            <a:r>
              <a:rPr lang="el-GR" sz="19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Greedy</a:t>
            </a:r>
            <a:r>
              <a:rPr lang="el-GR" sz="19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προσφέρει μια γρήγορη λύση, αν και προσεγγιστική, καθιστώντας τον κατάλληλο για μεγαλύτερα σύνολα προβλημάτων.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l-GR" sz="19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Δίνει προτεραιότητα στα άμεσα κέρδη χωρίς να εξετάζει τις μακροπρόθεσμες συνέπειες.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l-GR" sz="19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Ο αλγόριθμος </a:t>
            </a:r>
            <a:r>
              <a:rPr lang="el-GR" sz="19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Simulated</a:t>
            </a:r>
            <a:r>
              <a:rPr lang="el-GR" sz="19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l-GR" sz="19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Annealing</a:t>
            </a:r>
            <a:r>
              <a:rPr lang="el-GR" sz="19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διερευνά επαναληπτικά πιθανές βέλτιστες λύσεις τροποποιώντας την τρέχουσα λύση.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l-GR" sz="19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Προσφέρει ευρύτερη αναζήτηση του χώρου λύσεων, αλλά ο χρόνος εκτέλεσής του μπορεί να κυμαίνεται ανάλογα με το μέγεθος και την πολυπλοκότητα του προβλήματος.</a:t>
            </a:r>
          </a:p>
        </p:txBody>
      </p:sp>
    </p:spTree>
    <p:extLst>
      <p:ext uri="{BB962C8B-B14F-4D97-AF65-F5344CB8AC3E}">
        <p14:creationId xmlns:p14="http://schemas.microsoft.com/office/powerpoint/2010/main" val="3123412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/>
      </p:transition>
    </mc:Choice>
    <mc:Fallback xmlns="">
      <p:transition spd="slow">
        <p:random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29"/>
          <p:cNvSpPr txBox="1">
            <a:spLocks noGrp="1"/>
          </p:cNvSpPr>
          <p:nvPr>
            <p:ph type="title"/>
          </p:nvPr>
        </p:nvSpPr>
        <p:spPr>
          <a:xfrm>
            <a:off x="-2" y="246859"/>
            <a:ext cx="9144000" cy="52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/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Συμπεράσματα (2)</a:t>
            </a:r>
            <a:endParaRPr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74" name="Google Shape;974;p29"/>
          <p:cNvGrpSpPr/>
          <p:nvPr/>
        </p:nvGrpSpPr>
        <p:grpSpPr>
          <a:xfrm>
            <a:off x="1611148" y="770059"/>
            <a:ext cx="5921700" cy="192184"/>
            <a:chOff x="902597" y="1069304"/>
            <a:chExt cx="5921700" cy="192184"/>
          </a:xfrm>
        </p:grpSpPr>
        <p:grpSp>
          <p:nvGrpSpPr>
            <p:cNvPr id="975" name="Google Shape;975;p29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976" name="Google Shape;976;p29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77" name="Google Shape;977;p29"/>
              <p:cNvCxnSpPr>
                <a:stCxn id="978" idx="6"/>
                <a:endCxn id="979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79" name="Google Shape;979;p29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78" name="Google Shape;978;p29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Google Shape;971;p29"/>
          <p:cNvSpPr txBox="1"/>
          <p:nvPr/>
        </p:nvSpPr>
        <p:spPr>
          <a:xfrm>
            <a:off x="270708" y="893672"/>
            <a:ext cx="8602579" cy="3877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Η επιλογή της μεθόδου επίλυσης του προβλήματος </a:t>
            </a:r>
            <a:r>
              <a:rPr lang="el-GR" sz="20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Knapsack</a:t>
            </a: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εξαρτάται από τις απαιτήσεις της εφαρμογής, το μέγεθος του προβλήματος και το επιθυμητό επίπεδο ακρίβειας της λύσης.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Τα </a:t>
            </a:r>
            <a:r>
              <a:rPr lang="el-GR" sz="20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neural</a:t>
            </a: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l-GR" sz="20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networks</a:t>
            </a: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παρουσιάζουν μια καλή λύση με υψηλή ακρίβεια.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Οι αλγόριθμοι </a:t>
            </a:r>
            <a:r>
              <a:rPr lang="el-GR" sz="20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Greedy</a:t>
            </a: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και </a:t>
            </a:r>
            <a:r>
              <a:rPr lang="el-GR" sz="20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Simulated</a:t>
            </a: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l-GR" sz="20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Annealing</a:t>
            </a: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προσφέρουν ταχείες και απλές προσεγγίσεις που είναι κατάλληλες για προβλήματα μικρού έως μεσαίου μεγέθους.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Η απλότητα και η αποτελεσματικότητά τους τους καθιστούν βιώσιμες επιλογές για σενάρια όπου η γρήγορη λήψη αποφάσεων έχει προτεραιότητα έναντι των βέλτιστων λύσεων.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l-GR" sz="2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Περαιτέρω ερευνητικές κατευθύνσεις θα μπορούσαν να διερευνήσουν υβριδικές προσεγγίσεις που συνδυάζουν τα πλεονεκτήματα διαφορετικών μεθόδων.</a:t>
            </a:r>
          </a:p>
        </p:txBody>
      </p:sp>
    </p:spTree>
    <p:extLst>
      <p:ext uri="{BB962C8B-B14F-4D97-AF65-F5344CB8AC3E}">
        <p14:creationId xmlns:p14="http://schemas.microsoft.com/office/powerpoint/2010/main" val="2051614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/>
      </p:transition>
    </mc:Choice>
    <mc:Fallback xmlns="">
      <p:transition spd="slow">
        <p:random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29"/>
          <p:cNvSpPr txBox="1">
            <a:spLocks noGrp="1"/>
          </p:cNvSpPr>
          <p:nvPr>
            <p:ph type="title"/>
          </p:nvPr>
        </p:nvSpPr>
        <p:spPr>
          <a:xfrm>
            <a:off x="-2" y="246859"/>
            <a:ext cx="9144000" cy="52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/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Επίλογος (1)</a:t>
            </a:r>
            <a:endParaRPr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74" name="Google Shape;974;p29"/>
          <p:cNvGrpSpPr/>
          <p:nvPr/>
        </p:nvGrpSpPr>
        <p:grpSpPr>
          <a:xfrm>
            <a:off x="1611148" y="770059"/>
            <a:ext cx="5921700" cy="192184"/>
            <a:chOff x="902597" y="1069304"/>
            <a:chExt cx="5921700" cy="192184"/>
          </a:xfrm>
        </p:grpSpPr>
        <p:grpSp>
          <p:nvGrpSpPr>
            <p:cNvPr id="975" name="Google Shape;975;p29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976" name="Google Shape;976;p29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77" name="Google Shape;977;p29"/>
              <p:cNvCxnSpPr>
                <a:stCxn id="978" idx="6"/>
                <a:endCxn id="979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79" name="Google Shape;979;p29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78" name="Google Shape;978;p29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Google Shape;971;p29"/>
          <p:cNvSpPr txBox="1"/>
          <p:nvPr/>
        </p:nvSpPr>
        <p:spPr>
          <a:xfrm>
            <a:off x="270708" y="893672"/>
            <a:ext cx="8602579" cy="3785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H επίλυση του προβλήματος </a:t>
            </a:r>
            <a:r>
              <a:rPr lang="el-GR" sz="18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knapsack</a:t>
            </a: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με τη χρήση </a:t>
            </a:r>
            <a:r>
              <a:rPr lang="el-GR" sz="18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νευρωνικών</a:t>
            </a: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δικτύων και αλγορίθμων βαθιάς μάθησης είναι η εφαρμογή που συνδυάζει τις προκλήσεις της συνδυαστικής βελτιστοποίησης με τη δύναμη της μηχανικής μάθησης.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Η αποτελεσματικότητα μπορεί να εξαρτάται από το μέγεθος και την πολυπλοκότητα του προβλήματος </a:t>
            </a:r>
            <a:r>
              <a:rPr lang="el-GR" sz="18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knapsack</a:t>
            </a: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Η ανάπτυξη μοντέλων </a:t>
            </a:r>
            <a:r>
              <a:rPr lang="el-GR" sz="18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νευρωνικών</a:t>
            </a: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δικτύων επιτρέπει την αυτοματοποιημένη λήψη αποφάσεων για νέες περιπτώσεις του προβλήματος.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Ο αλγόριθμος NNA έλαβε την υψηλότερη βαθμολογία στην παρούσα μελέτη.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Είναι μια βιώσιμη και αποτελεσματική στρατηγική για την αντιμετώπιση προβλημάτων που σχετίζονται με τη βελτιστοποίηση διαδρομών.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Η χρήση </a:t>
            </a:r>
            <a:r>
              <a:rPr lang="el-GR" sz="18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νευρωνικών</a:t>
            </a: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δικτύων και αλγορίθμων βαθιάς μάθησης για το πρόβλημα του σακιδίου προσφέρει πολλά πιθανά πλεονεκτήματα αφού τα </a:t>
            </a:r>
            <a:r>
              <a:rPr lang="el-GR" sz="18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νευρωνικά</a:t>
            </a:r>
            <a:r>
              <a:rPr lang="el-GR" sz="18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δίκτυα υπερέχουν στην εκμάθηση σύνθετων μοτίβων.</a:t>
            </a:r>
          </a:p>
        </p:txBody>
      </p:sp>
    </p:spTree>
    <p:extLst>
      <p:ext uri="{BB962C8B-B14F-4D97-AF65-F5344CB8AC3E}">
        <p14:creationId xmlns:p14="http://schemas.microsoft.com/office/powerpoint/2010/main" val="2135249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/>
      </p:transition>
    </mc:Choice>
    <mc:Fallback xmlns="">
      <p:transition spd="slow">
        <p:random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29"/>
          <p:cNvSpPr txBox="1">
            <a:spLocks noGrp="1"/>
          </p:cNvSpPr>
          <p:nvPr>
            <p:ph type="title"/>
          </p:nvPr>
        </p:nvSpPr>
        <p:spPr>
          <a:xfrm>
            <a:off x="-2" y="246859"/>
            <a:ext cx="9144000" cy="52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/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Επίλογος (2)</a:t>
            </a:r>
            <a:endParaRPr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74" name="Google Shape;974;p29"/>
          <p:cNvGrpSpPr/>
          <p:nvPr/>
        </p:nvGrpSpPr>
        <p:grpSpPr>
          <a:xfrm>
            <a:off x="1611148" y="770059"/>
            <a:ext cx="5921700" cy="192184"/>
            <a:chOff x="902597" y="1069304"/>
            <a:chExt cx="5921700" cy="192184"/>
          </a:xfrm>
        </p:grpSpPr>
        <p:grpSp>
          <p:nvGrpSpPr>
            <p:cNvPr id="975" name="Google Shape;975;p29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976" name="Google Shape;976;p29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77" name="Google Shape;977;p29"/>
              <p:cNvCxnSpPr>
                <a:stCxn id="978" idx="6"/>
                <a:endCxn id="979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79" name="Google Shape;979;p29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78" name="Google Shape;978;p29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Google Shape;971;p29"/>
          <p:cNvSpPr txBox="1"/>
          <p:nvPr/>
        </p:nvSpPr>
        <p:spPr>
          <a:xfrm>
            <a:off x="270708" y="893672"/>
            <a:ext cx="8602579" cy="3954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l-GR" sz="175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Οι παραδοσιακοί αλγόριθμοι για το πρόβλημα του σακιδίου βασίζονται συχνά σε </a:t>
            </a:r>
            <a:r>
              <a:rPr lang="el-GR" sz="175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ευρετικές</a:t>
            </a:r>
            <a:r>
              <a:rPr lang="el-GR" sz="175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ή άπληστες προσεγγίσεις.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l-GR" sz="175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Τα </a:t>
            </a:r>
            <a:r>
              <a:rPr lang="el-GR" sz="175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νευρωνικά</a:t>
            </a:r>
            <a:r>
              <a:rPr lang="el-GR" sz="175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δίκτυα επιτρέπουν ευέλικτες αναπαραστάσεις εισόδου.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l-GR" sz="175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Η εκπαίδευση των </a:t>
            </a:r>
            <a:r>
              <a:rPr lang="el-GR" sz="175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νευρωνικών</a:t>
            </a:r>
            <a:r>
              <a:rPr lang="el-GR" sz="175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δικτύων μπορεί να παραλληλιστεί και η επιτάχυνση της GPU μπορεί να αξιοποιηθεί για την επιτάχυνση της διαδικασίας εκμάθησης.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l-GR" sz="175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Τα </a:t>
            </a:r>
            <a:r>
              <a:rPr lang="el-GR" sz="175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νευρωνικά</a:t>
            </a:r>
            <a:r>
              <a:rPr lang="el-GR" sz="175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δίκτυα μπορούν να ενσωματωθούν απρόσκοπτα με τεχνικές ενισχυτικής μάθησης για την περαιτέρω ενίσχυση των διαδικασιών λήψης αποφάσεων.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l-GR" sz="175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Έχουν τη δυνατότητα να μαθαίνουν αυτόματα τα σχετικά χαρακτηριστικά από τα δεδομένα.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l-GR" sz="175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Μπορούν να ρυθμιστούν λεπτομερώς με την πάροδο του χρόνου για να βελτιώσουν την απόδοσή τους.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l-GR" sz="175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Η αποτελεσματικότητα των </a:t>
            </a:r>
            <a:r>
              <a:rPr lang="el-GR" sz="175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νευρωνικών</a:t>
            </a:r>
            <a:r>
              <a:rPr lang="el-GR" sz="175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δικτύων εξαρτάται από το μέγεθος του προβλήματος, την ποιότητα και την η ποσότητα των διαθέσιμων δεδομένων.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l-GR" sz="175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Οι παραδοσιακές μέθοδοι βελτιστοποίησης αποδίδουν καλά για μικρότερες περιπτώσεις του προβλήματος </a:t>
            </a:r>
            <a:r>
              <a:rPr lang="el-GR" sz="175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knapsack</a:t>
            </a:r>
            <a:r>
              <a:rPr lang="el-GR" sz="175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2803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/>
      </p:transition>
    </mc:Choice>
    <mc:Fallback xmlns="">
      <p:transition spd="slow">
        <p:random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29"/>
          <p:cNvSpPr txBox="1">
            <a:spLocks noGrp="1"/>
          </p:cNvSpPr>
          <p:nvPr>
            <p:ph type="title"/>
          </p:nvPr>
        </p:nvSpPr>
        <p:spPr>
          <a:xfrm>
            <a:off x="-2" y="246859"/>
            <a:ext cx="9144000" cy="52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/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Μελλοντική έρευνα</a:t>
            </a:r>
            <a:endParaRPr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74" name="Google Shape;974;p29"/>
          <p:cNvGrpSpPr/>
          <p:nvPr/>
        </p:nvGrpSpPr>
        <p:grpSpPr>
          <a:xfrm>
            <a:off x="1611148" y="770059"/>
            <a:ext cx="5921700" cy="192184"/>
            <a:chOff x="902597" y="1069304"/>
            <a:chExt cx="5921700" cy="192184"/>
          </a:xfrm>
        </p:grpSpPr>
        <p:grpSp>
          <p:nvGrpSpPr>
            <p:cNvPr id="975" name="Google Shape;975;p29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976" name="Google Shape;976;p29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77" name="Google Shape;977;p29"/>
              <p:cNvCxnSpPr>
                <a:stCxn id="978" idx="6"/>
                <a:endCxn id="979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79" name="Google Shape;979;p29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78" name="Google Shape;978;p29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Google Shape;971;p29"/>
          <p:cNvSpPr txBox="1"/>
          <p:nvPr/>
        </p:nvSpPr>
        <p:spPr>
          <a:xfrm>
            <a:off x="270708" y="893672"/>
            <a:ext cx="8602579" cy="3985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l-GR" sz="19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Περαιτέρω διερεύνηση των υβριδικών προσεγγίσεων που συνδυάζουν τα πλεονεκτήματα των </a:t>
            </a:r>
            <a:r>
              <a:rPr lang="el-GR" sz="19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νευρωνικών</a:t>
            </a:r>
            <a:r>
              <a:rPr lang="el-GR" sz="19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δικτύων με τους παραδοσιακούς αλγορίθμους βελτιστοποίησης.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l-GR" sz="19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Διερεύνηση τεχνικών μάθησης μεταφοράς για την εφαρμογή της γνώσης που αποκτήθηκε από την επίλυση μιας περίπτωσης του προβλήματος </a:t>
            </a:r>
            <a:r>
              <a:rPr lang="el-GR" sz="19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knapsack</a:t>
            </a:r>
            <a:r>
              <a:rPr lang="el-GR" sz="19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σε μια διαφορετική αλλά συναφή περίπτωση.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l-GR" sz="19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Εξερεύνηση με τη χρήση μεθόδων συνόλου, συνδυάζοντας πολλαπλά μοντέλα </a:t>
            </a:r>
            <a:r>
              <a:rPr lang="el-GR" sz="19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νευρωνικών</a:t>
            </a:r>
            <a:r>
              <a:rPr lang="el-GR" sz="19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δικτύων για τη βελτίωση της ευρωστίας και της γενίκευσης.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l-GR" sz="19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μελέτη διεξαγωγής ολοκληρωμένων μελετών συγκριτικής αξιολόγησης για τη σύγκριση των επιδόσεων των λύσεων που βασίζονται σε </a:t>
            </a:r>
            <a:r>
              <a:rPr lang="el-GR" sz="19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νευρωνικά</a:t>
            </a:r>
            <a:r>
              <a:rPr lang="el-GR" sz="19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δίκτυα με σύγχρονους αλγορίθμους βελτιστοποίησης σε διάφορες περιπτώσεις προβλημάτων.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l-GR" sz="19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Επέκταση της εφαρμογής των </a:t>
            </a:r>
            <a:r>
              <a:rPr lang="el-GR" sz="1900" dirty="0" err="1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νευρωνικών</a:t>
            </a:r>
            <a:r>
              <a:rPr lang="el-GR" sz="19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δικτύων σε δυναμικά προβλήματα σακιδίου.</a:t>
            </a:r>
          </a:p>
        </p:txBody>
      </p:sp>
    </p:spTree>
    <p:extLst>
      <p:ext uri="{BB962C8B-B14F-4D97-AF65-F5344CB8AC3E}">
        <p14:creationId xmlns:p14="http://schemas.microsoft.com/office/powerpoint/2010/main" val="2147017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/>
      </p:transition>
    </mc:Choice>
    <mc:Fallback xmlns="">
      <p:transition spd="slow">
        <p:random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Πίνακας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30223"/>
              </p:ext>
            </p:extLst>
          </p:nvPr>
        </p:nvGraphicFramePr>
        <p:xfrm>
          <a:off x="613611" y="370306"/>
          <a:ext cx="7856621" cy="4437187"/>
        </p:xfrm>
        <a:graphic>
          <a:graphicData uri="http://schemas.openxmlformats.org/drawingml/2006/table">
            <a:tbl>
              <a:tblPr>
                <a:tableStyleId>{ECCDC6F9-9CED-40D5-A569-A2F5D344B805}</a:tableStyleId>
              </a:tblPr>
              <a:tblGrid>
                <a:gridCol w="7856621">
                  <a:extLst>
                    <a:ext uri="{9D8B030D-6E8A-4147-A177-3AD203B41FA5}">
                      <a16:colId xmlns:a16="http://schemas.microsoft.com/office/drawing/2014/main" val="1417046174"/>
                    </a:ext>
                  </a:extLst>
                </a:gridCol>
              </a:tblGrid>
              <a:tr h="38851">
                <a:tc>
                  <a:txBody>
                    <a:bodyPr/>
                    <a:lstStyle/>
                    <a:p>
                      <a:pPr algn="l" fontAlgn="b"/>
                      <a:r>
                        <a:rPr lang="el-GR" sz="3000" b="1" u="none" strike="noStrike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Βιβλιογραφία</a:t>
                      </a:r>
                      <a:endParaRPr lang="el-GR" sz="3000" b="1" i="0" u="none" strike="noStrike" dirty="0">
                        <a:solidFill>
                          <a:schemeClr val="tx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73" marR="1073" marT="1073" marB="0" anchor="b"/>
                </a:tc>
                <a:extLst>
                  <a:ext uri="{0D108BD9-81ED-4DB2-BD59-A6C34878D82A}">
                    <a16:rowId xmlns:a16="http://schemas.microsoft.com/office/drawing/2014/main" val="3001450400"/>
                  </a:ext>
                </a:extLst>
              </a:tr>
              <a:tr h="586627">
                <a:tc>
                  <a:txBody>
                    <a:bodyPr/>
                    <a:lstStyle/>
                    <a:p>
                      <a:pPr marL="285750" indent="-2857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1400" u="none" strike="noStrike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Abid, M., El Kafhali, S., Amzil, A., &amp; Hanini, M. (2023). Solving the 0/1 Knapsack Problem Using Metaheuristic and Neural Networks for the Virtual Machine Placement Process in Cloud Computing Environment. Mathematical Problems in Engineering, 2023.</a:t>
                      </a:r>
                      <a:endParaRPr lang="en-US" sz="1400" b="0" i="0" u="none" strike="noStrike">
                        <a:solidFill>
                          <a:schemeClr val="tx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73" marR="1073" marT="1073" marB="0" anchor="b"/>
                </a:tc>
                <a:extLst>
                  <a:ext uri="{0D108BD9-81ED-4DB2-BD59-A6C34878D82A}">
                    <a16:rowId xmlns:a16="http://schemas.microsoft.com/office/drawing/2014/main" val="2706979060"/>
                  </a:ext>
                </a:extLst>
              </a:tr>
              <a:tr h="171073">
                <a:tc>
                  <a:txBody>
                    <a:bodyPr/>
                    <a:lstStyle/>
                    <a:p>
                      <a:pPr marL="285750" indent="-2857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1400" u="none" strike="noStrike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Chollet F., Deep Learning with Python, Manning Publications Co., 2018.</a:t>
                      </a:r>
                      <a:endParaRPr lang="en-US" sz="1400" b="0" i="0" u="none" strike="noStrike">
                        <a:solidFill>
                          <a:schemeClr val="tx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73" marR="1073" marT="1073" marB="0" anchor="b"/>
                </a:tc>
                <a:extLst>
                  <a:ext uri="{0D108BD9-81ED-4DB2-BD59-A6C34878D82A}">
                    <a16:rowId xmlns:a16="http://schemas.microsoft.com/office/drawing/2014/main" val="2663378186"/>
                  </a:ext>
                </a:extLst>
              </a:tr>
              <a:tr h="227739">
                <a:tc>
                  <a:txBody>
                    <a:bodyPr/>
                    <a:lstStyle/>
                    <a:p>
                      <a:pPr marL="285750" indent="-2857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pt-BR" sz="1400" u="none" strike="noStrike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Dantzig G. B, ‘‘Discrete-variable extremum problems,’’ Oper. Res., vol. 5, no. 2, pp. 266–288, Apr. 1957.</a:t>
                      </a:r>
                      <a:endParaRPr lang="pt-BR" sz="1400" b="0" i="0" u="none" strike="noStrike">
                        <a:solidFill>
                          <a:schemeClr val="tx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73" marR="1073" marT="1073" marB="0" anchor="b"/>
                </a:tc>
                <a:extLst>
                  <a:ext uri="{0D108BD9-81ED-4DB2-BD59-A6C34878D82A}">
                    <a16:rowId xmlns:a16="http://schemas.microsoft.com/office/drawing/2014/main" val="1715377003"/>
                  </a:ext>
                </a:extLst>
              </a:tr>
              <a:tr h="511071">
                <a:tc>
                  <a:txBody>
                    <a:bodyPr/>
                    <a:lstStyle/>
                    <a:p>
                      <a:pPr marL="285750" indent="-2857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1400" u="none" strike="noStrike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Gu, S., &amp; Hao, T. (2018, March). A pointer network based deep learning algorithm for 0–1 knapsack problem. In 2018 Tenth International Conference on Advanced Computational Intelligence (ICACI) (pp. 473-477). IEEE.</a:t>
                      </a:r>
                      <a:endParaRPr lang="en-US" sz="1400" b="0" i="0" u="none" strike="noStrike">
                        <a:solidFill>
                          <a:schemeClr val="tx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73" marR="1073" marT="1073" marB="0" anchor="b"/>
                </a:tc>
                <a:extLst>
                  <a:ext uri="{0D108BD9-81ED-4DB2-BD59-A6C34878D82A}">
                    <a16:rowId xmlns:a16="http://schemas.microsoft.com/office/drawing/2014/main" val="3587247679"/>
                  </a:ext>
                </a:extLst>
              </a:tr>
              <a:tr h="662182">
                <a:tc>
                  <a:txBody>
                    <a:bodyPr/>
                    <a:lstStyle/>
                    <a:p>
                      <a:pPr marL="285750" indent="-2857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1400" u="none" strike="noStrike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Hopfield, J. J.; and Tank, D. W. 1985. “Neural” computation of decisions in optimization problems. Biological Cybernetics 52(3): 141–152. Karp, R. M. 1972. Reducibility among combinatorial problems. In Miller, R. E.; and Thatcher, J. W., eds., Complexity of Computer Computations, 85–103. Springer.</a:t>
                      </a:r>
                      <a:endParaRPr lang="en-US" sz="1400" b="0" i="0" u="none" strike="noStrike">
                        <a:solidFill>
                          <a:schemeClr val="tx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73" marR="1073" marT="1073" marB="0" anchor="b"/>
                </a:tc>
                <a:extLst>
                  <a:ext uri="{0D108BD9-81ED-4DB2-BD59-A6C34878D82A}">
                    <a16:rowId xmlns:a16="http://schemas.microsoft.com/office/drawing/2014/main" val="2464860580"/>
                  </a:ext>
                </a:extLst>
              </a:tr>
              <a:tr h="536614">
                <a:tc>
                  <a:txBody>
                    <a:bodyPr/>
                    <a:lstStyle/>
                    <a:p>
                      <a:pPr marL="285750" indent="-2857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1400" u="none" strike="noStrike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Kellerer, H.; Pferschy, U. and David, P. Knapsack Problems. Springer, 2004.</a:t>
                      </a:r>
                      <a:br>
                        <a:rPr lang="en-US" sz="1400" u="none" strike="noStrike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u="none" strike="noStrike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Korte B. and Vygen J. Combinatorial Optimization: Theory and Algorithms. Springer, 5th edition, 2012.</a:t>
                      </a:r>
                      <a:endParaRPr lang="en-US" sz="1400" b="0" i="0" u="none" strike="noStrike">
                        <a:solidFill>
                          <a:schemeClr val="tx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73" marR="1073" marT="1073" marB="0" anchor="b"/>
                </a:tc>
                <a:extLst>
                  <a:ext uri="{0D108BD9-81ED-4DB2-BD59-A6C34878D82A}">
                    <a16:rowId xmlns:a16="http://schemas.microsoft.com/office/drawing/2014/main" val="1771826273"/>
                  </a:ext>
                </a:extLst>
              </a:tr>
              <a:tr h="265517">
                <a:tc>
                  <a:txBody>
                    <a:bodyPr/>
                    <a:lstStyle/>
                    <a:p>
                      <a:pPr marL="285750" indent="-2857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1400" u="none" strike="noStrike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Martello, S.; and Toth, P. 1990. Knapsack Problems: Algorithms and Computer Implementations. John Wiley &amp; Sons.</a:t>
                      </a:r>
                      <a:endParaRPr lang="en-US" sz="1400" b="0" i="0" u="none" strike="noStrike">
                        <a:solidFill>
                          <a:schemeClr val="tx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73" marR="1073" marT="1073" marB="0" anchor="b"/>
                </a:tc>
                <a:extLst>
                  <a:ext uri="{0D108BD9-81ED-4DB2-BD59-A6C34878D82A}">
                    <a16:rowId xmlns:a16="http://schemas.microsoft.com/office/drawing/2014/main" val="2751332364"/>
                  </a:ext>
                </a:extLst>
              </a:tr>
              <a:tr h="416627">
                <a:tc>
                  <a:txBody>
                    <a:bodyPr/>
                    <a:lstStyle/>
                    <a:p>
                      <a:pPr marL="285750" indent="-2857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1400" u="none" strike="noStrike" dirty="0" err="1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Nomer</a:t>
                      </a:r>
                      <a:r>
                        <a:rPr lang="en-US" sz="1400" u="none" strike="noStrike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H. A., </a:t>
                      </a:r>
                      <a:r>
                        <a:rPr lang="en-US" sz="1400" u="none" strike="noStrike" dirty="0" err="1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Alnowibet</a:t>
                      </a:r>
                      <a:r>
                        <a:rPr lang="en-US" sz="1400" u="none" strike="noStrike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K. A., </a:t>
                      </a:r>
                      <a:r>
                        <a:rPr lang="en-US" sz="1400" u="none" strike="noStrike" dirty="0" err="1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Elsayed</a:t>
                      </a:r>
                      <a:r>
                        <a:rPr lang="en-US" sz="1400" u="none" strike="noStrike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A., &amp; Mohamed, A. W. (2020). Neural knapsack: a neural network based solver for the knapsack problem. IEEE Access, 8, 224200-224210.</a:t>
                      </a:r>
                      <a:endParaRPr lang="en-US" sz="1400" b="0" i="0" u="none" strike="noStrike" dirty="0">
                        <a:solidFill>
                          <a:schemeClr val="tx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73" marR="1073" marT="1073" marB="0" anchor="b"/>
                </a:tc>
                <a:extLst>
                  <a:ext uri="{0D108BD9-81ED-4DB2-BD59-A6C34878D82A}">
                    <a16:rowId xmlns:a16="http://schemas.microsoft.com/office/drawing/2014/main" val="2690213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8711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/>
      </p:transition>
    </mc:Choice>
    <mc:Fallback xmlns="">
      <p:transition spd="slow">
        <p:random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34"/>
          <p:cNvSpPr txBox="1">
            <a:spLocks noGrp="1"/>
          </p:cNvSpPr>
          <p:nvPr>
            <p:ph type="subTitle" idx="1"/>
          </p:nvPr>
        </p:nvSpPr>
        <p:spPr>
          <a:xfrm>
            <a:off x="1940550" y="1342425"/>
            <a:ext cx="5262900" cy="1592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Σας ευχαριστώ για την προσοχή σας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l-GR"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l-GR"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Ονοματεπώνυμο</a:t>
            </a:r>
            <a:endParaRPr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58" name="Google Shape;1158;p34"/>
          <p:cNvGrpSpPr/>
          <p:nvPr/>
        </p:nvGrpSpPr>
        <p:grpSpPr>
          <a:xfrm>
            <a:off x="2765831" y="3016327"/>
            <a:ext cx="3612325" cy="192185"/>
            <a:chOff x="4788672" y="2177404"/>
            <a:chExt cx="3612325" cy="192185"/>
          </a:xfrm>
        </p:grpSpPr>
        <p:sp>
          <p:nvSpPr>
            <p:cNvPr id="1159" name="Google Shape;1159;p34"/>
            <p:cNvSpPr/>
            <p:nvPr/>
          </p:nvSpPr>
          <p:spPr>
            <a:xfrm rot="-2700000" flipH="1">
              <a:off x="7708140" y="2205609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cxnSp>
          <p:nvCxnSpPr>
            <p:cNvPr id="1160" name="Google Shape;1160;p34"/>
            <p:cNvCxnSpPr>
              <a:stCxn id="1161" idx="6"/>
              <a:endCxn id="1162" idx="2"/>
            </p:cNvCxnSpPr>
            <p:nvPr/>
          </p:nvCxnSpPr>
          <p:spPr>
            <a:xfrm rot="10800000">
              <a:off x="4845697" y="2272517"/>
              <a:ext cx="34983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62" name="Google Shape;1162;p34"/>
            <p:cNvSpPr/>
            <p:nvPr/>
          </p:nvSpPr>
          <p:spPr>
            <a:xfrm flipH="1">
              <a:off x="4788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161" name="Google Shape;1161;p34"/>
            <p:cNvSpPr/>
            <p:nvPr/>
          </p:nvSpPr>
          <p:spPr>
            <a:xfrm flipH="1">
              <a:off x="8343997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</p:grpSp>
      <p:grpSp>
        <p:nvGrpSpPr>
          <p:cNvPr id="1163" name="Google Shape;1163;p34"/>
          <p:cNvGrpSpPr/>
          <p:nvPr/>
        </p:nvGrpSpPr>
        <p:grpSpPr>
          <a:xfrm rot="10800000">
            <a:off x="2460069" y="-714219"/>
            <a:ext cx="1803578" cy="1592367"/>
            <a:chOff x="-4912150" y="-393637"/>
            <a:chExt cx="2057000" cy="1816112"/>
          </a:xfrm>
        </p:grpSpPr>
        <p:sp>
          <p:nvSpPr>
            <p:cNvPr id="1164" name="Google Shape;1164;p34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165" name="Google Shape;1165;p34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166" name="Google Shape;1166;p34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167" name="Google Shape;1167;p34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168" name="Google Shape;1168;p34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169" name="Google Shape;1169;p34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170" name="Google Shape;1170;p34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171" name="Google Shape;1171;p34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172" name="Google Shape;1172;p34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173" name="Google Shape;1173;p34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174" name="Google Shape;1174;p34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175" name="Google Shape;1175;p34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176" name="Google Shape;1176;p34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177" name="Google Shape;1177;p34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178" name="Google Shape;1178;p34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179" name="Google Shape;1179;p34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180" name="Google Shape;1180;p34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181" name="Google Shape;1181;p34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182" name="Google Shape;1182;p34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</p:grpSp>
      <p:grpSp>
        <p:nvGrpSpPr>
          <p:cNvPr id="1183" name="Google Shape;1183;p34"/>
          <p:cNvGrpSpPr/>
          <p:nvPr/>
        </p:nvGrpSpPr>
        <p:grpSpPr>
          <a:xfrm>
            <a:off x="6286297" y="3482200"/>
            <a:ext cx="1929500" cy="2210100"/>
            <a:chOff x="295725" y="-3462825"/>
            <a:chExt cx="1929500" cy="2210100"/>
          </a:xfrm>
        </p:grpSpPr>
        <p:sp>
          <p:nvSpPr>
            <p:cNvPr id="1184" name="Google Shape;1184;p34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185" name="Google Shape;1185;p34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186" name="Google Shape;1186;p34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187" name="Google Shape;1187;p34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188" name="Google Shape;1188;p34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189" name="Google Shape;1189;p34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190" name="Google Shape;1190;p34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191" name="Google Shape;1191;p34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192" name="Google Shape;1192;p34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193" name="Google Shape;1193;p34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194" name="Google Shape;1194;p34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195" name="Google Shape;1195;p34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196" name="Google Shape;1196;p34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197" name="Google Shape;1197;p34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198" name="Google Shape;1198;p34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199" name="Google Shape;1199;p34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200" name="Google Shape;1200;p34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201" name="Google Shape;1201;p34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202" name="Google Shape;1202;p34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203" name="Google Shape;1203;p34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204" name="Google Shape;1204;p34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205" name="Google Shape;1205;p34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206" name="Google Shape;1206;p34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207" name="Google Shape;1207;p34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sp>
          <p:nvSpPr>
            <p:cNvPr id="1208" name="Google Shape;1208;p34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10000"/>
                  </a:schemeClr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IT Department Meeting by Slidesgo">
  <a:themeElements>
    <a:clrScheme name="Simple Light">
      <a:dk1>
        <a:srgbClr val="F6F6FF"/>
      </a:dk1>
      <a:lt1>
        <a:srgbClr val="4E5EA3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E5EA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</TotalTime>
  <Words>2805</Words>
  <Application>Microsoft Office PowerPoint</Application>
  <PresentationFormat>On-screen Show (16:9)</PresentationFormat>
  <Paragraphs>253</Paragraphs>
  <Slides>39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Montserrat</vt:lpstr>
      <vt:lpstr>Times New Roman</vt:lpstr>
      <vt:lpstr>Arial</vt:lpstr>
      <vt:lpstr>Jost</vt:lpstr>
      <vt:lpstr>IT Department Meeting by Slidesgo</vt:lpstr>
      <vt:lpstr>ΠΤΥΧΙΑΚΗ ΕΡΓΑΣΙΑ Επίλυση του Προβλήματος του Σακιδίου  (Knapsack Problem)  με τη χρήση Νευρωνικών Δικτύων όλων των τύπων και Αλγορίθμων Βαθιάς Μάθησης-Deep Learning</vt:lpstr>
      <vt:lpstr>01</vt:lpstr>
      <vt:lpstr>Το πρόβλημα του Σακιδίου (Knapsack Problem) </vt:lpstr>
      <vt:lpstr>Ανασκόπηση Βιβλιογραφίας </vt:lpstr>
      <vt:lpstr>Μέθοδοι</vt:lpstr>
      <vt:lpstr>Εφαρμογές (1)</vt:lpstr>
      <vt:lpstr>Εφαρμογές (2)</vt:lpstr>
      <vt:lpstr>Βελτιστοποίησης ενός στόχου (1)</vt:lpstr>
      <vt:lpstr>Βελτιστοποίησης ενός στόχου (2)</vt:lpstr>
      <vt:lpstr>Το πρόβλημα του σακιδίου (KP) μπορεί να οριστεί επίσημα ως εξής: </vt:lpstr>
      <vt:lpstr>Συμπεράσματα</vt:lpstr>
      <vt:lpstr>02</vt:lpstr>
      <vt:lpstr>Νευρωνικά δίκτυα</vt:lpstr>
      <vt:lpstr>Ανασκόπηση Βιβλιογραφίας</vt:lpstr>
      <vt:lpstr>Συμπεράσματα</vt:lpstr>
      <vt:lpstr>03</vt:lpstr>
      <vt:lpstr>Βαθιά Μάθηση</vt:lpstr>
      <vt:lpstr>Ανασκόπηση Βιβλιογραφίας</vt:lpstr>
      <vt:lpstr>Οι αλγόριθμοι Deep Learning </vt:lpstr>
      <vt:lpstr>Συμπεράσματα</vt:lpstr>
      <vt:lpstr>04</vt:lpstr>
      <vt:lpstr>Δήλωση του προβλήματος 0/1 Knapsack</vt:lpstr>
      <vt:lpstr>Εφαρμογή</vt:lpstr>
      <vt:lpstr>Ανάλυση Κώδικα (1)</vt:lpstr>
      <vt:lpstr>Ανάλυση Κώδικα (2)</vt:lpstr>
      <vt:lpstr>Ανάλυση Κώδικα (3)</vt:lpstr>
      <vt:lpstr>Ανάλυση Κώδικα (4)</vt:lpstr>
      <vt:lpstr>Ανάλυση Κώδικα (5)</vt:lpstr>
      <vt:lpstr>Ανάλυση Κώδικα (6)</vt:lpstr>
      <vt:lpstr>Ανάλυση Κώδικα (7)</vt:lpstr>
      <vt:lpstr>Αποτελέσματα (1)</vt:lpstr>
      <vt:lpstr>Αποτελέσματα (2)</vt:lpstr>
      <vt:lpstr>Συμπεράσματα (1)</vt:lpstr>
      <vt:lpstr>Συμπεράσματα (2)</vt:lpstr>
      <vt:lpstr>Επίλογος (1)</vt:lpstr>
      <vt:lpstr>Επίλογος (2)</vt:lpstr>
      <vt:lpstr>Μελλοντική έρευνα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Αντώνης Βαλσαμής</cp:lastModifiedBy>
  <cp:revision>3</cp:revision>
  <dcterms:modified xsi:type="dcterms:W3CDTF">2024-08-27T21:59:35Z</dcterms:modified>
</cp:coreProperties>
</file>